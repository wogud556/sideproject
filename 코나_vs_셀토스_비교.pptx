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코나</c:v>
                </c:pt>
              </c:strCache>
            </c:strRef>
          </c:tx>
          <c:spPr>
            <a:solidFill>
              <a:srgbClr val="1B6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전장</c:v>
                  </c:pt>
                  <c:pt idx="1">
                    <c:v>전폭</c:v>
                  </c:pt>
                  <c:pt idx="2">
                    <c:v>전고</c:v>
                  </c:pt>
                  <c:pt idx="3">
                    <c:v>축거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4350</c:v>
                </c:pt>
                <c:pt idx="1">
                  <c:v>1825</c:v>
                </c:pt>
                <c:pt idx="2">
                  <c:v>1580</c:v>
                </c:pt>
                <c:pt idx="3">
                  <c:v>2660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셀토스</c:v>
                </c:pt>
              </c:strCache>
            </c:strRef>
          </c:tx>
          <c:spPr>
            <a:solidFill>
              <a:srgbClr val="B034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전장</c:v>
                  </c:pt>
                  <c:pt idx="1">
                    <c:v>전폭</c:v>
                  </c:pt>
                  <c:pt idx="2">
                    <c:v>전고</c:v>
                  </c:pt>
                  <c:pt idx="3">
                    <c:v>축거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4430</c:v>
                </c:pt>
                <c:pt idx="1">
                  <c:v>1830</c:v>
                </c:pt>
                <c:pt idx="2">
                  <c:v>1600</c:v>
                </c:pt>
                <c:pt idx="3">
                  <c:v>2690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0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026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1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1.png"/><Relationship Id="rId7" Type="http://schemas.openxmlformats.org/officeDocument/2006/relationships/image" Target="../media/image-6-3.png"/><Relationship Id="rId8" Type="http://schemas.openxmlformats.org/officeDocument/2006/relationships/image" Target="../media/image-6-8.png"/><Relationship Id="rId9" Type="http://schemas.openxmlformats.org/officeDocument/2006/relationships/image" Target="../media/image-6-5.png"/><Relationship Id="rId10" Type="http://schemas.openxmlformats.org/officeDocument/2006/relationships/image" Target="../media/image-6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image" Target="../media/image-7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488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코나 vs 셀토스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127248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현대자동차 코나 · 기아자동차 셀토스 완전 비교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5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· 옵션 · 장단점 분석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41368" y="5029200"/>
            <a:ext cx="292608" cy="292608"/>
          </a:xfrm>
          <a:prstGeom prst="ellipse">
            <a:avLst/>
          </a:prstGeom>
          <a:solidFill>
            <a:srgbClr val="1B6FA8"/>
          </a:solidFill>
          <a:ln/>
        </p:spPr>
      </p:sp>
      <p:sp>
        <p:nvSpPr>
          <p:cNvPr id="6" name="Text 4"/>
          <p:cNvSpPr/>
          <p:nvPr/>
        </p:nvSpPr>
        <p:spPr>
          <a:xfrm>
            <a:off x="4861408" y="4956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 코나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15888" y="5029200"/>
            <a:ext cx="292608" cy="292608"/>
          </a:xfrm>
          <a:prstGeom prst="ellipse">
            <a:avLst/>
          </a:prstGeom>
          <a:solidFill>
            <a:srgbClr val="B0342A"/>
          </a:solidFill>
          <a:ln/>
        </p:spPr>
      </p:sp>
      <p:sp>
        <p:nvSpPr>
          <p:cNvPr id="8" name="Text 6"/>
          <p:cNvSpPr/>
          <p:nvPr/>
        </p:nvSpPr>
        <p:spPr>
          <a:xfrm>
            <a:off x="6735928" y="4956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기아 셀토스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28655" y="6309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모델 한눈에 보기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소형 SUV 시장을 대표하는 두 형제 차종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6" name="Image 0" descr="/private/tmp/claude-501/-Users-jh-study------sideProject/5100a634-8567-4a10-b43a-0d41ea497891/scratchpad/kona_seltos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04277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842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현대 코나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37360" y="2313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 올 뉴 코나 (The all-new KONA)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37360" y="2542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2세대 · 2023년 출시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3200400"/>
            <a:ext cx="46177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2918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파워트레인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5844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가솔린 · 하이브리드 · 전기 (3종 라인업)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14400" y="4069080"/>
            <a:ext cx="46177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41605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가격대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445312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2,100만원 ~ 3,500만원대 (트림·옵션별 상이)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5394960"/>
            <a:ext cx="4617720" cy="594360"/>
          </a:xfrm>
          <a:prstGeom prst="roundRect">
            <a:avLst>
              <a:gd name="adj" fmla="val 12308"/>
            </a:avLst>
          </a:prstGeom>
          <a:solidFill>
            <a:srgbClr val="1B6FA8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53949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“넉넉한 트렁크와 안정적 완성도의 정통 SUV”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08192" y="160020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BEAE8"/>
          </a:solidFill>
          <a:ln/>
        </p:spPr>
      </p:sp>
      <p:sp>
        <p:nvSpPr>
          <p:cNvPr id="19" name="Shape 16"/>
          <p:cNvSpPr/>
          <p:nvPr/>
        </p:nvSpPr>
        <p:spPr>
          <a:xfrm>
            <a:off x="6473952" y="1965960"/>
            <a:ext cx="640080" cy="64008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20" name="Image 1" descr="/private/tmp/claude-501/-Users-jh-study------sideProject/5100a634-8567-4a10-b43a-0d41ea497891/scratchpad/kona_seltos/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762" y="2042770"/>
            <a:ext cx="486461" cy="48646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96912" y="19842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3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기아 셀토스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7296912" y="2313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 올 뉴 셀토스 (The all-new Seltos)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296912" y="2542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3세대 완전변경 · 2026년 출시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73952" y="3200400"/>
            <a:ext cx="46177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73952" y="32918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파워트레인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73952" y="35844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가솔린 터보 · 하이브리드 (2종 라인업)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473952" y="4069080"/>
            <a:ext cx="46177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73952" y="41605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가격대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473952" y="445312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2,477만원 ~ 3,584만원 (트렌디~X-Line)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6473952" y="5394960"/>
            <a:ext cx="4617720" cy="594360"/>
          </a:xfrm>
          <a:prstGeom prst="roundRect">
            <a:avLst>
              <a:gd name="adj" fmla="val 12308"/>
            </a:avLst>
          </a:prstGeom>
          <a:solidFill>
            <a:srgbClr val="B0342A"/>
          </a:solidFill>
          <a:ln/>
        </p:spPr>
      </p:sp>
      <p:sp>
        <p:nvSpPr>
          <p:cNvPr id="31" name="Text 27"/>
          <p:cNvSpPr/>
          <p:nvPr/>
        </p:nvSpPr>
        <p:spPr>
          <a:xfrm>
            <a:off x="6611112" y="53949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“합리적 가격에 최신 기술을 담은 도전자”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코나 vs 셀토스 비교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가격 및 트림 구성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8월 기준, 개별소비세 5% 적용가 · 트림/옵션에 따라 변동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3383280"/>
        </p:xfrm>
        <a:graphic>
          <a:graphicData uri="http://schemas.openxmlformats.org/drawingml/2006/table">
            <a:tbl>
              <a:tblPr/>
              <a:tblGrid>
                <a:gridCol w="3017520"/>
                <a:gridCol w="4038448"/>
                <a:gridCol w="403844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6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현대 코나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기아 셀토스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4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파워트레인 종류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가솔린 · 하이브리드 · 전기 (3종)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가솔린 터보 · 하이브리드 (2종)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트림 구성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스마트 · 모던 · 프리미엄 · 인스퍼레이션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트렌디 · 프레스티지 · 시그니처 · X-Line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가솔린 시작가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2,100만원대 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2,477만원 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하이브리드 시작가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2,700만원대 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2,898만원 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최상위 트림가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3,500만원대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3,584만원 (X-Line)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422392"/>
            <a:ext cx="566928" cy="566928"/>
          </a:xfrm>
          <a:prstGeom prst="ellipse">
            <a:avLst/>
          </a:prstGeom>
          <a:solidFill>
            <a:srgbClr val="20262E"/>
          </a:solidFill>
          <a:ln/>
        </p:spPr>
      </p:sp>
      <p:pic>
        <p:nvPicPr>
          <p:cNvPr id="7" name="Image 0" descr="/private/tmp/claude-501/-Users-jh-study------sideProject/5100a634-8567-4a10-b43a-0d41ea497891/scratchpad/kona_seltos/icons/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271" y="5490423"/>
            <a:ext cx="430865" cy="4308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525780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3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경쟁력은 셀토스 우위.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세그먼트에서 셀토스 가솔린 터보 시작가가 코나보다 낮게 형성되어 있으며, 하이브리드 역시 유사한 흐름입니다. 단, 코나는 전기차(코나 일렉트릭) 라인업을 추가로 보유합니다.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코나 vs 셀토스 비교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차체 제원 비교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단위: mm (전장 · 전폭 · 전고 · 축거)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18120" y="1508760"/>
            <a:ext cx="382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트렁크 용량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818120" y="1965960"/>
            <a:ext cx="3824935" cy="1417320"/>
          </a:xfrm>
          <a:prstGeom prst="roundRect">
            <a:avLst>
              <a:gd name="adj" fmla="val 6452"/>
            </a:avLst>
          </a:prstGeom>
          <a:solidFill>
            <a:srgbClr val="EAF2F8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0" y="2221992"/>
            <a:ext cx="548640" cy="54864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8" name="Image 0" descr="/private/tmp/claude-501/-Users-jh-study------sideProject/5100a634-8567-4a10-b43a-0d41ea497891/scratchpad/kona_seltos/icons/suit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57" y="2287829"/>
            <a:ext cx="416966" cy="4169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2520" y="2130552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코나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732520" y="2404872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723 L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8046720" y="2990088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동급 최대 수준의 적재 공간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818120" y="3566160"/>
            <a:ext cx="3824935" cy="1417320"/>
          </a:xfrm>
          <a:prstGeom prst="roundRect">
            <a:avLst>
              <a:gd name="adj" fmla="val 6452"/>
            </a:avLst>
          </a:prstGeom>
          <a:solidFill>
            <a:srgbClr val="FBEAE8"/>
          </a:solidFill>
          <a:ln/>
        </p:spPr>
      </p:sp>
      <p:sp>
        <p:nvSpPr>
          <p:cNvPr id="13" name="Shape 9"/>
          <p:cNvSpPr/>
          <p:nvPr/>
        </p:nvSpPr>
        <p:spPr>
          <a:xfrm>
            <a:off x="8046720" y="3822192"/>
            <a:ext cx="548640" cy="54864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14" name="Image 1" descr="/private/tmp/claude-501/-Users-jh-study------sideProject/5100a634-8567-4a10-b43a-0d41ea497891/scratchpad/kona_seltos/icons/suit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57" y="3888029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32520" y="3730752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셀토스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732520" y="4005072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536 L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8046720" y="4590288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코나 대비 약 187L 적음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818120" y="5074920"/>
            <a:ext cx="3824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셀토스는 전세대 대비 전장 40mm · 전폭 30mm · 축거 60mm 확대되며 실내 공간이 넓어졌습니다.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코나 vs 셀토스 비교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파워트레인과 연비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복합연비는 인증 기준(17~18인치 휠), 트림/옵션에 따라 달라질 수 있음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EAF2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현대 코나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7" name="Image 0" descr="/private/tmp/claude-501/-Users-jh-study------sideProject/5100a634-8567-4a10-b43a-0d41ea497891/scratchpad/kona_seltos/icons/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248351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048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가솔린 1.6 스마트스트림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54480" y="26609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자연흡기 방식, 무난한 일상 주행 성능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3264408"/>
            <a:ext cx="502920" cy="50292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1" name="Image 1" descr="/private/tmp/claude-501/-Users-jh-study------sideProject/5100a634-8567-4a10-b43a-0d41ea497891/scratchpad/kona_seltos/icons/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" y="3324758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2461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1.6 + 32kW 모터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554480" y="35021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최고출력 141마력 · 6단 DCT · 복합연비 19.8km/L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14400" y="4105656"/>
            <a:ext cx="502920" cy="50292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5" name="Image 2" descr="/private/tmp/claude-501/-Users-jh-study------sideProject/5100a634-8567-4a10-b43a-0d41ea497891/scratchpad/kona_seltos/icons/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4166006"/>
            <a:ext cx="382219" cy="3822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087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 (코나 일렉트릭)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554480" y="4343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차체의 순수 전기차 라인업을 별도 보유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14400" y="4946904"/>
            <a:ext cx="502920" cy="50292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9" name="Image 3" descr="/private/tmp/claude-501/-Users-jh-study------sideProject/5100a634-8567-4a10-b43a-0d41ea497891/scratchpad/kona_seltos/icons/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" y="5007254"/>
            <a:ext cx="382219" cy="38221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9286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감성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554480" y="51846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안정적이고 정숙한 세팅, 무난한 코너링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108192" y="155448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BEAE8"/>
          </a:solidFill>
          <a:ln/>
        </p:spPr>
      </p:sp>
      <p:sp>
        <p:nvSpPr>
          <p:cNvPr id="23" name="Text 17"/>
          <p:cNvSpPr/>
          <p:nvPr/>
        </p:nvSpPr>
        <p:spPr>
          <a:xfrm>
            <a:off x="6473952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기아 셀토스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6473952" y="2423160"/>
            <a:ext cx="502920" cy="50292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25" name="Image 4" descr="/private/tmp/claude-501/-Users-jh-study------sideProject/5100a634-8567-4a10-b43a-0d41ea497891/scratchpad/kona_seltos/icons/ga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302" y="2483510"/>
            <a:ext cx="382219" cy="3822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14032" y="24048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가솔린 터보 1.6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114032" y="26609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최고출력 193마력 · 복합연비 12.5km/L · 다이내믹한 성능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473952" y="3264408"/>
            <a:ext cx="502920" cy="50292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29" name="Image 5" descr="/private/tmp/claude-501/-Users-jh-study------sideProject/5100a634-8567-4a10-b43a-0d41ea497891/scratchpad/kona_seltos/icons/lea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302" y="3324758"/>
            <a:ext cx="382219" cy="38221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14032" y="32461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1.6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7114032" y="35021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최고출력 141마력 · 복합연비 19.5km/L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473952" y="4105656"/>
            <a:ext cx="502920" cy="50292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33" name="Image 6" descr="/private/tmp/claude-501/-Users-jh-study------sideProject/5100a634-8567-4a10-b43a-0d41ea497891/scratchpad/kona_seltos/icons/bol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302" y="4166006"/>
            <a:ext cx="382219" cy="382219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14032" y="4087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V2L · 스테이 모드 (HEV)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7114032" y="4343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3.52kW 외부 급전 · 스마트 회생제동 시스템 3.0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473952" y="4946904"/>
            <a:ext cx="502920" cy="50292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37" name="Image 7" descr="/private/tmp/claude-501/-Users-jh-study------sideProject/5100a634-8567-4a10-b43a-0d41ea497891/scratchpad/kona_seltos/icons/gau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302" y="5007254"/>
            <a:ext cx="382219" cy="382219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114032" y="49286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감성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7114032" y="51846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터보 특유의 경쾌한 가속감이 강점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코나 vs 셀토스 비교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편의사양 비교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인테리어 · 디스플레이 · 사운드 · 편의 기능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EAF2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현대 코나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7" name="Image 0" descr="/private/tmp/claude-501/-Users-jh-study------sideProject/5100a634-8567-4a10-b43a-0d41ea497891/scratchpad/kona_seltos/icons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43230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심리스 호라이즌 LED 램프 · 수평형 LED 테일램프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3127248"/>
            <a:ext cx="457200" cy="45720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0" name="Image 1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1821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127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이중접합 차음 유리(윈드실드)로 정숙성 강화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14400" y="3877056"/>
            <a:ext cx="457200" cy="45720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3" name="Image 2" descr="/private/tmp/claude-501/-Users-jh-study------sideProject/5100a634-8567-4a10-b43a-0d41ea497891/scratchpad/kona_seltos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93192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877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열선 · 전동 조절 아웃사이드 미러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14400" y="4626864"/>
            <a:ext cx="457200" cy="45720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6" name="Image 3" descr="/private/tmp/claude-501/-Users-jh-study------sideProject/5100a634-8567-4a10-b43a-0d41ea497891/scratchpad/kona_seltos/icons/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68172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46268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서라운드 뷰 모니터 (옵션 선택 시)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914400" y="5376672"/>
            <a:ext cx="457200" cy="45720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9" name="Image 4" descr="/private/tmp/claude-501/-Users-jh-study------sideProject/5100a634-8567-4a10-b43a-0d41ea497891/scratchpad/kona_seltos/icons/c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431536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08760" y="5376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17인치 알로이 휠 &amp; 에어로 타입 와이퍼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108192" y="155448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BEAE8"/>
          </a:solidFill>
          <a:ln/>
        </p:spPr>
      </p:sp>
      <p:sp>
        <p:nvSpPr>
          <p:cNvPr id="22" name="Text 15"/>
          <p:cNvSpPr/>
          <p:nvPr/>
        </p:nvSpPr>
        <p:spPr>
          <a:xfrm>
            <a:off x="6473952" y="1810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기아 셀토스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9857232" y="18288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B0342A"/>
          </a:solidFill>
          <a:ln/>
        </p:spPr>
      </p:sp>
      <p:sp>
        <p:nvSpPr>
          <p:cNvPr id="24" name="Text 17"/>
          <p:cNvSpPr/>
          <p:nvPr/>
        </p:nvSpPr>
        <p:spPr>
          <a:xfrm>
            <a:off x="9857232" y="18288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기술 우위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473952" y="2377440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26" name="Image 5" descr="/private/tmp/claude-501/-Users-jh-study------sideProject/5100a634-8567-4a10-b43a-0d41ea497891/scratchpad/kona_seltos/icons/desk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2432304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68312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12.3형 클러스터+5형 공조+12.3형 ccNC 커브드 트리플 디스플레이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473952" y="3127248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29" name="Image 6" descr="/private/tmp/claude-501/-Users-jh-study------sideProject/5100a634-8567-4a10-b43a-0d41ea497891/scratchpad/kona_seltos/icons/gau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3182112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68312" y="3127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HUD(헤드업 디스플레이) 탑재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473952" y="3877056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32" name="Image 7" descr="/private/tmp/claude-501/-Users-jh-study------sideProject/5100a634-8567-4a10-b43a-0d41ea497891/scratchpad/kona_seltos/icons/musi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3931920"/>
            <a:ext cx="347472" cy="3474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068312" y="3877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하만카돈 프리미엄 사운드 (8스피커)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6473952" y="4626864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35" name="Image 8" descr="/private/tmp/claude-501/-Users-jh-study------sideProject/5100a634-8567-4a10-b43a-0d41ea497891/scratchpad/kona_seltos/icons/c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816" y="4681728"/>
            <a:ext cx="347472" cy="34747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068312" y="46268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버튼시동 통합 컬럼식 전자변속기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6473952" y="5376672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38" name="Image 9" descr="/private/tmp/claude-501/-Users-jh-study------sideProject/5100a634-8567-4a10-b43a-0d41ea497891/scratchpad/kona_seltos/icons/deskto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8816" y="5431536"/>
            <a:ext cx="347472" cy="34747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068312" y="5376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파노라믹 와이드 디스플레이 적용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코나 vs 셀토스 비교</a:t>
            </a:r>
            <a:endParaRPr lang="en-US" sz="900" dirty="0"/>
          </a:p>
        </p:txBody>
      </p:sp>
      <p:sp>
        <p:nvSpPr>
          <p:cNvPr id="41" name="Text 29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안전 사양 비교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ADAS(첨단 운전자 보조 시스템) 및 승객 보호 사양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EAF2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현대 코나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7" name="Image 0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43230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6에어백 (1열 어드밴스드/사이드, 전복대응 커튼)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3127248"/>
            <a:ext cx="457200" cy="45720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0" name="Image 1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1821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127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전방충돌방지보조 (차량·보행자·자전거 탑승자)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14400" y="3877056"/>
            <a:ext cx="457200" cy="45720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3" name="Image 2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93192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877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차로이탈방지보조 · 차로유지보조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14400" y="4626864"/>
            <a:ext cx="457200" cy="45720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6" name="Image 3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68172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46268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지능형 속도제한보조 · 하이빔 보조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914400" y="5376672"/>
            <a:ext cx="457200" cy="45720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19" name="Image 4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431536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08760" y="5376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후석 승객 알림 · 세이프티 언락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108192" y="155448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BEAE8"/>
          </a:solidFill>
          <a:ln/>
        </p:spPr>
      </p:sp>
      <p:sp>
        <p:nvSpPr>
          <p:cNvPr id="22" name="Text 15"/>
          <p:cNvSpPr/>
          <p:nvPr/>
        </p:nvSpPr>
        <p:spPr>
          <a:xfrm>
            <a:off x="6473952" y="18105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기아 셀토스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9582912" y="18288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B0342A"/>
          </a:solidFill>
          <a:ln/>
        </p:spPr>
      </p:sp>
      <p:sp>
        <p:nvSpPr>
          <p:cNvPr id="24" name="Text 17"/>
          <p:cNvSpPr/>
          <p:nvPr/>
        </p:nvSpPr>
        <p:spPr>
          <a:xfrm>
            <a:off x="9582912" y="18288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동급 최초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473952" y="2377440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26" name="Image 5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2432304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68312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전방충돌방지보조 2 — 동급 내연기관 최초 적용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473952" y="3127248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29" name="Image 6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3182112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68312" y="3127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고속도로 주행보조 2 — 동급 내연기관 최초 적용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473952" y="3877056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32" name="Image 7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3931920"/>
            <a:ext cx="347472" cy="3474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068312" y="3877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회생제동 시스템 3.0 (하이브리드)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6473952" y="4626864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35" name="Image 8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816" y="4681728"/>
            <a:ext cx="347472" cy="34747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068312" y="46268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계층형 예측 제어 시스템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6473952" y="5376672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38" name="Image 9" descr="/private/tmp/claude-501/-Users-jh-study------sideProject/5100a634-8567-4a10-b43a-0d41ea497891/scratchpad/kona_seltos/icons/shie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8816" y="5431536"/>
            <a:ext cx="347472" cy="34747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068312" y="5376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확대된 능동 안전 사양 풀 패키지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코나 vs 셀토스 비교</a:t>
            </a:r>
            <a:endParaRPr lang="en-US" sz="900" dirty="0"/>
          </a:p>
        </p:txBody>
      </p:sp>
      <p:sp>
        <p:nvSpPr>
          <p:cNvPr id="41" name="Text 29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코나의 장점과 단점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B6FA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75688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7" name="Image 0" descr="/private/tmp/claude-501/-Users-jh-study------sideProject/5100a634-8567-4a10-b43a-0d41ea497891/scratchpad/kona_selto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305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756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장점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2852928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7432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동급 최대 수준의 트렁크 용량 (723L)으로 뛰어난 실용성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694176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58444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가솔린 · 하이브리드 · 전기까지 3가지 파워트레인 선택지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4535424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4256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주행 완성도와 세련되고 담백한 디자인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5376672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526694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우수한 하이브리드 복합연비 (19.8km/L)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08192" y="17830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4F5F7"/>
          </a:solidFill>
          <a:ln/>
        </p:spPr>
      </p:sp>
      <p:sp>
        <p:nvSpPr>
          <p:cNvPr id="18" name="Shape 15"/>
          <p:cNvSpPr/>
          <p:nvPr/>
        </p:nvSpPr>
        <p:spPr>
          <a:xfrm>
            <a:off x="6428232" y="2075688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19" name="Image 1" descr="/private/tmp/claude-501/-Users-jh-study------sideProject/5100a634-8567-4a10-b43a-0d41ea497891/scratchpad/kona_seltos/icons/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213055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22592" y="20756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단점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473952" y="2852928"/>
            <a:ext cx="82296" cy="82296"/>
          </a:xfrm>
          <a:prstGeom prst="ellipse">
            <a:avLst/>
          </a:prstGeom>
          <a:solidFill>
            <a:srgbClr val="B0342A"/>
          </a:solidFill>
          <a:ln/>
        </p:spPr>
      </p:sp>
      <p:sp>
        <p:nvSpPr>
          <p:cNvPr id="22" name="Text 18"/>
          <p:cNvSpPr/>
          <p:nvPr/>
        </p:nvSpPr>
        <p:spPr>
          <a:xfrm>
            <a:off x="6702552" y="27432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동급 트림 기준 셀토스 대비 다소 높은 가격대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473952" y="3694176"/>
            <a:ext cx="82296" cy="82296"/>
          </a:xfrm>
          <a:prstGeom prst="ellipse">
            <a:avLst/>
          </a:prstGeom>
          <a:solidFill>
            <a:srgbClr val="B0342A"/>
          </a:solidFill>
          <a:ln/>
        </p:spPr>
      </p:sp>
      <p:sp>
        <p:nvSpPr>
          <p:cNvPr id="24" name="Text 20"/>
          <p:cNvSpPr/>
          <p:nvPr/>
        </p:nvSpPr>
        <p:spPr>
          <a:xfrm>
            <a:off x="6702552" y="358444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가솔린 모델의 출력이 셀토스 터보 대비 열세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73952" y="4535424"/>
            <a:ext cx="82296" cy="82296"/>
          </a:xfrm>
          <a:prstGeom prst="ellipse">
            <a:avLst/>
          </a:prstGeom>
          <a:solidFill>
            <a:srgbClr val="B0342A"/>
          </a:solidFill>
          <a:ln/>
        </p:spPr>
      </p:sp>
      <p:sp>
        <p:nvSpPr>
          <p:cNvPr id="26" name="Text 22"/>
          <p:cNvSpPr/>
          <p:nvPr/>
        </p:nvSpPr>
        <p:spPr>
          <a:xfrm>
            <a:off x="6702552" y="44256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실내 디스플레이 · 사운드 사양이 상대적으로 평범한 구성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473952" y="5376672"/>
            <a:ext cx="82296" cy="82296"/>
          </a:xfrm>
          <a:prstGeom prst="ellipse">
            <a:avLst/>
          </a:prstGeom>
          <a:solidFill>
            <a:srgbClr val="B0342A"/>
          </a:solidFill>
          <a:ln/>
        </p:spPr>
      </p:sp>
      <p:sp>
        <p:nvSpPr>
          <p:cNvPr id="28" name="Text 24"/>
          <p:cNvSpPr/>
          <p:nvPr/>
        </p:nvSpPr>
        <p:spPr>
          <a:xfrm>
            <a:off x="6702552" y="526694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차체 크기(전장 · 축거)가 셀토스보다 작아 실내공간에서 다소 불리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코나 vs 셀토스 비교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셀토스의 장점과 단점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B034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셀토스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75688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7" name="Image 0" descr="/private/tmp/claude-501/-Users-jh-study------sideProject/5100a634-8567-4a10-b43a-0d41ea497891/scratchpad/kona_selto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305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756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장점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2852928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7432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우수한 가격 경쟁력 (가솔린 터보 2,477만원부터)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694176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58444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동급 최초 전방충돌방지보조2 · 고속도로주행보조2 탑재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4535424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4256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커브드 트리플 디스플레이 등 최신 인테리어 기술 대거 적용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5376672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526694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확대된 차체(전장 · 축거)로 여유로운 실내 공간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08192" y="17830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4F5F7"/>
          </a:solidFill>
          <a:ln/>
        </p:spPr>
      </p:sp>
      <p:sp>
        <p:nvSpPr>
          <p:cNvPr id="18" name="Shape 15"/>
          <p:cNvSpPr/>
          <p:nvPr/>
        </p:nvSpPr>
        <p:spPr>
          <a:xfrm>
            <a:off x="6428232" y="2075688"/>
            <a:ext cx="457200" cy="45720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19" name="Image 1" descr="/private/tmp/claude-501/-Users-jh-study------sideProject/5100a634-8567-4a10-b43a-0d41ea497891/scratchpad/kona_seltos/icons/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213055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22592" y="20756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단점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473952" y="2852928"/>
            <a:ext cx="82296" cy="82296"/>
          </a:xfrm>
          <a:prstGeom prst="ellipse">
            <a:avLst/>
          </a:prstGeom>
          <a:solidFill>
            <a:srgbClr val="B0342A"/>
          </a:solidFill>
          <a:ln/>
        </p:spPr>
      </p:sp>
      <p:sp>
        <p:nvSpPr>
          <p:cNvPr id="22" name="Text 18"/>
          <p:cNvSpPr/>
          <p:nvPr/>
        </p:nvSpPr>
        <p:spPr>
          <a:xfrm>
            <a:off x="6702552" y="27432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트렁크 용량이 코나보다 작음 (536L)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473952" y="3694176"/>
            <a:ext cx="82296" cy="82296"/>
          </a:xfrm>
          <a:prstGeom prst="ellipse">
            <a:avLst/>
          </a:prstGeom>
          <a:solidFill>
            <a:srgbClr val="B0342A"/>
          </a:solidFill>
          <a:ln/>
        </p:spPr>
      </p:sp>
      <p:sp>
        <p:nvSpPr>
          <p:cNvPr id="24" name="Text 20"/>
          <p:cNvSpPr/>
          <p:nvPr/>
        </p:nvSpPr>
        <p:spPr>
          <a:xfrm>
            <a:off x="6702552" y="358444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3세대 완전변경 초기 모델로 초기품질 이슈 우려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73952" y="4535424"/>
            <a:ext cx="82296" cy="82296"/>
          </a:xfrm>
          <a:prstGeom prst="ellipse">
            <a:avLst/>
          </a:prstGeom>
          <a:solidFill>
            <a:srgbClr val="B0342A"/>
          </a:solidFill>
          <a:ln/>
        </p:spPr>
      </p:sp>
      <p:sp>
        <p:nvSpPr>
          <p:cNvPr id="26" name="Text 22"/>
          <p:cNvSpPr/>
          <p:nvPr/>
        </p:nvSpPr>
        <p:spPr>
          <a:xfrm>
            <a:off x="6702552" y="44256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가솔린 터보 모델의 복합연비가 상대적으로 낮음 (12.5km/L)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473952" y="5376672"/>
            <a:ext cx="82296" cy="82296"/>
          </a:xfrm>
          <a:prstGeom prst="ellipse">
            <a:avLst/>
          </a:prstGeom>
          <a:solidFill>
            <a:srgbClr val="B0342A"/>
          </a:solidFill>
          <a:ln/>
        </p:spPr>
      </p:sp>
      <p:sp>
        <p:nvSpPr>
          <p:cNvPr id="28" name="Text 24"/>
          <p:cNvSpPr/>
          <p:nvPr/>
        </p:nvSpPr>
        <p:spPr>
          <a:xfrm>
            <a:off x="6702552" y="526694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전기차 라인업이 없어 파워트레인 선택 폭이 좁음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코나 vs 셀토스 비교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어떤 차를 선택해야 할까?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우선순위에 따른 선택 가이드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27324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1B6FA8"/>
          </a:solidFill>
          <a:ln/>
        </p:spPr>
      </p:sp>
      <p:pic>
        <p:nvPicPr>
          <p:cNvPr id="6" name="Image 0" descr="/private/tmp/claude-501/-Users-jh-study------sideProject/5100a634-8567-4a10-b43a-0d41ea497891/scratchpad/kona_seltos/icon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1744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488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코나를 추천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분에게 적합해요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넉넉한 트렁크 등 실용성을 최우선으로 고려한다면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가솔린·하이브리드·전기까지 폭넓은 선택지를 원한다면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완성도와 안정적인 승차감을 중시한다면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08192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273241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2103120"/>
            <a:ext cx="594360" cy="594360"/>
          </a:xfrm>
          <a:prstGeom prst="ellipse">
            <a:avLst/>
          </a:prstGeom>
          <a:solidFill>
            <a:srgbClr val="B0342A"/>
          </a:solidFill>
          <a:ln/>
        </p:spPr>
      </p:sp>
      <p:pic>
        <p:nvPicPr>
          <p:cNvPr id="12" name="Image 1" descr="/private/tmp/claude-501/-Users-jh-study------sideProject/5100a634-8567-4a10-b43a-0d41ea497891/scratchpad/kona_seltos/icons/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275" y="217444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21488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셀토스를 추천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73952" y="29260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분에게 적합해요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73952" y="324612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합리적인 가격으로 SUV를 시작하고 싶다면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안전·편의 기술과 큰 화면의 인테리어를 원한다면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넓어진 실내 공간과 경쾌한 주행감을 중시한다면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본 자료는 2026년 8월 기준 공개된 정보를 취합한 것으로, 실제 가격·사양은 트림·옵션·시기에 따라 달라질 수 있습니다. 정확한 정보는 제조사 공식 홈페이지를 참고하세요.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2026-08-12T01:04:58Z</dcterms:created>
  <dcterms:modified xsi:type="dcterms:W3CDTF">2026-08-12T01:04:58Z</dcterms:modified>
</cp:coreProperties>
</file>