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4224528"/>
            <a:ext cx="12191695" cy="54864"/>
          </a:xfrm>
          <a:prstGeom prst="rect">
            <a:avLst/>
          </a:prstGeom>
          <a:solidFill>
            <a:srgbClr val="E26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14400" y="1874519"/>
            <a:ext cx="10332720" cy="457200"/>
          </a:xfrm>
          <a:prstGeom prst="rect">
            <a:avLst/>
          </a:prstGeom>
          <a:noFill/>
        </p:spPr>
        <p:txBody>
          <a:bodyPr wrap="square" anchor="t" lIns="0" rIns="0" tIns="0" bIns="0">
            <a:spAutoFit/>
          </a:bodyPr>
          <a:lstStyle/>
          <a:p>
            <a:pPr algn="l">
              <a:lnSpc>
                <a:spcPct val="115000"/>
              </a:lnSpc>
              <a:spcAft>
                <a:spcPts val="400"/>
              </a:spcAft>
            </a:pPr>
            <a:r>
              <a:rPr sz="1700" b="0">
                <a:solidFill>
                  <a:srgbClr val="8FB4D4"/>
                </a:solidFill>
                <a:latin typeface="맑은 고딕"/>
              </a:rPr>
              <a:t>예산 3,700만원 (취등록세 포함)</a:t>
            </a:r>
          </a:p>
        </p:txBody>
      </p:sp>
      <p:sp>
        <p:nvSpPr>
          <p:cNvPr id="5" name="TextBox 4"/>
          <p:cNvSpPr txBox="1"/>
          <p:nvPr/>
        </p:nvSpPr>
        <p:spPr>
          <a:xfrm>
            <a:off x="914400" y="2395728"/>
            <a:ext cx="10332720" cy="1371600"/>
          </a:xfrm>
          <a:prstGeom prst="rect">
            <a:avLst/>
          </a:prstGeom>
          <a:noFill/>
        </p:spPr>
        <p:txBody>
          <a:bodyPr wrap="square" anchor="t" lIns="0" rIns="0" tIns="0" bIns="0">
            <a:spAutoFit/>
          </a:bodyPr>
          <a:lstStyle/>
          <a:p>
            <a:pPr algn="l">
              <a:lnSpc>
                <a:spcPct val="115000"/>
              </a:lnSpc>
              <a:spcAft>
                <a:spcPts val="400"/>
              </a:spcAft>
            </a:pPr>
            <a:r>
              <a:rPr sz="4800" b="1">
                <a:solidFill>
                  <a:srgbClr val="FFFFFF"/>
                </a:solidFill>
                <a:latin typeface="맑은 고딕"/>
              </a:rPr>
              <a:t>국산 SUV 5종 트림·옵션 비교</a:t>
            </a:r>
          </a:p>
        </p:txBody>
      </p:sp>
      <p:sp>
        <p:nvSpPr>
          <p:cNvPr id="6" name="TextBox 5"/>
          <p:cNvSpPr txBox="1"/>
          <p:nvPr/>
        </p:nvSpPr>
        <p:spPr>
          <a:xfrm>
            <a:off x="914400" y="3529584"/>
            <a:ext cx="10332720" cy="457200"/>
          </a:xfrm>
          <a:prstGeom prst="rect">
            <a:avLst/>
          </a:prstGeom>
          <a:noFill/>
        </p:spPr>
        <p:txBody>
          <a:bodyPr wrap="square" anchor="t" lIns="0" rIns="0" tIns="0" bIns="0">
            <a:spAutoFit/>
          </a:bodyPr>
          <a:lstStyle/>
          <a:p>
            <a:pPr algn="l">
              <a:lnSpc>
                <a:spcPct val="115000"/>
              </a:lnSpc>
              <a:spcAft>
                <a:spcPts val="400"/>
              </a:spcAft>
            </a:pPr>
            <a:r>
              <a:rPr sz="1900" b="0">
                <a:solidFill>
                  <a:srgbClr val="C6D6E4"/>
                </a:solidFill>
                <a:latin typeface="맑은 고딕"/>
              </a:rPr>
              <a:t>셀토스 · 코나 · 트레일블레이저 · 투싼 · 스포티지</a:t>
            </a:r>
          </a:p>
        </p:txBody>
      </p:sp>
      <p:sp>
        <p:nvSpPr>
          <p:cNvPr id="7" name="TextBox 6"/>
          <p:cNvSpPr txBox="1"/>
          <p:nvPr/>
        </p:nvSpPr>
        <p:spPr>
          <a:xfrm>
            <a:off x="914400" y="4526280"/>
            <a:ext cx="10332720" cy="914400"/>
          </a:xfrm>
          <a:prstGeom prst="rect">
            <a:avLst/>
          </a:prstGeom>
          <a:noFill/>
        </p:spPr>
        <p:txBody>
          <a:bodyPr wrap="square" anchor="t" lIns="0" rIns="0" tIns="0" bIns="0">
            <a:spAutoFit/>
          </a:bodyPr>
          <a:lstStyle/>
          <a:p>
            <a:pPr algn="l">
              <a:lnSpc>
                <a:spcPct val="150000"/>
              </a:lnSpc>
              <a:spcAft>
                <a:spcPts val="400"/>
              </a:spcAft>
            </a:pPr>
            <a:r>
              <a:rPr sz="1300" b="0">
                <a:solidFill>
                  <a:srgbClr val="9FB6C9"/>
                </a:solidFill>
                <a:latin typeface="맑은 고딕"/>
              </a:rPr>
              <a:t>2026년 8월 기준 · 현대/기아 공식 가격표 및 쉐보레 공시가 기준</a:t>
            </a:r>
          </a:p>
          <a:p>
            <a:pPr algn="l">
              <a:lnSpc>
                <a:spcPct val="150000"/>
              </a:lnSpc>
              <a:spcAft>
                <a:spcPts val="400"/>
              </a:spcAft>
            </a:pPr>
            <a:r>
              <a:rPr sz="1300" b="0">
                <a:solidFill>
                  <a:srgbClr val="9FB6C9"/>
                </a:solidFill>
                <a:latin typeface="맑은 고딕"/>
              </a:rPr>
              <a:t>취득세 7%(부가세 제외 공급가액 기준) + 기타 등록비용 30만원 반영</a:t>
            </a:r>
          </a:p>
        </p:txBody>
      </p:sp>
      <p:sp>
        <p:nvSpPr>
          <p:cNvPr id="8" name="TextBox 7"/>
          <p:cNvSpPr txBox="1"/>
          <p:nvPr/>
        </p:nvSpPr>
        <p:spPr>
          <a:xfrm>
            <a:off x="914400" y="5897880"/>
            <a:ext cx="10332720" cy="365760"/>
          </a:xfrm>
          <a:prstGeom prst="rect">
            <a:avLst/>
          </a:prstGeom>
          <a:noFill/>
        </p:spPr>
        <p:txBody>
          <a:bodyPr wrap="square" anchor="t" lIns="0" rIns="0" tIns="0" bIns="0">
            <a:spAutoFit/>
          </a:bodyPr>
          <a:lstStyle/>
          <a:p>
            <a:pPr algn="l">
              <a:lnSpc>
                <a:spcPct val="115000"/>
              </a:lnSpc>
              <a:spcAft>
                <a:spcPts val="400"/>
              </a:spcAft>
            </a:pPr>
            <a:r>
              <a:rPr sz="1200" b="0">
                <a:solidFill>
                  <a:srgbClr val="6E8BA6"/>
                </a:solidFill>
                <a:latin typeface="맑은 고딕"/>
              </a:rPr>
              <a:t>2026. 08. 30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02920" y="274320"/>
            <a:ext cx="50292" cy="384048"/>
          </a:xfrm>
          <a:prstGeom prst="rect">
            <a:avLst/>
          </a:prstGeom>
          <a:solidFill>
            <a:srgbClr val="E26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13232" y="219456"/>
            <a:ext cx="8778240" cy="457200"/>
          </a:xfrm>
          <a:prstGeom prst="rect">
            <a:avLst/>
          </a:prstGeom>
          <a:noFill/>
        </p:spPr>
        <p:txBody>
          <a:bodyPr wrap="square" anchor="t" lIns="0" rIns="0" tIns="0" bIns="0">
            <a:spAutoFit/>
          </a:bodyPr>
          <a:lstStyle/>
          <a:p>
            <a:pPr algn="l">
              <a:lnSpc>
                <a:spcPct val="115000"/>
              </a:lnSpc>
              <a:spcAft>
                <a:spcPts val="400"/>
              </a:spcAft>
            </a:pPr>
            <a:r>
              <a:rPr sz="2300" b="1">
                <a:solidFill>
                  <a:srgbClr val="FFFFFF"/>
                </a:solidFill>
                <a:latin typeface="맑은 고딕"/>
              </a:rPr>
              <a:t>예산 기준 정리 — 3,700만원으로 살 수 있는 차량가는?</a:t>
            </a:r>
          </a:p>
        </p:txBody>
      </p:sp>
      <p:sp>
        <p:nvSpPr>
          <p:cNvPr id="5" name="TextBox 4"/>
          <p:cNvSpPr txBox="1"/>
          <p:nvPr/>
        </p:nvSpPr>
        <p:spPr>
          <a:xfrm>
            <a:off x="9509760" y="329184"/>
            <a:ext cx="2194560" cy="365760"/>
          </a:xfrm>
          <a:prstGeom prst="rect">
            <a:avLst/>
          </a:prstGeom>
          <a:noFill/>
        </p:spPr>
        <p:txBody>
          <a:bodyPr wrap="square" anchor="t" lIns="0" rIns="0" tIns="0" bIns="0">
            <a:spAutoFit/>
          </a:bodyPr>
          <a:lstStyle/>
          <a:p>
            <a:pPr algn="r">
              <a:lnSpc>
                <a:spcPct val="115000"/>
              </a:lnSpc>
              <a:spcAft>
                <a:spcPts val="400"/>
              </a:spcAft>
            </a:pPr>
            <a:r>
              <a:rPr sz="1100" b="0">
                <a:solidFill>
                  <a:srgbClr val="A9BED2"/>
                </a:solidFill>
                <a:latin typeface="맑은 고딕"/>
              </a:rPr>
              <a:t>01 / 기준</a:t>
            </a:r>
          </a:p>
        </p:txBody>
      </p:sp>
      <p:sp>
        <p:nvSpPr>
          <p:cNvPr id="6" name="TextBox 5"/>
          <p:cNvSpPr txBox="1"/>
          <p:nvPr/>
        </p:nvSpPr>
        <p:spPr>
          <a:xfrm>
            <a:off x="713232" y="1060704"/>
            <a:ext cx="10881360" cy="310896"/>
          </a:xfrm>
          <a:prstGeom prst="rect">
            <a:avLst/>
          </a:prstGeom>
          <a:noFill/>
        </p:spPr>
        <p:txBody>
          <a:bodyPr wrap="square" anchor="t" lIns="0" rIns="0" tIns="0" bIns="0">
            <a:spAutoFit/>
          </a:bodyPr>
          <a:lstStyle/>
          <a:p>
            <a:pPr algn="l">
              <a:lnSpc>
                <a:spcPct val="115000"/>
              </a:lnSpc>
              <a:spcAft>
                <a:spcPts val="400"/>
              </a:spcAft>
            </a:pPr>
            <a:r>
              <a:rPr sz="1250" b="0">
                <a:solidFill>
                  <a:srgbClr val="6E7884"/>
                </a:solidFill>
                <a:latin typeface="맑은 고딕"/>
              </a:rPr>
              <a:t>취등록세를 포함한 총 지출 3,700만원을 기준으로, 계약서상 차량 가격의 상한선을 먼저 확정한다.</a:t>
            </a:r>
          </a:p>
        </p:txBody>
      </p:sp>
      <p:sp>
        <p:nvSpPr>
          <p:cNvPr id="7" name="Rectangle 6"/>
          <p:cNvSpPr/>
          <p:nvPr/>
        </p:nvSpPr>
        <p:spPr>
          <a:xfrm>
            <a:off x="713232" y="1572768"/>
            <a:ext cx="5257800" cy="1874519"/>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13232" y="1572768"/>
            <a:ext cx="45720" cy="1874519"/>
          </a:xfrm>
          <a:prstGeom prst="rect">
            <a:avLst/>
          </a:prstGeom>
          <a:solidFill>
            <a:srgbClr val="1B6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0120" y="1783080"/>
            <a:ext cx="4846320" cy="320040"/>
          </a:xfrm>
          <a:prstGeom prst="rect">
            <a:avLst/>
          </a:prstGeom>
          <a:noFill/>
        </p:spPr>
        <p:txBody>
          <a:bodyPr wrap="square" anchor="t" lIns="0" rIns="0" tIns="0" bIns="0">
            <a:spAutoFit/>
          </a:bodyPr>
          <a:lstStyle/>
          <a:p>
            <a:pPr algn="l">
              <a:lnSpc>
                <a:spcPct val="115000"/>
              </a:lnSpc>
              <a:spcAft>
                <a:spcPts val="400"/>
              </a:spcAft>
            </a:pPr>
            <a:r>
              <a:rPr sz="1300" b="1">
                <a:solidFill>
                  <a:srgbClr val="1B6CA8"/>
                </a:solidFill>
                <a:latin typeface="맑은 고딕"/>
              </a:rPr>
              <a:t>실구매가 계산식</a:t>
            </a:r>
          </a:p>
        </p:txBody>
      </p:sp>
      <p:sp>
        <p:nvSpPr>
          <p:cNvPr id="10" name="TextBox 9"/>
          <p:cNvSpPr txBox="1"/>
          <p:nvPr/>
        </p:nvSpPr>
        <p:spPr>
          <a:xfrm>
            <a:off x="960120" y="2194560"/>
            <a:ext cx="4846320" cy="1097280"/>
          </a:xfrm>
          <a:prstGeom prst="rect">
            <a:avLst/>
          </a:prstGeom>
          <a:noFill/>
        </p:spPr>
        <p:txBody>
          <a:bodyPr wrap="square" anchor="t" lIns="0" rIns="0" tIns="0" bIns="0">
            <a:spAutoFit/>
          </a:bodyPr>
          <a:lstStyle/>
          <a:p>
            <a:pPr algn="l">
              <a:lnSpc>
                <a:spcPct val="160000"/>
              </a:lnSpc>
              <a:spcAft>
                <a:spcPts val="400"/>
              </a:spcAft>
            </a:pPr>
            <a:r>
              <a:rPr sz="1350" b="0">
                <a:solidFill>
                  <a:srgbClr val="242D38"/>
                </a:solidFill>
                <a:latin typeface="맑은 고딕"/>
              </a:rPr>
              <a:t>실구매가 = 차량 판매가</a:t>
            </a:r>
          </a:p>
          <a:p>
            <a:pPr algn="l">
              <a:lnSpc>
                <a:spcPct val="160000"/>
              </a:lnSpc>
              <a:spcAft>
                <a:spcPts val="400"/>
              </a:spcAft>
            </a:pPr>
            <a:r>
              <a:rPr sz="1350" b="0">
                <a:solidFill>
                  <a:srgbClr val="242D38"/>
                </a:solidFill>
                <a:latin typeface="맑은 고딕"/>
              </a:rPr>
              <a:t>        + 취득세 ( 판매가 ÷ 1.1 × 7% )</a:t>
            </a:r>
          </a:p>
          <a:p>
            <a:pPr algn="l">
              <a:lnSpc>
                <a:spcPct val="160000"/>
              </a:lnSpc>
              <a:spcAft>
                <a:spcPts val="400"/>
              </a:spcAft>
            </a:pPr>
            <a:r>
              <a:rPr sz="1350" b="0">
                <a:solidFill>
                  <a:srgbClr val="242D38"/>
                </a:solidFill>
                <a:latin typeface="맑은 고딕"/>
              </a:rPr>
              <a:t>        + 기타 등록비용 약 30만원</a:t>
            </a:r>
          </a:p>
        </p:txBody>
      </p:sp>
      <p:sp>
        <p:nvSpPr>
          <p:cNvPr id="11" name="TextBox 10"/>
          <p:cNvSpPr txBox="1"/>
          <p:nvPr/>
        </p:nvSpPr>
        <p:spPr>
          <a:xfrm>
            <a:off x="960120" y="2999232"/>
            <a:ext cx="4846320" cy="365760"/>
          </a:xfrm>
          <a:prstGeom prst="rect">
            <a:avLst/>
          </a:prstGeom>
          <a:noFill/>
        </p:spPr>
        <p:txBody>
          <a:bodyPr wrap="square" anchor="t" lIns="0" rIns="0" tIns="0" bIns="0">
            <a:spAutoFit/>
          </a:bodyPr>
          <a:lstStyle/>
          <a:p>
            <a:pPr algn="l">
              <a:lnSpc>
                <a:spcPct val="115000"/>
              </a:lnSpc>
              <a:spcAft>
                <a:spcPts val="400"/>
              </a:spcAft>
            </a:pPr>
            <a:r>
              <a:rPr sz="1000" b="0">
                <a:solidFill>
                  <a:srgbClr val="6E7884"/>
                </a:solidFill>
                <a:latin typeface="맑은 고딕"/>
              </a:rPr>
              <a:t>※ 기타 = 공채 할인매입 + 증지 + 번호판 (서울·수도권 기준)</a:t>
            </a:r>
          </a:p>
        </p:txBody>
      </p:sp>
      <p:sp>
        <p:nvSpPr>
          <p:cNvPr id="12" name="Rectangle 11"/>
          <p:cNvSpPr/>
          <p:nvPr/>
        </p:nvSpPr>
        <p:spPr>
          <a:xfrm>
            <a:off x="6355080" y="1572768"/>
            <a:ext cx="5120640" cy="1874519"/>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629400" y="1810512"/>
            <a:ext cx="4572000" cy="365760"/>
          </a:xfrm>
          <a:prstGeom prst="rect">
            <a:avLst/>
          </a:prstGeom>
          <a:noFill/>
        </p:spPr>
        <p:txBody>
          <a:bodyPr wrap="square" anchor="t" lIns="0" rIns="0" tIns="0" bIns="0">
            <a:spAutoFit/>
          </a:bodyPr>
          <a:lstStyle/>
          <a:p>
            <a:pPr algn="l">
              <a:lnSpc>
                <a:spcPct val="115000"/>
              </a:lnSpc>
              <a:spcAft>
                <a:spcPts val="400"/>
              </a:spcAft>
            </a:pPr>
            <a:r>
              <a:rPr sz="1300" b="1">
                <a:solidFill>
                  <a:srgbClr val="9FB6C9"/>
                </a:solidFill>
                <a:latin typeface="맑은 고딕"/>
              </a:rPr>
              <a:t>→ 차량 판매가 상한선</a:t>
            </a:r>
          </a:p>
        </p:txBody>
      </p:sp>
      <p:sp>
        <p:nvSpPr>
          <p:cNvPr id="14" name="TextBox 13"/>
          <p:cNvSpPr txBox="1"/>
          <p:nvPr/>
        </p:nvSpPr>
        <p:spPr>
          <a:xfrm>
            <a:off x="6629400" y="2212848"/>
            <a:ext cx="4572000" cy="822960"/>
          </a:xfrm>
          <a:prstGeom prst="rect">
            <a:avLst/>
          </a:prstGeom>
          <a:noFill/>
        </p:spPr>
        <p:txBody>
          <a:bodyPr wrap="square" anchor="t" lIns="0" rIns="0" tIns="0" bIns="0">
            <a:spAutoFit/>
          </a:bodyPr>
          <a:lstStyle/>
          <a:p>
            <a:pPr algn="l">
              <a:lnSpc>
                <a:spcPct val="115000"/>
              </a:lnSpc>
              <a:spcAft>
                <a:spcPts val="400"/>
              </a:spcAft>
            </a:pPr>
            <a:r>
              <a:rPr sz="4000" b="1">
                <a:solidFill>
                  <a:srgbClr val="FFFFFF"/>
                </a:solidFill>
                <a:latin typeface="맑은 고딕"/>
              </a:rPr>
              <a:t>약 3,450만원</a:t>
            </a:r>
          </a:p>
        </p:txBody>
      </p:sp>
      <p:sp>
        <p:nvSpPr>
          <p:cNvPr id="15" name="TextBox 14"/>
          <p:cNvSpPr txBox="1"/>
          <p:nvPr/>
        </p:nvSpPr>
        <p:spPr>
          <a:xfrm>
            <a:off x="6629400" y="2999232"/>
            <a:ext cx="4572000" cy="365760"/>
          </a:xfrm>
          <a:prstGeom prst="rect">
            <a:avLst/>
          </a:prstGeom>
          <a:noFill/>
        </p:spPr>
        <p:txBody>
          <a:bodyPr wrap="square" anchor="t" lIns="0" rIns="0" tIns="0" bIns="0">
            <a:spAutoFit/>
          </a:bodyPr>
          <a:lstStyle/>
          <a:p>
            <a:pPr algn="l">
              <a:lnSpc>
                <a:spcPct val="115000"/>
              </a:lnSpc>
              <a:spcAft>
                <a:spcPts val="400"/>
              </a:spcAft>
            </a:pPr>
            <a:r>
              <a:rPr sz="1100" b="0">
                <a:solidFill>
                  <a:srgbClr val="9FB6C9"/>
                </a:solidFill>
                <a:latin typeface="맑은 고딕"/>
              </a:rPr>
              <a:t>이 금액을 넘으면 3,700만원 예산을 초과한다.</a:t>
            </a:r>
          </a:p>
        </p:txBody>
      </p:sp>
      <p:graphicFrame>
        <p:nvGraphicFramePr>
          <p:cNvPr id="16" name="Table 15"/>
          <p:cNvGraphicFramePr>
            <a:graphicFrameLocks noGrp="1"/>
          </p:cNvGraphicFramePr>
          <p:nvPr/>
        </p:nvGraphicFramePr>
        <p:xfrm>
          <a:off x="713232" y="3794760"/>
          <a:ext cx="10762487" cy="2231136"/>
        </p:xfrm>
        <a:graphic>
          <a:graphicData uri="http://schemas.openxmlformats.org/drawingml/2006/table">
            <a:tbl>
              <a:tblPr firstRow="1">
                <a:tableStyleId>{5C22544A-7EE6-4342-B048-85BDC9FD1C3A}</a:tableStyleId>
              </a:tblPr>
              <a:tblGrid>
                <a:gridCol w="2069709"/>
                <a:gridCol w="2069709"/>
                <a:gridCol w="2069709"/>
                <a:gridCol w="2069709"/>
                <a:gridCol w="2483651"/>
              </a:tblGrid>
              <a:tr h="365760">
                <a:tc>
                  <a:txBody>
                    <a:bodyPr/>
                    <a:lstStyle/>
                    <a:p>
                      <a:pPr algn="l"/>
                      <a:r>
                        <a:rPr sz="1200" b="1">
                          <a:solidFill>
                            <a:srgbClr val="FFFFFF"/>
                          </a:solidFill>
                          <a:latin typeface="맑은 고딕"/>
                        </a:rPr>
                        <a:t>차량 판매가</a:t>
                      </a:r>
                    </a:p>
                  </a:txBody>
                  <a:tcPr marL="64008" marR="64008" marT="18288" marB="18288" anchor="ctr">
                    <a:solidFill>
                      <a:srgbClr val="102A43"/>
                    </a:solidFill>
                  </a:tcPr>
                </a:tc>
                <a:tc>
                  <a:txBody>
                    <a:bodyPr/>
                    <a:lstStyle/>
                    <a:p>
                      <a:pPr algn="ctr"/>
                      <a:r>
                        <a:rPr sz="1200" b="1">
                          <a:solidFill>
                            <a:srgbClr val="FFFFFF"/>
                          </a:solidFill>
                          <a:latin typeface="맑은 고딕"/>
                        </a:rPr>
                        <a:t>취득세(7%)</a:t>
                      </a:r>
                    </a:p>
                  </a:txBody>
                  <a:tcPr marL="64008" marR="64008" marT="18288" marB="18288" anchor="ctr">
                    <a:solidFill>
                      <a:srgbClr val="102A43"/>
                    </a:solidFill>
                  </a:tcPr>
                </a:tc>
                <a:tc>
                  <a:txBody>
                    <a:bodyPr/>
                    <a:lstStyle/>
                    <a:p>
                      <a:pPr algn="ctr"/>
                      <a:r>
                        <a:rPr sz="1200" b="1">
                          <a:solidFill>
                            <a:srgbClr val="FFFFFF"/>
                          </a:solidFill>
                          <a:latin typeface="맑은 고딕"/>
                        </a:rPr>
                        <a:t>기타 등록비</a:t>
                      </a:r>
                    </a:p>
                  </a:txBody>
                  <a:tcPr marL="64008" marR="64008" marT="18288" marB="18288" anchor="ctr">
                    <a:solidFill>
                      <a:srgbClr val="102A43"/>
                    </a:solidFill>
                  </a:tcPr>
                </a:tc>
                <a:tc>
                  <a:txBody>
                    <a:bodyPr/>
                    <a:lstStyle/>
                    <a:p>
                      <a:pPr algn="ctr"/>
                      <a:r>
                        <a:rPr sz="1200" b="1">
                          <a:solidFill>
                            <a:srgbClr val="FFFFFF"/>
                          </a:solidFill>
                          <a:latin typeface="맑은 고딕"/>
                        </a:rPr>
                        <a:t>실구매가</a:t>
                      </a:r>
                    </a:p>
                  </a:txBody>
                  <a:tcPr marL="64008" marR="64008" marT="18288" marB="18288" anchor="ctr">
                    <a:solidFill>
                      <a:srgbClr val="102A43"/>
                    </a:solidFill>
                  </a:tcPr>
                </a:tc>
                <a:tc>
                  <a:txBody>
                    <a:bodyPr/>
                    <a:lstStyle/>
                    <a:p>
                      <a:pPr algn="ctr"/>
                      <a:r>
                        <a:rPr sz="1200" b="1">
                          <a:solidFill>
                            <a:srgbClr val="FFFFFF"/>
                          </a:solidFill>
                          <a:latin typeface="맑은 고딕"/>
                        </a:rPr>
                        <a:t>3,700만 대비</a:t>
                      </a:r>
                    </a:p>
                  </a:txBody>
                  <a:tcPr marL="64008" marR="64008" marT="18288" marB="18288" anchor="ctr">
                    <a:solidFill>
                      <a:srgbClr val="102A43"/>
                    </a:solidFill>
                  </a:tcPr>
                </a:tc>
              </a:tr>
              <a:tr h="310896">
                <a:tc>
                  <a:txBody>
                    <a:bodyPr/>
                    <a:lstStyle/>
                    <a:p>
                      <a:pPr algn="l"/>
                      <a:r>
                        <a:rPr sz="1200" b="0">
                          <a:solidFill>
                            <a:srgbClr val="242D38"/>
                          </a:solidFill>
                          <a:latin typeface="맑은 고딕"/>
                        </a:rPr>
                        <a:t>2,900만</a:t>
                      </a:r>
                    </a:p>
                  </a:txBody>
                  <a:tcPr marL="64008" marR="64008" marT="18288" marB="18288" anchor="ctr">
                    <a:solidFill>
                      <a:srgbClr val="FFFFFF"/>
                    </a:solidFill>
                  </a:tcPr>
                </a:tc>
                <a:tc>
                  <a:txBody>
                    <a:bodyPr/>
                    <a:lstStyle/>
                    <a:p>
                      <a:pPr algn="ctr"/>
                      <a:r>
                        <a:rPr sz="1200" b="0">
                          <a:solidFill>
                            <a:srgbClr val="242D38"/>
                          </a:solidFill>
                          <a:latin typeface="맑은 고딕"/>
                        </a:rPr>
                        <a:t>185만</a:t>
                      </a:r>
                    </a:p>
                  </a:txBody>
                  <a:tcPr marL="64008" marR="64008" marT="18288" marB="18288" anchor="ctr">
                    <a:solidFill>
                      <a:srgbClr val="FFFFFF"/>
                    </a:solidFill>
                  </a:tcPr>
                </a:tc>
                <a:tc>
                  <a:txBody>
                    <a:bodyPr/>
                    <a:lstStyle/>
                    <a:p>
                      <a:pPr algn="ctr"/>
                      <a:r>
                        <a:rPr sz="1200" b="0">
                          <a:solidFill>
                            <a:srgbClr val="242D38"/>
                          </a:solidFill>
                          <a:latin typeface="맑은 고딕"/>
                        </a:rPr>
                        <a:t>30만</a:t>
                      </a:r>
                    </a:p>
                  </a:txBody>
                  <a:tcPr marL="64008" marR="64008" marT="18288" marB="18288" anchor="ctr">
                    <a:solidFill>
                      <a:srgbClr val="FFFFFF"/>
                    </a:solidFill>
                  </a:tcPr>
                </a:tc>
                <a:tc>
                  <a:txBody>
                    <a:bodyPr/>
                    <a:lstStyle/>
                    <a:p>
                      <a:pPr algn="ctr"/>
                      <a:r>
                        <a:rPr sz="1200" b="0">
                          <a:solidFill>
                            <a:srgbClr val="242D38"/>
                          </a:solidFill>
                          <a:latin typeface="맑은 고딕"/>
                        </a:rPr>
                        <a:t>3,115만</a:t>
                      </a:r>
                    </a:p>
                  </a:txBody>
                  <a:tcPr marL="64008" marR="64008" marT="18288" marB="18288" anchor="ctr">
                    <a:solidFill>
                      <a:srgbClr val="FFFFFF"/>
                    </a:solidFill>
                  </a:tcPr>
                </a:tc>
                <a:tc>
                  <a:txBody>
                    <a:bodyPr/>
                    <a:lstStyle/>
                    <a:p>
                      <a:pPr algn="ctr"/>
                      <a:r>
                        <a:rPr sz="1200" b="0">
                          <a:solidFill>
                            <a:srgbClr val="242D38"/>
                          </a:solidFill>
                          <a:latin typeface="맑은 고딕"/>
                        </a:rPr>
                        <a:t>여유 585만</a:t>
                      </a:r>
                    </a:p>
                  </a:txBody>
                  <a:tcPr marL="64008" marR="64008" marT="18288" marB="18288" anchor="ctr">
                    <a:solidFill>
                      <a:srgbClr val="FFFFFF"/>
                    </a:solidFill>
                  </a:tcPr>
                </a:tc>
              </a:tr>
              <a:tr h="310896">
                <a:tc>
                  <a:txBody>
                    <a:bodyPr/>
                    <a:lstStyle/>
                    <a:p>
                      <a:pPr algn="l"/>
                      <a:r>
                        <a:rPr sz="1200" b="0">
                          <a:solidFill>
                            <a:srgbClr val="242D38"/>
                          </a:solidFill>
                          <a:latin typeface="맑은 고딕"/>
                        </a:rPr>
                        <a:t>3,100만</a:t>
                      </a:r>
                    </a:p>
                  </a:txBody>
                  <a:tcPr marL="64008" marR="64008" marT="18288" marB="18288" anchor="ctr">
                    <a:solidFill>
                      <a:srgbClr val="F2F5F8"/>
                    </a:solidFill>
                  </a:tcPr>
                </a:tc>
                <a:tc>
                  <a:txBody>
                    <a:bodyPr/>
                    <a:lstStyle/>
                    <a:p>
                      <a:pPr algn="ctr"/>
                      <a:r>
                        <a:rPr sz="1200" b="0">
                          <a:solidFill>
                            <a:srgbClr val="242D38"/>
                          </a:solidFill>
                          <a:latin typeface="맑은 고딕"/>
                        </a:rPr>
                        <a:t>197만</a:t>
                      </a:r>
                    </a:p>
                  </a:txBody>
                  <a:tcPr marL="64008" marR="64008" marT="18288" marB="18288" anchor="ctr">
                    <a:solidFill>
                      <a:srgbClr val="F2F5F8"/>
                    </a:solidFill>
                  </a:tcPr>
                </a:tc>
                <a:tc>
                  <a:txBody>
                    <a:bodyPr/>
                    <a:lstStyle/>
                    <a:p>
                      <a:pPr algn="ctr"/>
                      <a:r>
                        <a:rPr sz="1200" b="0">
                          <a:solidFill>
                            <a:srgbClr val="242D38"/>
                          </a:solidFill>
                          <a:latin typeface="맑은 고딕"/>
                        </a:rPr>
                        <a:t>30만</a:t>
                      </a:r>
                    </a:p>
                  </a:txBody>
                  <a:tcPr marL="64008" marR="64008" marT="18288" marB="18288" anchor="ctr">
                    <a:solidFill>
                      <a:srgbClr val="F2F5F8"/>
                    </a:solidFill>
                  </a:tcPr>
                </a:tc>
                <a:tc>
                  <a:txBody>
                    <a:bodyPr/>
                    <a:lstStyle/>
                    <a:p>
                      <a:pPr algn="ctr"/>
                      <a:r>
                        <a:rPr sz="1200" b="0">
                          <a:solidFill>
                            <a:srgbClr val="242D38"/>
                          </a:solidFill>
                          <a:latin typeface="맑은 고딕"/>
                        </a:rPr>
                        <a:t>3,327만</a:t>
                      </a:r>
                    </a:p>
                  </a:txBody>
                  <a:tcPr marL="64008" marR="64008" marT="18288" marB="18288" anchor="ctr">
                    <a:solidFill>
                      <a:srgbClr val="F2F5F8"/>
                    </a:solidFill>
                  </a:tcPr>
                </a:tc>
                <a:tc>
                  <a:txBody>
                    <a:bodyPr/>
                    <a:lstStyle/>
                    <a:p>
                      <a:pPr algn="ctr"/>
                      <a:r>
                        <a:rPr sz="1200" b="0">
                          <a:solidFill>
                            <a:srgbClr val="242D38"/>
                          </a:solidFill>
                          <a:latin typeface="맑은 고딕"/>
                        </a:rPr>
                        <a:t>여유 373만</a:t>
                      </a:r>
                    </a:p>
                  </a:txBody>
                  <a:tcPr marL="64008" marR="64008" marT="18288" marB="18288" anchor="ctr">
                    <a:solidFill>
                      <a:srgbClr val="F2F5F8"/>
                    </a:solidFill>
                  </a:tcPr>
                </a:tc>
              </a:tr>
              <a:tr h="310896">
                <a:tc>
                  <a:txBody>
                    <a:bodyPr/>
                    <a:lstStyle/>
                    <a:p>
                      <a:pPr algn="l"/>
                      <a:r>
                        <a:rPr sz="1200" b="0">
                          <a:solidFill>
                            <a:srgbClr val="242D38"/>
                          </a:solidFill>
                          <a:latin typeface="맑은 고딕"/>
                        </a:rPr>
                        <a:t>3,250만</a:t>
                      </a:r>
                    </a:p>
                  </a:txBody>
                  <a:tcPr marL="64008" marR="64008" marT="18288" marB="18288" anchor="ctr">
                    <a:solidFill>
                      <a:srgbClr val="FFFFFF"/>
                    </a:solidFill>
                  </a:tcPr>
                </a:tc>
                <a:tc>
                  <a:txBody>
                    <a:bodyPr/>
                    <a:lstStyle/>
                    <a:p>
                      <a:pPr algn="ctr"/>
                      <a:r>
                        <a:rPr sz="1200" b="0">
                          <a:solidFill>
                            <a:srgbClr val="242D38"/>
                          </a:solidFill>
                          <a:latin typeface="맑은 고딕"/>
                        </a:rPr>
                        <a:t>207만</a:t>
                      </a:r>
                    </a:p>
                  </a:txBody>
                  <a:tcPr marL="64008" marR="64008" marT="18288" marB="18288" anchor="ctr">
                    <a:solidFill>
                      <a:srgbClr val="FFFFFF"/>
                    </a:solidFill>
                  </a:tcPr>
                </a:tc>
                <a:tc>
                  <a:txBody>
                    <a:bodyPr/>
                    <a:lstStyle/>
                    <a:p>
                      <a:pPr algn="ctr"/>
                      <a:r>
                        <a:rPr sz="1200" b="0">
                          <a:solidFill>
                            <a:srgbClr val="242D38"/>
                          </a:solidFill>
                          <a:latin typeface="맑은 고딕"/>
                        </a:rPr>
                        <a:t>30만</a:t>
                      </a:r>
                    </a:p>
                  </a:txBody>
                  <a:tcPr marL="64008" marR="64008" marT="18288" marB="18288" anchor="ctr">
                    <a:solidFill>
                      <a:srgbClr val="FFFFFF"/>
                    </a:solidFill>
                  </a:tcPr>
                </a:tc>
                <a:tc>
                  <a:txBody>
                    <a:bodyPr/>
                    <a:lstStyle/>
                    <a:p>
                      <a:pPr algn="ctr"/>
                      <a:r>
                        <a:rPr sz="1200" b="0">
                          <a:solidFill>
                            <a:srgbClr val="242D38"/>
                          </a:solidFill>
                          <a:latin typeface="맑은 고딕"/>
                        </a:rPr>
                        <a:t>3,487만</a:t>
                      </a:r>
                    </a:p>
                  </a:txBody>
                  <a:tcPr marL="64008" marR="64008" marT="18288" marB="18288" anchor="ctr">
                    <a:solidFill>
                      <a:srgbClr val="FFFFFF"/>
                    </a:solidFill>
                  </a:tcPr>
                </a:tc>
                <a:tc>
                  <a:txBody>
                    <a:bodyPr/>
                    <a:lstStyle/>
                    <a:p>
                      <a:pPr algn="ctr"/>
                      <a:r>
                        <a:rPr sz="1200" b="0">
                          <a:solidFill>
                            <a:srgbClr val="242D38"/>
                          </a:solidFill>
                          <a:latin typeface="맑은 고딕"/>
                        </a:rPr>
                        <a:t>여유 213만</a:t>
                      </a:r>
                    </a:p>
                  </a:txBody>
                  <a:tcPr marL="64008" marR="64008" marT="18288" marB="18288" anchor="ctr">
                    <a:solidFill>
                      <a:srgbClr val="FFFFFF"/>
                    </a:solidFill>
                  </a:tcPr>
                </a:tc>
              </a:tr>
              <a:tr h="310896">
                <a:tc>
                  <a:txBody>
                    <a:bodyPr/>
                    <a:lstStyle/>
                    <a:p>
                      <a:pPr algn="l"/>
                      <a:r>
                        <a:rPr sz="1200" b="0">
                          <a:solidFill>
                            <a:srgbClr val="242D38"/>
                          </a:solidFill>
                          <a:latin typeface="맑은 고딕"/>
                        </a:rPr>
                        <a:t>3,350만</a:t>
                      </a:r>
                    </a:p>
                  </a:txBody>
                  <a:tcPr marL="64008" marR="64008" marT="18288" marB="18288" anchor="ctr">
                    <a:solidFill>
                      <a:srgbClr val="F2F5F8"/>
                    </a:solidFill>
                  </a:tcPr>
                </a:tc>
                <a:tc>
                  <a:txBody>
                    <a:bodyPr/>
                    <a:lstStyle/>
                    <a:p>
                      <a:pPr algn="ctr"/>
                      <a:r>
                        <a:rPr sz="1200" b="0">
                          <a:solidFill>
                            <a:srgbClr val="242D38"/>
                          </a:solidFill>
                          <a:latin typeface="맑은 고딕"/>
                        </a:rPr>
                        <a:t>213만</a:t>
                      </a:r>
                    </a:p>
                  </a:txBody>
                  <a:tcPr marL="64008" marR="64008" marT="18288" marB="18288" anchor="ctr">
                    <a:solidFill>
                      <a:srgbClr val="F2F5F8"/>
                    </a:solidFill>
                  </a:tcPr>
                </a:tc>
                <a:tc>
                  <a:txBody>
                    <a:bodyPr/>
                    <a:lstStyle/>
                    <a:p>
                      <a:pPr algn="ctr"/>
                      <a:r>
                        <a:rPr sz="1200" b="0">
                          <a:solidFill>
                            <a:srgbClr val="242D38"/>
                          </a:solidFill>
                          <a:latin typeface="맑은 고딕"/>
                        </a:rPr>
                        <a:t>30만</a:t>
                      </a:r>
                    </a:p>
                  </a:txBody>
                  <a:tcPr marL="64008" marR="64008" marT="18288" marB="18288" anchor="ctr">
                    <a:solidFill>
                      <a:srgbClr val="F2F5F8"/>
                    </a:solidFill>
                  </a:tcPr>
                </a:tc>
                <a:tc>
                  <a:txBody>
                    <a:bodyPr/>
                    <a:lstStyle/>
                    <a:p>
                      <a:pPr algn="ctr"/>
                      <a:r>
                        <a:rPr sz="1200" b="0">
                          <a:solidFill>
                            <a:srgbClr val="242D38"/>
                          </a:solidFill>
                          <a:latin typeface="맑은 고딕"/>
                        </a:rPr>
                        <a:t>3,593만</a:t>
                      </a:r>
                    </a:p>
                  </a:txBody>
                  <a:tcPr marL="64008" marR="64008" marT="18288" marB="18288" anchor="ctr">
                    <a:solidFill>
                      <a:srgbClr val="F2F5F8"/>
                    </a:solidFill>
                  </a:tcPr>
                </a:tc>
                <a:tc>
                  <a:txBody>
                    <a:bodyPr/>
                    <a:lstStyle/>
                    <a:p>
                      <a:pPr algn="ctr"/>
                      <a:r>
                        <a:rPr sz="1200" b="0">
                          <a:solidFill>
                            <a:srgbClr val="242D38"/>
                          </a:solidFill>
                          <a:latin typeface="맑은 고딕"/>
                        </a:rPr>
                        <a:t>여유 107만</a:t>
                      </a:r>
                    </a:p>
                  </a:txBody>
                  <a:tcPr marL="64008" marR="64008" marT="18288" marB="18288" anchor="ctr">
                    <a:solidFill>
                      <a:srgbClr val="F2F5F8"/>
                    </a:solidFill>
                  </a:tcPr>
                </a:tc>
              </a:tr>
              <a:tr h="310896">
                <a:tc>
                  <a:txBody>
                    <a:bodyPr/>
                    <a:lstStyle/>
                    <a:p>
                      <a:pPr algn="l"/>
                      <a:r>
                        <a:rPr sz="1200" b="0">
                          <a:solidFill>
                            <a:srgbClr val="242D38"/>
                          </a:solidFill>
                          <a:latin typeface="맑은 고딕"/>
                        </a:rPr>
                        <a:t>3,450만</a:t>
                      </a:r>
                    </a:p>
                  </a:txBody>
                  <a:tcPr marL="64008" marR="64008" marT="18288" marB="18288" anchor="ctr">
                    <a:solidFill>
                      <a:srgbClr val="FFFFFF"/>
                    </a:solidFill>
                  </a:tcPr>
                </a:tc>
                <a:tc>
                  <a:txBody>
                    <a:bodyPr/>
                    <a:lstStyle/>
                    <a:p>
                      <a:pPr algn="ctr"/>
                      <a:r>
                        <a:rPr sz="1200" b="0">
                          <a:solidFill>
                            <a:srgbClr val="242D38"/>
                          </a:solidFill>
                          <a:latin typeface="맑은 고딕"/>
                        </a:rPr>
                        <a:t>220만</a:t>
                      </a:r>
                    </a:p>
                  </a:txBody>
                  <a:tcPr marL="64008" marR="64008" marT="18288" marB="18288" anchor="ctr">
                    <a:solidFill>
                      <a:srgbClr val="FFFFFF"/>
                    </a:solidFill>
                  </a:tcPr>
                </a:tc>
                <a:tc>
                  <a:txBody>
                    <a:bodyPr/>
                    <a:lstStyle/>
                    <a:p>
                      <a:pPr algn="ctr"/>
                      <a:r>
                        <a:rPr sz="1200" b="0">
                          <a:solidFill>
                            <a:srgbClr val="242D38"/>
                          </a:solidFill>
                          <a:latin typeface="맑은 고딕"/>
                        </a:rPr>
                        <a:t>30만</a:t>
                      </a:r>
                    </a:p>
                  </a:txBody>
                  <a:tcPr marL="64008" marR="64008" marT="18288" marB="18288" anchor="ctr">
                    <a:solidFill>
                      <a:srgbClr val="FFFFFF"/>
                    </a:solidFill>
                  </a:tcPr>
                </a:tc>
                <a:tc>
                  <a:txBody>
                    <a:bodyPr/>
                    <a:lstStyle/>
                    <a:p>
                      <a:pPr algn="ctr"/>
                      <a:r>
                        <a:rPr sz="1200" b="0">
                          <a:solidFill>
                            <a:srgbClr val="242D38"/>
                          </a:solidFill>
                          <a:latin typeface="맑은 고딕"/>
                        </a:rPr>
                        <a:t>3,700만</a:t>
                      </a:r>
                    </a:p>
                  </a:txBody>
                  <a:tcPr marL="64008" marR="64008" marT="18288" marB="18288" anchor="ctr">
                    <a:solidFill>
                      <a:srgbClr val="FFFFFF"/>
                    </a:solidFill>
                  </a:tcPr>
                </a:tc>
                <a:tc>
                  <a:txBody>
                    <a:bodyPr/>
                    <a:lstStyle/>
                    <a:p>
                      <a:pPr algn="ctr"/>
                      <a:r>
                        <a:rPr sz="1200" b="0">
                          <a:solidFill>
                            <a:srgbClr val="242D38"/>
                          </a:solidFill>
                          <a:latin typeface="맑은 고딕"/>
                        </a:rPr>
                        <a:t>여유 0만</a:t>
                      </a:r>
                    </a:p>
                  </a:txBody>
                  <a:tcPr marL="64008" marR="64008" marT="18288" marB="18288" anchor="ctr">
                    <a:solidFill>
                      <a:srgbClr val="FFFFFF"/>
                    </a:solidFill>
                  </a:tcPr>
                </a:tc>
              </a:tr>
              <a:tr h="310896">
                <a:tc>
                  <a:txBody>
                    <a:bodyPr/>
                    <a:lstStyle/>
                    <a:p>
                      <a:pPr algn="l"/>
                      <a:r>
                        <a:rPr sz="1200" b="0">
                          <a:solidFill>
                            <a:srgbClr val="242D38"/>
                          </a:solidFill>
                          <a:latin typeface="맑은 고딕"/>
                        </a:rPr>
                        <a:t>3,550만</a:t>
                      </a:r>
                    </a:p>
                  </a:txBody>
                  <a:tcPr marL="64008" marR="64008" marT="18288" marB="18288" anchor="ctr">
                    <a:solidFill>
                      <a:srgbClr val="FDECE8"/>
                    </a:solidFill>
                  </a:tcPr>
                </a:tc>
                <a:tc>
                  <a:txBody>
                    <a:bodyPr/>
                    <a:lstStyle/>
                    <a:p>
                      <a:pPr algn="ctr"/>
                      <a:r>
                        <a:rPr sz="1200" b="0">
                          <a:solidFill>
                            <a:srgbClr val="242D38"/>
                          </a:solidFill>
                          <a:latin typeface="맑은 고딕"/>
                        </a:rPr>
                        <a:t>226만</a:t>
                      </a:r>
                    </a:p>
                  </a:txBody>
                  <a:tcPr marL="64008" marR="64008" marT="18288" marB="18288" anchor="ctr">
                    <a:solidFill>
                      <a:srgbClr val="FDECE8"/>
                    </a:solidFill>
                  </a:tcPr>
                </a:tc>
                <a:tc>
                  <a:txBody>
                    <a:bodyPr/>
                    <a:lstStyle/>
                    <a:p>
                      <a:pPr algn="ctr"/>
                      <a:r>
                        <a:rPr sz="1200" b="0">
                          <a:solidFill>
                            <a:srgbClr val="242D38"/>
                          </a:solidFill>
                          <a:latin typeface="맑은 고딕"/>
                        </a:rPr>
                        <a:t>30만</a:t>
                      </a:r>
                    </a:p>
                  </a:txBody>
                  <a:tcPr marL="64008" marR="64008" marT="18288" marB="18288" anchor="ctr">
                    <a:solidFill>
                      <a:srgbClr val="FDECE8"/>
                    </a:solidFill>
                  </a:tcPr>
                </a:tc>
                <a:tc>
                  <a:txBody>
                    <a:bodyPr/>
                    <a:lstStyle/>
                    <a:p>
                      <a:pPr algn="ctr"/>
                      <a:r>
                        <a:rPr sz="1200" b="0">
                          <a:solidFill>
                            <a:srgbClr val="242D38"/>
                          </a:solidFill>
                          <a:latin typeface="맑은 고딕"/>
                        </a:rPr>
                        <a:t>3,806만</a:t>
                      </a:r>
                    </a:p>
                  </a:txBody>
                  <a:tcPr marL="64008" marR="64008" marT="18288" marB="18288" anchor="ctr">
                    <a:solidFill>
                      <a:srgbClr val="FDECE8"/>
                    </a:solidFill>
                  </a:tcPr>
                </a:tc>
                <a:tc>
                  <a:txBody>
                    <a:bodyPr/>
                    <a:lstStyle/>
                    <a:p>
                      <a:pPr algn="ctr"/>
                      <a:r>
                        <a:rPr sz="1200" b="0">
                          <a:solidFill>
                            <a:srgbClr val="242D38"/>
                          </a:solidFill>
                          <a:latin typeface="맑은 고딕"/>
                        </a:rPr>
                        <a:t>초과 106만</a:t>
                      </a:r>
                    </a:p>
                  </a:txBody>
                  <a:tcPr marL="64008" marR="64008" marT="18288" marB="18288" anchor="ctr">
                    <a:solidFill>
                      <a:srgbClr val="FDECE8"/>
                    </a:solidFill>
                  </a:tcPr>
                </a:tc>
              </a:tr>
            </a:tbl>
          </a:graphicData>
        </a:graphic>
      </p:graphicFrame>
      <p:sp>
        <p:nvSpPr>
          <p:cNvPr id="17" name="TextBox 16"/>
          <p:cNvSpPr txBox="1"/>
          <p:nvPr/>
        </p:nvSpPr>
        <p:spPr>
          <a:xfrm>
            <a:off x="713232" y="6327648"/>
            <a:ext cx="10881360" cy="365760"/>
          </a:xfrm>
          <a:prstGeom prst="rect">
            <a:avLst/>
          </a:prstGeom>
          <a:noFill/>
        </p:spPr>
        <p:txBody>
          <a:bodyPr wrap="square" anchor="t" lIns="0" rIns="0" tIns="0" bIns="0">
            <a:spAutoFit/>
          </a:bodyPr>
          <a:lstStyle/>
          <a:p>
            <a:pPr algn="l">
              <a:lnSpc>
                <a:spcPct val="120000"/>
              </a:lnSpc>
              <a:spcAft>
                <a:spcPts val="400"/>
              </a:spcAft>
            </a:pPr>
            <a:r>
              <a:rPr sz="950" b="0">
                <a:solidFill>
                  <a:srgbClr val="6E7884"/>
                </a:solidFill>
                <a:latin typeface="맑은 고딕"/>
              </a:rPr>
              <a:t>하이브리드 취득세 감면(최대 40만원)은 2024년 12월 31일자로 일몰 종료되어 2026년 현재 적용되지 않는다. 다만 하이브리드 개별소비세·교육세 감면(약 100만원)은 2026년 12월 31일까지 유효하며, 아래 하이브리드 가격은 모두 '세제혜택 후' 가격이다. 탁송료·보험료는 별도.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02920" y="274320"/>
            <a:ext cx="50292" cy="384048"/>
          </a:xfrm>
          <a:prstGeom prst="rect">
            <a:avLst/>
          </a:prstGeom>
          <a:solidFill>
            <a:srgbClr val="E26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13232" y="219456"/>
            <a:ext cx="8778240" cy="457200"/>
          </a:xfrm>
          <a:prstGeom prst="rect">
            <a:avLst/>
          </a:prstGeom>
          <a:noFill/>
        </p:spPr>
        <p:txBody>
          <a:bodyPr wrap="square" anchor="t" lIns="0" rIns="0" tIns="0" bIns="0">
            <a:spAutoFit/>
          </a:bodyPr>
          <a:lstStyle/>
          <a:p>
            <a:pPr algn="l">
              <a:lnSpc>
                <a:spcPct val="115000"/>
              </a:lnSpc>
              <a:spcAft>
                <a:spcPts val="400"/>
              </a:spcAft>
            </a:pPr>
            <a:r>
              <a:rPr sz="2300" b="1">
                <a:solidFill>
                  <a:srgbClr val="FFFFFF"/>
                </a:solidFill>
                <a:latin typeface="맑은 고딕"/>
              </a:rPr>
              <a:t>후보 5종 개요</a:t>
            </a:r>
          </a:p>
        </p:txBody>
      </p:sp>
      <p:sp>
        <p:nvSpPr>
          <p:cNvPr id="5" name="TextBox 4"/>
          <p:cNvSpPr txBox="1"/>
          <p:nvPr/>
        </p:nvSpPr>
        <p:spPr>
          <a:xfrm>
            <a:off x="9509760" y="329184"/>
            <a:ext cx="2194560" cy="365760"/>
          </a:xfrm>
          <a:prstGeom prst="rect">
            <a:avLst/>
          </a:prstGeom>
          <a:noFill/>
        </p:spPr>
        <p:txBody>
          <a:bodyPr wrap="square" anchor="t" lIns="0" rIns="0" tIns="0" bIns="0">
            <a:spAutoFit/>
          </a:bodyPr>
          <a:lstStyle/>
          <a:p>
            <a:pPr algn="r">
              <a:lnSpc>
                <a:spcPct val="115000"/>
              </a:lnSpc>
              <a:spcAft>
                <a:spcPts val="400"/>
              </a:spcAft>
            </a:pPr>
            <a:r>
              <a:rPr sz="1100" b="0">
                <a:solidFill>
                  <a:srgbClr val="A9BED2"/>
                </a:solidFill>
                <a:latin typeface="맑은 고딕"/>
              </a:rPr>
              <a:t>02 / 개요</a:t>
            </a:r>
          </a:p>
        </p:txBody>
      </p:sp>
      <p:sp>
        <p:nvSpPr>
          <p:cNvPr id="6" name="TextBox 5"/>
          <p:cNvSpPr txBox="1"/>
          <p:nvPr/>
        </p:nvSpPr>
        <p:spPr>
          <a:xfrm>
            <a:off x="713232" y="1060704"/>
            <a:ext cx="10881360" cy="310896"/>
          </a:xfrm>
          <a:prstGeom prst="rect">
            <a:avLst/>
          </a:prstGeom>
          <a:noFill/>
        </p:spPr>
        <p:txBody>
          <a:bodyPr wrap="square" anchor="t" lIns="0" rIns="0" tIns="0" bIns="0">
            <a:spAutoFit/>
          </a:bodyPr>
          <a:lstStyle/>
          <a:p>
            <a:pPr algn="l">
              <a:lnSpc>
                <a:spcPct val="115000"/>
              </a:lnSpc>
              <a:spcAft>
                <a:spcPts val="400"/>
              </a:spcAft>
            </a:pPr>
            <a:r>
              <a:rPr sz="1250" b="0">
                <a:solidFill>
                  <a:srgbClr val="6E7884"/>
                </a:solidFill>
                <a:latin typeface="맑은 고딕"/>
              </a:rPr>
              <a:t>차급이 다르므로 같은 예산에서 '어느 급의 어느 트림'을 살 수 있는지가 갈린다.</a:t>
            </a:r>
          </a:p>
        </p:txBody>
      </p:sp>
      <p:graphicFrame>
        <p:nvGraphicFramePr>
          <p:cNvPr id="7" name="Table 6"/>
          <p:cNvGraphicFramePr>
            <a:graphicFrameLocks noGrp="1"/>
          </p:cNvGraphicFramePr>
          <p:nvPr/>
        </p:nvGraphicFramePr>
        <p:xfrm>
          <a:off x="713232" y="1627632"/>
          <a:ext cx="10762485" cy="2468880"/>
        </p:xfrm>
        <a:graphic>
          <a:graphicData uri="http://schemas.openxmlformats.org/drawingml/2006/table">
            <a:tbl>
              <a:tblPr firstRow="1">
                <a:tableStyleId>{5C22544A-7EE6-4342-B048-85BDC9FD1C3A}</a:tableStyleId>
              </a:tblPr>
              <a:tblGrid>
                <a:gridCol w="1537498"/>
                <a:gridCol w="768749"/>
                <a:gridCol w="1153123"/>
                <a:gridCol w="2882809"/>
                <a:gridCol w="1153123"/>
                <a:gridCol w="1441404"/>
                <a:gridCol w="1825779"/>
              </a:tblGrid>
              <a:tr h="365760">
                <a:tc>
                  <a:txBody>
                    <a:bodyPr/>
                    <a:lstStyle/>
                    <a:p>
                      <a:pPr algn="l"/>
                      <a:r>
                        <a:rPr sz="1150" b="1">
                          <a:solidFill>
                            <a:srgbClr val="FFFFFF"/>
                          </a:solidFill>
                          <a:latin typeface="맑은 고딕"/>
                        </a:rPr>
                        <a:t>차종</a:t>
                      </a:r>
                    </a:p>
                  </a:txBody>
                  <a:tcPr marL="64008" marR="64008" marT="18288" marB="18288" anchor="ctr">
                    <a:solidFill>
                      <a:srgbClr val="102A43"/>
                    </a:solidFill>
                  </a:tcPr>
                </a:tc>
                <a:tc>
                  <a:txBody>
                    <a:bodyPr/>
                    <a:lstStyle/>
                    <a:p>
                      <a:pPr algn="ctr"/>
                      <a:r>
                        <a:rPr sz="1150" b="1">
                          <a:solidFill>
                            <a:srgbClr val="FFFFFF"/>
                          </a:solidFill>
                          <a:latin typeface="맑은 고딕"/>
                        </a:rPr>
                        <a:t>제조사</a:t>
                      </a:r>
                    </a:p>
                  </a:txBody>
                  <a:tcPr marL="64008" marR="64008" marT="18288" marB="18288" anchor="ctr">
                    <a:solidFill>
                      <a:srgbClr val="102A43"/>
                    </a:solidFill>
                  </a:tcPr>
                </a:tc>
                <a:tc>
                  <a:txBody>
                    <a:bodyPr/>
                    <a:lstStyle/>
                    <a:p>
                      <a:pPr algn="ctr"/>
                      <a:r>
                        <a:rPr sz="1150" b="1">
                          <a:solidFill>
                            <a:srgbClr val="FFFFFF"/>
                          </a:solidFill>
                          <a:latin typeface="맑은 고딕"/>
                        </a:rPr>
                        <a:t>차급</a:t>
                      </a:r>
                    </a:p>
                  </a:txBody>
                  <a:tcPr marL="64008" marR="64008" marT="18288" marB="18288" anchor="ctr">
                    <a:solidFill>
                      <a:srgbClr val="102A43"/>
                    </a:solidFill>
                  </a:tcPr>
                </a:tc>
                <a:tc>
                  <a:txBody>
                    <a:bodyPr/>
                    <a:lstStyle/>
                    <a:p>
                      <a:pPr algn="ctr"/>
                      <a:r>
                        <a:rPr sz="1150" b="1">
                          <a:solidFill>
                            <a:srgbClr val="FFFFFF"/>
                          </a:solidFill>
                          <a:latin typeface="맑은 고딕"/>
                        </a:rPr>
                        <a:t>파워트레인</a:t>
                      </a:r>
                    </a:p>
                  </a:txBody>
                  <a:tcPr marL="64008" marR="64008" marT="18288" marB="18288" anchor="ctr">
                    <a:solidFill>
                      <a:srgbClr val="102A43"/>
                    </a:solidFill>
                  </a:tcPr>
                </a:tc>
                <a:tc>
                  <a:txBody>
                    <a:bodyPr/>
                    <a:lstStyle/>
                    <a:p>
                      <a:pPr algn="ctr"/>
                      <a:r>
                        <a:rPr sz="1150" b="1">
                          <a:solidFill>
                            <a:srgbClr val="FFFFFF"/>
                          </a:solidFill>
                          <a:latin typeface="맑은 고딕"/>
                        </a:rPr>
                        <a:t>시작가(2WD)</a:t>
                      </a:r>
                    </a:p>
                  </a:txBody>
                  <a:tcPr marL="64008" marR="64008" marT="18288" marB="18288" anchor="ctr">
                    <a:solidFill>
                      <a:srgbClr val="102A43"/>
                    </a:solidFill>
                  </a:tcPr>
                </a:tc>
                <a:tc>
                  <a:txBody>
                    <a:bodyPr/>
                    <a:lstStyle/>
                    <a:p>
                      <a:pPr algn="ctr"/>
                      <a:r>
                        <a:rPr sz="1150" b="1">
                          <a:solidFill>
                            <a:srgbClr val="FFFFFF"/>
                          </a:solidFill>
                          <a:latin typeface="맑은 고딕"/>
                        </a:rPr>
                        <a:t>복합연비</a:t>
                      </a:r>
                    </a:p>
                  </a:txBody>
                  <a:tcPr marL="64008" marR="64008" marT="18288" marB="18288" anchor="ctr">
                    <a:solidFill>
                      <a:srgbClr val="102A43"/>
                    </a:solidFill>
                  </a:tcPr>
                </a:tc>
                <a:tc>
                  <a:txBody>
                    <a:bodyPr/>
                    <a:lstStyle/>
                    <a:p>
                      <a:pPr algn="ctr"/>
                      <a:r>
                        <a:rPr sz="1150" b="1">
                          <a:solidFill>
                            <a:srgbClr val="FFFFFF"/>
                          </a:solidFill>
                          <a:latin typeface="맑은 고딕"/>
                        </a:rPr>
                        <a:t>비고</a:t>
                      </a:r>
                    </a:p>
                  </a:txBody>
                  <a:tcPr marL="64008" marR="64008" marT="18288" marB="18288" anchor="ctr">
                    <a:solidFill>
                      <a:srgbClr val="102A43"/>
                    </a:solidFill>
                  </a:tcPr>
                </a:tc>
              </a:tr>
              <a:tr h="420624">
                <a:tc>
                  <a:txBody>
                    <a:bodyPr/>
                    <a:lstStyle/>
                    <a:p>
                      <a:pPr algn="l"/>
                      <a:r>
                        <a:rPr sz="1150" b="0">
                          <a:solidFill>
                            <a:srgbClr val="242D38"/>
                          </a:solidFill>
                          <a:latin typeface="맑은 고딕"/>
                        </a:rPr>
                        <a:t>코나</a:t>
                      </a:r>
                    </a:p>
                  </a:txBody>
                  <a:tcPr marL="64008" marR="64008" marT="18288" marB="18288" anchor="ctr">
                    <a:solidFill>
                      <a:srgbClr val="FFFFFF"/>
                    </a:solidFill>
                  </a:tcPr>
                </a:tc>
                <a:tc>
                  <a:txBody>
                    <a:bodyPr/>
                    <a:lstStyle/>
                    <a:p>
                      <a:pPr algn="ctr"/>
                      <a:r>
                        <a:rPr sz="1150" b="0">
                          <a:solidFill>
                            <a:srgbClr val="242D38"/>
                          </a:solidFill>
                          <a:latin typeface="맑은 고딕"/>
                        </a:rPr>
                        <a:t>현대</a:t>
                      </a:r>
                    </a:p>
                  </a:txBody>
                  <a:tcPr marL="64008" marR="64008" marT="18288" marB="18288" anchor="ctr">
                    <a:solidFill>
                      <a:srgbClr val="FFFFFF"/>
                    </a:solidFill>
                  </a:tcPr>
                </a:tc>
                <a:tc>
                  <a:txBody>
                    <a:bodyPr/>
                    <a:lstStyle/>
                    <a:p>
                      <a:pPr algn="ctr"/>
                      <a:r>
                        <a:rPr sz="1150" b="0">
                          <a:solidFill>
                            <a:srgbClr val="242D38"/>
                          </a:solidFill>
                          <a:latin typeface="맑은 고딕"/>
                        </a:rPr>
                        <a:t>소형 SUV</a:t>
                      </a:r>
                    </a:p>
                  </a:txBody>
                  <a:tcPr marL="64008" marR="64008" marT="18288" marB="18288" anchor="ctr">
                    <a:solidFill>
                      <a:srgbClr val="FFFFFF"/>
                    </a:solidFill>
                  </a:tcPr>
                </a:tc>
                <a:tc>
                  <a:txBody>
                    <a:bodyPr/>
                    <a:lstStyle/>
                    <a:p>
                      <a:pPr algn="ctr"/>
                      <a:r>
                        <a:rPr sz="1150" b="0">
                          <a:solidFill>
                            <a:srgbClr val="242D38"/>
                          </a:solidFill>
                          <a:latin typeface="맑은 고딕"/>
                        </a:rPr>
                        <a:t>가솔린 2.0 / 1.6T / 1.6 HEV</a:t>
                      </a:r>
                    </a:p>
                  </a:txBody>
                  <a:tcPr marL="64008" marR="64008" marT="18288" marB="18288" anchor="ctr">
                    <a:solidFill>
                      <a:srgbClr val="FFFFFF"/>
                    </a:solidFill>
                  </a:tcPr>
                </a:tc>
                <a:tc>
                  <a:txBody>
                    <a:bodyPr/>
                    <a:lstStyle/>
                    <a:p>
                      <a:pPr algn="ctr"/>
                      <a:r>
                        <a:rPr sz="1150" b="0">
                          <a:solidFill>
                            <a:srgbClr val="242D38"/>
                          </a:solidFill>
                          <a:latin typeface="맑은 고딕"/>
                        </a:rPr>
                        <a:t>2,393만</a:t>
                      </a:r>
                    </a:p>
                  </a:txBody>
                  <a:tcPr marL="64008" marR="64008" marT="18288" marB="18288" anchor="ctr">
                    <a:solidFill>
                      <a:srgbClr val="FFFFFF"/>
                    </a:solidFill>
                  </a:tcPr>
                </a:tc>
                <a:tc>
                  <a:txBody>
                    <a:bodyPr/>
                    <a:lstStyle/>
                    <a:p>
                      <a:pPr algn="ctr"/>
                      <a:r>
                        <a:rPr sz="1150" b="0">
                          <a:solidFill>
                            <a:srgbClr val="242D38"/>
                          </a:solidFill>
                          <a:latin typeface="맑은 고딕"/>
                        </a:rPr>
                        <a:t>13.6 / 13.0 / 19.8</a:t>
                      </a:r>
                    </a:p>
                  </a:txBody>
                  <a:tcPr marL="64008" marR="64008" marT="18288" marB="18288" anchor="ctr">
                    <a:solidFill>
                      <a:srgbClr val="FFFFFF"/>
                    </a:solidFill>
                  </a:tcPr>
                </a:tc>
                <a:tc>
                  <a:txBody>
                    <a:bodyPr/>
                    <a:lstStyle/>
                    <a:p>
                      <a:pPr algn="ctr"/>
                      <a:r>
                        <a:rPr sz="1150" b="0">
                          <a:solidFill>
                            <a:srgbClr val="242D38"/>
                          </a:solidFill>
                          <a:latin typeface="맑은 고딕"/>
                        </a:rPr>
                        <a:t>2027년형 (26.4 출시)</a:t>
                      </a:r>
                    </a:p>
                  </a:txBody>
                  <a:tcPr marL="64008" marR="64008" marT="18288" marB="18288" anchor="ctr">
                    <a:solidFill>
                      <a:srgbClr val="FFFFFF"/>
                    </a:solidFill>
                  </a:tcPr>
                </a:tc>
              </a:tr>
              <a:tr h="420624">
                <a:tc>
                  <a:txBody>
                    <a:bodyPr/>
                    <a:lstStyle/>
                    <a:p>
                      <a:pPr algn="l"/>
                      <a:r>
                        <a:rPr sz="1150" b="0">
                          <a:solidFill>
                            <a:srgbClr val="242D38"/>
                          </a:solidFill>
                          <a:latin typeface="맑은 고딕"/>
                        </a:rPr>
                        <a:t>셀토스</a:t>
                      </a:r>
                    </a:p>
                  </a:txBody>
                  <a:tcPr marL="64008" marR="64008" marT="18288" marB="18288" anchor="ctr">
                    <a:solidFill>
                      <a:srgbClr val="F2F5F8"/>
                    </a:solidFill>
                  </a:tcPr>
                </a:tc>
                <a:tc>
                  <a:txBody>
                    <a:bodyPr/>
                    <a:lstStyle/>
                    <a:p>
                      <a:pPr algn="ctr"/>
                      <a:r>
                        <a:rPr sz="1150" b="0">
                          <a:solidFill>
                            <a:srgbClr val="242D38"/>
                          </a:solidFill>
                          <a:latin typeface="맑은 고딕"/>
                        </a:rPr>
                        <a:t>기아</a:t>
                      </a:r>
                    </a:p>
                  </a:txBody>
                  <a:tcPr marL="64008" marR="64008" marT="18288" marB="18288" anchor="ctr">
                    <a:solidFill>
                      <a:srgbClr val="F2F5F8"/>
                    </a:solidFill>
                  </a:tcPr>
                </a:tc>
                <a:tc>
                  <a:txBody>
                    <a:bodyPr/>
                    <a:lstStyle/>
                    <a:p>
                      <a:pPr algn="ctr"/>
                      <a:r>
                        <a:rPr sz="1150" b="0">
                          <a:solidFill>
                            <a:srgbClr val="242D38"/>
                          </a:solidFill>
                          <a:latin typeface="맑은 고딕"/>
                        </a:rPr>
                        <a:t>소형 SUV</a:t>
                      </a:r>
                    </a:p>
                  </a:txBody>
                  <a:tcPr marL="64008" marR="64008" marT="18288" marB="18288" anchor="ctr">
                    <a:solidFill>
                      <a:srgbClr val="F2F5F8"/>
                    </a:solidFill>
                  </a:tcPr>
                </a:tc>
                <a:tc>
                  <a:txBody>
                    <a:bodyPr/>
                    <a:lstStyle/>
                    <a:p>
                      <a:pPr algn="ctr"/>
                      <a:r>
                        <a:rPr sz="1150" b="0">
                          <a:solidFill>
                            <a:srgbClr val="242D38"/>
                          </a:solidFill>
                          <a:latin typeface="맑은 고딕"/>
                        </a:rPr>
                        <a:t>가솔린 1.6T / 1.6 HEV</a:t>
                      </a:r>
                    </a:p>
                  </a:txBody>
                  <a:tcPr marL="64008" marR="64008" marT="18288" marB="18288" anchor="ctr">
                    <a:solidFill>
                      <a:srgbClr val="F2F5F8"/>
                    </a:solidFill>
                  </a:tcPr>
                </a:tc>
                <a:tc>
                  <a:txBody>
                    <a:bodyPr/>
                    <a:lstStyle/>
                    <a:p>
                      <a:pPr algn="ctr"/>
                      <a:r>
                        <a:rPr sz="1150" b="0">
                          <a:solidFill>
                            <a:srgbClr val="242D38"/>
                          </a:solidFill>
                          <a:latin typeface="맑은 고딕"/>
                        </a:rPr>
                        <a:t>2,512만</a:t>
                      </a:r>
                    </a:p>
                  </a:txBody>
                  <a:tcPr marL="64008" marR="64008" marT="18288" marB="18288" anchor="ctr">
                    <a:solidFill>
                      <a:srgbClr val="F2F5F8"/>
                    </a:solidFill>
                  </a:tcPr>
                </a:tc>
                <a:tc>
                  <a:txBody>
                    <a:bodyPr/>
                    <a:lstStyle/>
                    <a:p>
                      <a:pPr algn="ctr"/>
                      <a:r>
                        <a:rPr sz="1150" b="0">
                          <a:solidFill>
                            <a:srgbClr val="242D38"/>
                          </a:solidFill>
                          <a:latin typeface="맑은 고딕"/>
                        </a:rPr>
                        <a:t>12.5 / 19.5</a:t>
                      </a:r>
                    </a:p>
                  </a:txBody>
                  <a:tcPr marL="64008" marR="64008" marT="18288" marB="18288" anchor="ctr">
                    <a:solidFill>
                      <a:srgbClr val="F2F5F8"/>
                    </a:solidFill>
                  </a:tcPr>
                </a:tc>
                <a:tc>
                  <a:txBody>
                    <a:bodyPr/>
                    <a:lstStyle/>
                    <a:p>
                      <a:pPr algn="ctr"/>
                      <a:r>
                        <a:rPr sz="1150" b="0">
                          <a:solidFill>
                            <a:srgbClr val="242D38"/>
                          </a:solidFill>
                          <a:latin typeface="맑은 고딕"/>
                        </a:rPr>
                        <a:t>신형 · HEV 최초 적용</a:t>
                      </a:r>
                    </a:p>
                  </a:txBody>
                  <a:tcPr marL="64008" marR="64008" marT="18288" marB="18288" anchor="ctr">
                    <a:solidFill>
                      <a:srgbClr val="F2F5F8"/>
                    </a:solidFill>
                  </a:tcPr>
                </a:tc>
              </a:tr>
              <a:tr h="420624">
                <a:tc>
                  <a:txBody>
                    <a:bodyPr/>
                    <a:lstStyle/>
                    <a:p>
                      <a:pPr algn="l"/>
                      <a:r>
                        <a:rPr sz="1150" b="0">
                          <a:solidFill>
                            <a:srgbClr val="242D38"/>
                          </a:solidFill>
                          <a:latin typeface="맑은 고딕"/>
                        </a:rPr>
                        <a:t>트레일블레이저</a:t>
                      </a:r>
                    </a:p>
                  </a:txBody>
                  <a:tcPr marL="64008" marR="64008" marT="18288" marB="18288" anchor="ctr">
                    <a:solidFill>
                      <a:srgbClr val="FFFFFF"/>
                    </a:solidFill>
                  </a:tcPr>
                </a:tc>
                <a:tc>
                  <a:txBody>
                    <a:bodyPr/>
                    <a:lstStyle/>
                    <a:p>
                      <a:pPr algn="ctr"/>
                      <a:r>
                        <a:rPr sz="1150" b="0">
                          <a:solidFill>
                            <a:srgbClr val="242D38"/>
                          </a:solidFill>
                          <a:latin typeface="맑은 고딕"/>
                        </a:rPr>
                        <a:t>쉐보레</a:t>
                      </a:r>
                    </a:p>
                  </a:txBody>
                  <a:tcPr marL="64008" marR="64008" marT="18288" marB="18288" anchor="ctr">
                    <a:solidFill>
                      <a:srgbClr val="FFFFFF"/>
                    </a:solidFill>
                  </a:tcPr>
                </a:tc>
                <a:tc>
                  <a:txBody>
                    <a:bodyPr/>
                    <a:lstStyle/>
                    <a:p>
                      <a:pPr algn="ctr"/>
                      <a:r>
                        <a:rPr sz="1150" b="0">
                          <a:solidFill>
                            <a:srgbClr val="242D38"/>
                          </a:solidFill>
                          <a:latin typeface="맑은 고딕"/>
                        </a:rPr>
                        <a:t>소형 SUV</a:t>
                      </a:r>
                    </a:p>
                  </a:txBody>
                  <a:tcPr marL="64008" marR="64008" marT="18288" marB="18288" anchor="ctr">
                    <a:solidFill>
                      <a:srgbClr val="FFFFFF"/>
                    </a:solidFill>
                  </a:tcPr>
                </a:tc>
                <a:tc>
                  <a:txBody>
                    <a:bodyPr/>
                    <a:lstStyle/>
                    <a:p>
                      <a:pPr algn="ctr"/>
                      <a:r>
                        <a:rPr sz="1150" b="0">
                          <a:solidFill>
                            <a:srgbClr val="242D38"/>
                          </a:solidFill>
                          <a:latin typeface="맑은 고딕"/>
                        </a:rPr>
                        <a:t>가솔린 1.35T</a:t>
                      </a:r>
                    </a:p>
                  </a:txBody>
                  <a:tcPr marL="64008" marR="64008" marT="18288" marB="18288" anchor="ctr">
                    <a:solidFill>
                      <a:srgbClr val="FFFFFF"/>
                    </a:solidFill>
                  </a:tcPr>
                </a:tc>
                <a:tc>
                  <a:txBody>
                    <a:bodyPr/>
                    <a:lstStyle/>
                    <a:p>
                      <a:pPr algn="ctr"/>
                      <a:r>
                        <a:rPr sz="1150" b="0">
                          <a:solidFill>
                            <a:srgbClr val="242D38"/>
                          </a:solidFill>
                          <a:latin typeface="맑은 고딕"/>
                        </a:rPr>
                        <a:t>2,796만</a:t>
                      </a:r>
                    </a:p>
                  </a:txBody>
                  <a:tcPr marL="64008" marR="64008" marT="18288" marB="18288" anchor="ctr">
                    <a:solidFill>
                      <a:srgbClr val="FFFFFF"/>
                    </a:solidFill>
                  </a:tcPr>
                </a:tc>
                <a:tc>
                  <a:txBody>
                    <a:bodyPr/>
                    <a:lstStyle/>
                    <a:p>
                      <a:pPr algn="ctr"/>
                      <a:r>
                        <a:rPr sz="1150" b="0">
                          <a:solidFill>
                            <a:srgbClr val="242D38"/>
                          </a:solidFill>
                          <a:latin typeface="맑은 고딕"/>
                        </a:rPr>
                        <a:t>12.9</a:t>
                      </a:r>
                    </a:p>
                  </a:txBody>
                  <a:tcPr marL="64008" marR="64008" marT="18288" marB="18288" anchor="ctr">
                    <a:solidFill>
                      <a:srgbClr val="FFFFFF"/>
                    </a:solidFill>
                  </a:tcPr>
                </a:tc>
                <a:tc>
                  <a:txBody>
                    <a:bodyPr/>
                    <a:lstStyle/>
                    <a:p>
                      <a:pPr algn="ctr"/>
                      <a:r>
                        <a:rPr sz="1150" b="0">
                          <a:solidFill>
                            <a:srgbClr val="242D38"/>
                          </a:solidFill>
                          <a:latin typeface="맑은 고딕"/>
                        </a:rPr>
                        <a:t>하이브리드 없음</a:t>
                      </a:r>
                    </a:p>
                  </a:txBody>
                  <a:tcPr marL="64008" marR="64008" marT="18288" marB="18288" anchor="ctr">
                    <a:solidFill>
                      <a:srgbClr val="FFFFFF"/>
                    </a:solidFill>
                  </a:tcPr>
                </a:tc>
              </a:tr>
              <a:tr h="420624">
                <a:tc>
                  <a:txBody>
                    <a:bodyPr/>
                    <a:lstStyle/>
                    <a:p>
                      <a:pPr algn="l"/>
                      <a:r>
                        <a:rPr sz="1150" b="0">
                          <a:solidFill>
                            <a:srgbClr val="242D38"/>
                          </a:solidFill>
                          <a:latin typeface="맑은 고딕"/>
                        </a:rPr>
                        <a:t>투싼</a:t>
                      </a:r>
                    </a:p>
                  </a:txBody>
                  <a:tcPr marL="64008" marR="64008" marT="18288" marB="18288" anchor="ctr">
                    <a:solidFill>
                      <a:srgbClr val="F2F5F8"/>
                    </a:solidFill>
                  </a:tcPr>
                </a:tc>
                <a:tc>
                  <a:txBody>
                    <a:bodyPr/>
                    <a:lstStyle/>
                    <a:p>
                      <a:pPr algn="ctr"/>
                      <a:r>
                        <a:rPr sz="1150" b="0">
                          <a:solidFill>
                            <a:srgbClr val="242D38"/>
                          </a:solidFill>
                          <a:latin typeface="맑은 고딕"/>
                        </a:rPr>
                        <a:t>현대</a:t>
                      </a:r>
                    </a:p>
                  </a:txBody>
                  <a:tcPr marL="64008" marR="64008" marT="18288" marB="18288" anchor="ctr">
                    <a:solidFill>
                      <a:srgbClr val="F2F5F8"/>
                    </a:solidFill>
                  </a:tcPr>
                </a:tc>
                <a:tc>
                  <a:txBody>
                    <a:bodyPr/>
                    <a:lstStyle/>
                    <a:p>
                      <a:pPr algn="ctr"/>
                      <a:r>
                        <a:rPr sz="1150" b="0">
                          <a:solidFill>
                            <a:srgbClr val="242D38"/>
                          </a:solidFill>
                          <a:latin typeface="맑은 고딕"/>
                        </a:rPr>
                        <a:t>준중형 SUV</a:t>
                      </a:r>
                    </a:p>
                  </a:txBody>
                  <a:tcPr marL="64008" marR="64008" marT="18288" marB="18288" anchor="ctr">
                    <a:solidFill>
                      <a:srgbClr val="F2F5F8"/>
                    </a:solidFill>
                  </a:tcPr>
                </a:tc>
                <a:tc>
                  <a:txBody>
                    <a:bodyPr/>
                    <a:lstStyle/>
                    <a:p>
                      <a:pPr algn="ctr"/>
                      <a:r>
                        <a:rPr sz="1150" b="0">
                          <a:solidFill>
                            <a:srgbClr val="242D38"/>
                          </a:solidFill>
                          <a:latin typeface="맑은 고딕"/>
                        </a:rPr>
                        <a:t>가솔린 1.6T / 1.6T HEV</a:t>
                      </a:r>
                    </a:p>
                  </a:txBody>
                  <a:tcPr marL="64008" marR="64008" marT="18288" marB="18288" anchor="ctr">
                    <a:solidFill>
                      <a:srgbClr val="F2F5F8"/>
                    </a:solidFill>
                  </a:tcPr>
                </a:tc>
                <a:tc>
                  <a:txBody>
                    <a:bodyPr/>
                    <a:lstStyle/>
                    <a:p>
                      <a:pPr algn="ctr"/>
                      <a:r>
                        <a:rPr sz="1150" b="0">
                          <a:solidFill>
                            <a:srgbClr val="242D38"/>
                          </a:solidFill>
                          <a:latin typeface="맑은 고딕"/>
                        </a:rPr>
                        <a:t>2,844만</a:t>
                      </a:r>
                    </a:p>
                  </a:txBody>
                  <a:tcPr marL="64008" marR="64008" marT="18288" marB="18288" anchor="ctr">
                    <a:solidFill>
                      <a:srgbClr val="F2F5F8"/>
                    </a:solidFill>
                  </a:tcPr>
                </a:tc>
                <a:tc>
                  <a:txBody>
                    <a:bodyPr/>
                    <a:lstStyle/>
                    <a:p>
                      <a:pPr algn="ctr"/>
                      <a:r>
                        <a:rPr sz="1150" b="0">
                          <a:solidFill>
                            <a:srgbClr val="242D38"/>
                          </a:solidFill>
                          <a:latin typeface="맑은 고딕"/>
                        </a:rPr>
                        <a:t>12.5 / 16.2</a:t>
                      </a:r>
                    </a:p>
                  </a:txBody>
                  <a:tcPr marL="64008" marR="64008" marT="18288" marB="18288" anchor="ctr">
                    <a:solidFill>
                      <a:srgbClr val="F2F5F8"/>
                    </a:solidFill>
                  </a:tcPr>
                </a:tc>
                <a:tc>
                  <a:txBody>
                    <a:bodyPr/>
                    <a:lstStyle/>
                    <a:p>
                      <a:pPr algn="ctr"/>
                      <a:r>
                        <a:rPr sz="1150" b="0">
                          <a:solidFill>
                            <a:srgbClr val="242D38"/>
                          </a:solidFill>
                          <a:latin typeface="맑은 고딕"/>
                        </a:rPr>
                        <a:t>2026년형 (25.8 출시)</a:t>
                      </a:r>
                    </a:p>
                  </a:txBody>
                  <a:tcPr marL="64008" marR="64008" marT="18288" marB="18288" anchor="ctr">
                    <a:solidFill>
                      <a:srgbClr val="F2F5F8"/>
                    </a:solidFill>
                  </a:tcPr>
                </a:tc>
              </a:tr>
              <a:tr h="420624">
                <a:tc>
                  <a:txBody>
                    <a:bodyPr/>
                    <a:lstStyle/>
                    <a:p>
                      <a:pPr algn="l"/>
                      <a:r>
                        <a:rPr sz="1150" b="0">
                          <a:solidFill>
                            <a:srgbClr val="242D38"/>
                          </a:solidFill>
                          <a:latin typeface="맑은 고딕"/>
                        </a:rPr>
                        <a:t>스포티지</a:t>
                      </a:r>
                    </a:p>
                  </a:txBody>
                  <a:tcPr marL="64008" marR="64008" marT="18288" marB="18288" anchor="ctr">
                    <a:solidFill>
                      <a:srgbClr val="FFFFFF"/>
                    </a:solidFill>
                  </a:tcPr>
                </a:tc>
                <a:tc>
                  <a:txBody>
                    <a:bodyPr/>
                    <a:lstStyle/>
                    <a:p>
                      <a:pPr algn="ctr"/>
                      <a:r>
                        <a:rPr sz="1150" b="0">
                          <a:solidFill>
                            <a:srgbClr val="242D38"/>
                          </a:solidFill>
                          <a:latin typeface="맑은 고딕"/>
                        </a:rPr>
                        <a:t>기아</a:t>
                      </a:r>
                    </a:p>
                  </a:txBody>
                  <a:tcPr marL="64008" marR="64008" marT="18288" marB="18288" anchor="ctr">
                    <a:solidFill>
                      <a:srgbClr val="FFFFFF"/>
                    </a:solidFill>
                  </a:tcPr>
                </a:tc>
                <a:tc>
                  <a:txBody>
                    <a:bodyPr/>
                    <a:lstStyle/>
                    <a:p>
                      <a:pPr algn="ctr"/>
                      <a:r>
                        <a:rPr sz="1150" b="0">
                          <a:solidFill>
                            <a:srgbClr val="242D38"/>
                          </a:solidFill>
                          <a:latin typeface="맑은 고딕"/>
                        </a:rPr>
                        <a:t>준중형 SUV</a:t>
                      </a:r>
                    </a:p>
                  </a:txBody>
                  <a:tcPr marL="64008" marR="64008" marT="18288" marB="18288" anchor="ctr">
                    <a:solidFill>
                      <a:srgbClr val="FFFFFF"/>
                    </a:solidFill>
                  </a:tcPr>
                </a:tc>
                <a:tc>
                  <a:txBody>
                    <a:bodyPr/>
                    <a:lstStyle/>
                    <a:p>
                      <a:pPr algn="ctr"/>
                      <a:r>
                        <a:rPr sz="1150" b="0">
                          <a:solidFill>
                            <a:srgbClr val="242D38"/>
                          </a:solidFill>
                          <a:latin typeface="맑은 고딕"/>
                        </a:rPr>
                        <a:t>가솔린 1.6T / LPG / 1.6T HEV</a:t>
                      </a:r>
                    </a:p>
                  </a:txBody>
                  <a:tcPr marL="64008" marR="64008" marT="18288" marB="18288" anchor="ctr">
                    <a:solidFill>
                      <a:srgbClr val="FFFFFF"/>
                    </a:solidFill>
                  </a:tcPr>
                </a:tc>
                <a:tc>
                  <a:txBody>
                    <a:bodyPr/>
                    <a:lstStyle/>
                    <a:p>
                      <a:pPr algn="ctr"/>
                      <a:r>
                        <a:rPr sz="1150" b="0">
                          <a:solidFill>
                            <a:srgbClr val="242D38"/>
                          </a:solidFill>
                          <a:latin typeface="맑은 고딕"/>
                        </a:rPr>
                        <a:t>2,944만</a:t>
                      </a:r>
                    </a:p>
                  </a:txBody>
                  <a:tcPr marL="64008" marR="64008" marT="18288" marB="18288" anchor="ctr">
                    <a:solidFill>
                      <a:srgbClr val="FFFFFF"/>
                    </a:solidFill>
                  </a:tcPr>
                </a:tc>
                <a:tc>
                  <a:txBody>
                    <a:bodyPr/>
                    <a:lstStyle/>
                    <a:p>
                      <a:pPr algn="ctr"/>
                      <a:r>
                        <a:rPr sz="1150" b="0">
                          <a:solidFill>
                            <a:srgbClr val="242D38"/>
                          </a:solidFill>
                          <a:latin typeface="맑은 고딕"/>
                        </a:rPr>
                        <a:t>12.3 / 16.3</a:t>
                      </a:r>
                    </a:p>
                  </a:txBody>
                  <a:tcPr marL="64008" marR="64008" marT="18288" marB="18288" anchor="ctr">
                    <a:solidFill>
                      <a:srgbClr val="FFFFFF"/>
                    </a:solidFill>
                  </a:tcPr>
                </a:tc>
                <a:tc>
                  <a:txBody>
                    <a:bodyPr/>
                    <a:lstStyle/>
                    <a:p>
                      <a:pPr algn="ctr"/>
                      <a:r>
                        <a:rPr sz="1150" b="0">
                          <a:solidFill>
                            <a:srgbClr val="242D38"/>
                          </a:solidFill>
                          <a:latin typeface="맑은 고딕"/>
                        </a:rPr>
                        <a:t>2027년형 · 가격 인상</a:t>
                      </a:r>
                    </a:p>
                  </a:txBody>
                  <a:tcPr marL="64008" marR="64008" marT="18288" marB="18288" anchor="ctr">
                    <a:solidFill>
                      <a:srgbClr val="FFFFFF"/>
                    </a:solidFill>
                  </a:tcPr>
                </a:tc>
              </a:tr>
            </a:tbl>
          </a:graphicData>
        </a:graphic>
      </p:graphicFrame>
      <p:sp>
        <p:nvSpPr>
          <p:cNvPr id="8" name="Rectangle 7"/>
          <p:cNvSpPr/>
          <p:nvPr/>
        </p:nvSpPr>
        <p:spPr>
          <a:xfrm>
            <a:off x="713232" y="4617720"/>
            <a:ext cx="10762488" cy="14173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13232" y="4617720"/>
            <a:ext cx="45720" cy="1417320"/>
          </a:xfrm>
          <a:prstGeom prst="rect">
            <a:avLst/>
          </a:prstGeom>
          <a:solidFill>
            <a:srgbClr val="E26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60120" y="4800600"/>
            <a:ext cx="10241280" cy="320040"/>
          </a:xfrm>
          <a:prstGeom prst="rect">
            <a:avLst/>
          </a:prstGeom>
          <a:noFill/>
        </p:spPr>
        <p:txBody>
          <a:bodyPr wrap="square" anchor="t" lIns="0" rIns="0" tIns="0" bIns="0">
            <a:spAutoFit/>
          </a:bodyPr>
          <a:lstStyle/>
          <a:p>
            <a:pPr algn="l">
              <a:lnSpc>
                <a:spcPct val="115000"/>
              </a:lnSpc>
              <a:spcAft>
                <a:spcPts val="400"/>
              </a:spcAft>
            </a:pPr>
            <a:r>
              <a:rPr sz="1300" b="1">
                <a:solidFill>
                  <a:srgbClr val="E26D28"/>
                </a:solidFill>
                <a:latin typeface="맑은 고딕"/>
              </a:rPr>
              <a:t>먼저 알아둘 점</a:t>
            </a:r>
          </a:p>
        </p:txBody>
      </p:sp>
      <p:sp>
        <p:nvSpPr>
          <p:cNvPr id="11" name="TextBox 10"/>
          <p:cNvSpPr txBox="1"/>
          <p:nvPr/>
        </p:nvSpPr>
        <p:spPr>
          <a:xfrm>
            <a:off x="960120" y="5175504"/>
            <a:ext cx="10241280" cy="822960"/>
          </a:xfrm>
          <a:prstGeom prst="rect">
            <a:avLst/>
          </a:prstGeom>
          <a:noFill/>
        </p:spPr>
        <p:txBody>
          <a:bodyPr wrap="square" anchor="t" lIns="0" rIns="0" tIns="0" bIns="0">
            <a:spAutoFit/>
          </a:bodyPr>
          <a:lstStyle/>
          <a:p>
            <a:pPr algn="l">
              <a:lnSpc>
                <a:spcPct val="150000"/>
              </a:lnSpc>
              <a:spcAft>
                <a:spcPts val="400"/>
              </a:spcAft>
            </a:pPr>
            <a:r>
              <a:rPr sz="1250" b="0">
                <a:solidFill>
                  <a:srgbClr val="242D38"/>
                </a:solidFill>
                <a:latin typeface="맑은 고딕"/>
              </a:rPr>
              <a:t>· 소형(코나·셀토스·트레일블레이저)은 예산 안에서 최상위 트림 + 옵션까지 가능하다.</a:t>
            </a:r>
          </a:p>
          <a:p>
            <a:pPr algn="l">
              <a:lnSpc>
                <a:spcPct val="150000"/>
              </a:lnSpc>
              <a:spcAft>
                <a:spcPts val="400"/>
              </a:spcAft>
            </a:pPr>
            <a:r>
              <a:rPr sz="1250" b="0">
                <a:solidFill>
                  <a:srgbClr val="242D38"/>
                </a:solidFill>
                <a:latin typeface="맑은 고딕"/>
              </a:rPr>
              <a:t>· 준중형(투싼·스포티지)은 예산 안에서 중간 트림까지만 가능하고, 하이브리드는 사실상 어렵다.</a:t>
            </a:r>
          </a:p>
          <a:p>
            <a:pPr algn="l">
              <a:lnSpc>
                <a:spcPct val="150000"/>
              </a:lnSpc>
              <a:spcAft>
                <a:spcPts val="400"/>
              </a:spcAft>
            </a:pPr>
            <a:r>
              <a:rPr sz="1250" b="0">
                <a:solidFill>
                  <a:srgbClr val="242D38"/>
                </a:solidFill>
                <a:latin typeface="맑은 고딕"/>
              </a:rPr>
              <a:t>· 스포티지는 2027년형으로 넘어오며 가격이 올라 하이브리드 최저 트림도 예산을 넘긴다.</a:t>
            </a:r>
          </a:p>
        </p:txBody>
      </p:sp>
      <p:sp>
        <p:nvSpPr>
          <p:cNvPr id="12" name="TextBox 11"/>
          <p:cNvSpPr txBox="1"/>
          <p:nvPr/>
        </p:nvSpPr>
        <p:spPr>
          <a:xfrm>
            <a:off x="713232" y="6327648"/>
            <a:ext cx="10881360" cy="365760"/>
          </a:xfrm>
          <a:prstGeom prst="rect">
            <a:avLst/>
          </a:prstGeom>
          <a:noFill/>
        </p:spPr>
        <p:txBody>
          <a:bodyPr wrap="square" anchor="t" lIns="0" rIns="0" tIns="0" bIns="0">
            <a:spAutoFit/>
          </a:bodyPr>
          <a:lstStyle/>
          <a:p>
            <a:pPr algn="l">
              <a:lnSpc>
                <a:spcPct val="120000"/>
              </a:lnSpc>
              <a:spcAft>
                <a:spcPts val="400"/>
              </a:spcAft>
            </a:pPr>
            <a:r>
              <a:rPr sz="950" b="0">
                <a:solidFill>
                  <a:srgbClr val="6E7884"/>
                </a:solidFill>
                <a:latin typeface="맑은 고딕"/>
              </a:rPr>
              <a:t>연비는 복합연비(km/ℓ), 각 파워트레인의 최저 인치 휠 기준. 시작가는 세제혜택 후·2WD 기준.</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02920" y="274320"/>
            <a:ext cx="50292" cy="384048"/>
          </a:xfrm>
          <a:prstGeom prst="rect">
            <a:avLst/>
          </a:prstGeom>
          <a:solidFill>
            <a:srgbClr val="E26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13232" y="219456"/>
            <a:ext cx="8778240" cy="457200"/>
          </a:xfrm>
          <a:prstGeom prst="rect">
            <a:avLst/>
          </a:prstGeom>
          <a:noFill/>
        </p:spPr>
        <p:txBody>
          <a:bodyPr wrap="square" anchor="t" lIns="0" rIns="0" tIns="0" bIns="0">
            <a:spAutoFit/>
          </a:bodyPr>
          <a:lstStyle/>
          <a:p>
            <a:pPr algn="l">
              <a:lnSpc>
                <a:spcPct val="115000"/>
              </a:lnSpc>
              <a:spcAft>
                <a:spcPts val="400"/>
              </a:spcAft>
            </a:pPr>
            <a:r>
              <a:rPr sz="2300" b="1">
                <a:solidFill>
                  <a:srgbClr val="FFFFFF"/>
                </a:solidFill>
                <a:latin typeface="맑은 고딕"/>
              </a:rPr>
              <a:t>예산 내 구매 가능 트림 — 가솔린</a:t>
            </a:r>
          </a:p>
        </p:txBody>
      </p:sp>
      <p:sp>
        <p:nvSpPr>
          <p:cNvPr id="5" name="TextBox 4"/>
          <p:cNvSpPr txBox="1"/>
          <p:nvPr/>
        </p:nvSpPr>
        <p:spPr>
          <a:xfrm>
            <a:off x="9509760" y="329184"/>
            <a:ext cx="2194560" cy="365760"/>
          </a:xfrm>
          <a:prstGeom prst="rect">
            <a:avLst/>
          </a:prstGeom>
          <a:noFill/>
        </p:spPr>
        <p:txBody>
          <a:bodyPr wrap="square" anchor="t" lIns="0" rIns="0" tIns="0" bIns="0">
            <a:spAutoFit/>
          </a:bodyPr>
          <a:lstStyle/>
          <a:p>
            <a:pPr algn="r">
              <a:lnSpc>
                <a:spcPct val="115000"/>
              </a:lnSpc>
              <a:spcAft>
                <a:spcPts val="400"/>
              </a:spcAft>
            </a:pPr>
            <a:r>
              <a:rPr sz="1100" b="0">
                <a:solidFill>
                  <a:srgbClr val="A9BED2"/>
                </a:solidFill>
                <a:latin typeface="맑은 고딕"/>
              </a:rPr>
              <a:t>03 / 가솔린</a:t>
            </a:r>
          </a:p>
        </p:txBody>
      </p:sp>
      <p:sp>
        <p:nvSpPr>
          <p:cNvPr id="6" name="TextBox 5"/>
          <p:cNvSpPr txBox="1"/>
          <p:nvPr/>
        </p:nvSpPr>
        <p:spPr>
          <a:xfrm>
            <a:off x="713232" y="1060704"/>
            <a:ext cx="10881360" cy="310896"/>
          </a:xfrm>
          <a:prstGeom prst="rect">
            <a:avLst/>
          </a:prstGeom>
          <a:noFill/>
        </p:spPr>
        <p:txBody>
          <a:bodyPr wrap="square" anchor="t" lIns="0" rIns="0" tIns="0" bIns="0">
            <a:spAutoFit/>
          </a:bodyPr>
          <a:lstStyle/>
          <a:p>
            <a:pPr algn="l">
              <a:lnSpc>
                <a:spcPct val="115000"/>
              </a:lnSpc>
              <a:spcAft>
                <a:spcPts val="400"/>
              </a:spcAft>
            </a:pPr>
            <a:r>
              <a:rPr sz="1250" b="0">
                <a:solidFill>
                  <a:srgbClr val="6E7884"/>
                </a:solidFill>
                <a:latin typeface="맑은 고딕"/>
              </a:rPr>
              <a:t>옵션 미포함, 차량 기본가 기준. 초록 = 예산 내, 빨강 = 초과.</a:t>
            </a:r>
          </a:p>
        </p:txBody>
      </p:sp>
      <p:graphicFrame>
        <p:nvGraphicFramePr>
          <p:cNvPr id="7" name="Table 6"/>
          <p:cNvGraphicFramePr>
            <a:graphicFrameLocks noGrp="1"/>
          </p:cNvGraphicFramePr>
          <p:nvPr/>
        </p:nvGraphicFramePr>
        <p:xfrm>
          <a:off x="713232" y="1627632"/>
          <a:ext cx="10762485" cy="4041648"/>
        </p:xfrm>
        <a:graphic>
          <a:graphicData uri="http://schemas.openxmlformats.org/drawingml/2006/table">
            <a:tbl>
              <a:tblPr firstRow="1">
                <a:tableStyleId>{5C22544A-7EE6-4342-B048-85BDC9FD1C3A}</a:tableStyleId>
              </a:tblPr>
              <a:tblGrid>
                <a:gridCol w="1694095"/>
                <a:gridCol w="2590969"/>
                <a:gridCol w="1295484"/>
                <a:gridCol w="1694095"/>
                <a:gridCol w="1295484"/>
                <a:gridCol w="896874"/>
                <a:gridCol w="1295484"/>
              </a:tblGrid>
              <a:tr h="365760">
                <a:tc>
                  <a:txBody>
                    <a:bodyPr/>
                    <a:lstStyle/>
                    <a:p>
                      <a:pPr algn="l"/>
                      <a:r>
                        <a:rPr sz="1150" b="1">
                          <a:solidFill>
                            <a:srgbClr val="FFFFFF"/>
                          </a:solidFill>
                          <a:latin typeface="맑은 고딕"/>
                        </a:rPr>
                        <a:t>차종</a:t>
                      </a:r>
                    </a:p>
                  </a:txBody>
                  <a:tcPr marL="64008" marR="64008" marT="18288" marB="18288" anchor="ctr">
                    <a:solidFill>
                      <a:srgbClr val="102A43"/>
                    </a:solidFill>
                  </a:tcPr>
                </a:tc>
                <a:tc>
                  <a:txBody>
                    <a:bodyPr/>
                    <a:lstStyle/>
                    <a:p>
                      <a:pPr algn="ctr"/>
                      <a:r>
                        <a:rPr sz="1150" b="1">
                          <a:solidFill>
                            <a:srgbClr val="FFFFFF"/>
                          </a:solidFill>
                          <a:latin typeface="맑은 고딕"/>
                        </a:rPr>
                        <a:t>트림</a:t>
                      </a:r>
                    </a:p>
                  </a:txBody>
                  <a:tcPr marL="64008" marR="64008" marT="18288" marB="18288" anchor="ctr">
                    <a:solidFill>
                      <a:srgbClr val="102A43"/>
                    </a:solidFill>
                  </a:tcPr>
                </a:tc>
                <a:tc>
                  <a:txBody>
                    <a:bodyPr/>
                    <a:lstStyle/>
                    <a:p>
                      <a:pPr algn="ctr"/>
                      <a:r>
                        <a:rPr sz="1150" b="1">
                          <a:solidFill>
                            <a:srgbClr val="FFFFFF"/>
                          </a:solidFill>
                          <a:latin typeface="맑은 고딕"/>
                        </a:rPr>
                        <a:t>차량가</a:t>
                      </a:r>
                    </a:p>
                  </a:txBody>
                  <a:tcPr marL="64008" marR="64008" marT="18288" marB="18288" anchor="ctr">
                    <a:solidFill>
                      <a:srgbClr val="102A43"/>
                    </a:solidFill>
                  </a:tcPr>
                </a:tc>
                <a:tc>
                  <a:txBody>
                    <a:bodyPr/>
                    <a:lstStyle/>
                    <a:p>
                      <a:pPr algn="ctr"/>
                      <a:r>
                        <a:rPr sz="1150" b="1">
                          <a:solidFill>
                            <a:srgbClr val="FFFFFF"/>
                          </a:solidFill>
                          <a:latin typeface="맑은 고딕"/>
                        </a:rPr>
                        <a:t>취득세+등록비</a:t>
                      </a:r>
                    </a:p>
                  </a:txBody>
                  <a:tcPr marL="64008" marR="64008" marT="18288" marB="18288" anchor="ctr">
                    <a:solidFill>
                      <a:srgbClr val="102A43"/>
                    </a:solidFill>
                  </a:tcPr>
                </a:tc>
                <a:tc>
                  <a:txBody>
                    <a:bodyPr/>
                    <a:lstStyle/>
                    <a:p>
                      <a:pPr algn="ctr"/>
                      <a:r>
                        <a:rPr sz="1150" b="1">
                          <a:solidFill>
                            <a:srgbClr val="FFFFFF"/>
                          </a:solidFill>
                          <a:latin typeface="맑은 고딕"/>
                        </a:rPr>
                        <a:t>실구매가</a:t>
                      </a:r>
                    </a:p>
                  </a:txBody>
                  <a:tcPr marL="64008" marR="64008" marT="18288" marB="18288" anchor="ctr">
                    <a:solidFill>
                      <a:srgbClr val="102A43"/>
                    </a:solidFill>
                  </a:tcPr>
                </a:tc>
                <a:tc>
                  <a:txBody>
                    <a:bodyPr/>
                    <a:lstStyle/>
                    <a:p>
                      <a:pPr algn="ctr"/>
                      <a:r>
                        <a:rPr sz="1150" b="1">
                          <a:solidFill>
                            <a:srgbClr val="FFFFFF"/>
                          </a:solidFill>
                          <a:latin typeface="맑은 고딕"/>
                        </a:rPr>
                        <a:t>판정</a:t>
                      </a:r>
                    </a:p>
                  </a:txBody>
                  <a:tcPr marL="64008" marR="64008" marT="18288" marB="18288" anchor="ctr">
                    <a:solidFill>
                      <a:srgbClr val="102A43"/>
                    </a:solidFill>
                  </a:tcPr>
                </a:tc>
                <a:tc>
                  <a:txBody>
                    <a:bodyPr/>
                    <a:lstStyle/>
                    <a:p>
                      <a:pPr algn="ctr"/>
                      <a:r>
                        <a:rPr sz="1150" b="1">
                          <a:solidFill>
                            <a:srgbClr val="FFFFFF"/>
                          </a:solidFill>
                          <a:latin typeface="맑은 고딕"/>
                        </a:rPr>
                        <a:t>남는 예산</a:t>
                      </a:r>
                    </a:p>
                  </a:txBody>
                  <a:tcPr marL="64008" marR="64008" marT="18288" marB="18288" anchor="ctr">
                    <a:solidFill>
                      <a:srgbClr val="102A43"/>
                    </a:solidFill>
                  </a:tcPr>
                </a:tc>
              </a:tr>
              <a:tr h="306324">
                <a:tc>
                  <a:txBody>
                    <a:bodyPr/>
                    <a:lstStyle/>
                    <a:p>
                      <a:pPr algn="l"/>
                      <a:r>
                        <a:rPr sz="1150" b="0">
                          <a:solidFill>
                            <a:srgbClr val="242D38"/>
                          </a:solidFill>
                          <a:latin typeface="맑은 고딕"/>
                        </a:rPr>
                        <a:t>코나</a:t>
                      </a:r>
                    </a:p>
                  </a:txBody>
                  <a:tcPr marL="64008" marR="64008" marT="18288" marB="18288" anchor="ctr">
                    <a:solidFill>
                      <a:srgbClr val="E9F4EE"/>
                    </a:solidFill>
                  </a:tcPr>
                </a:tc>
                <a:tc>
                  <a:txBody>
                    <a:bodyPr/>
                    <a:lstStyle/>
                    <a:p>
                      <a:pPr algn="ctr"/>
                      <a:r>
                        <a:rPr sz="1150" b="0">
                          <a:solidFill>
                            <a:srgbClr val="242D38"/>
                          </a:solidFill>
                          <a:latin typeface="맑은 고딕"/>
                        </a:rPr>
                        <a:t>인스퍼레이션 (최상위급)</a:t>
                      </a:r>
                    </a:p>
                  </a:txBody>
                  <a:tcPr marL="64008" marR="64008" marT="18288" marB="18288" anchor="ctr">
                    <a:solidFill>
                      <a:srgbClr val="E9F4EE"/>
                    </a:solidFill>
                  </a:tcPr>
                </a:tc>
                <a:tc>
                  <a:txBody>
                    <a:bodyPr/>
                    <a:lstStyle/>
                    <a:p>
                      <a:pPr algn="ctr"/>
                      <a:r>
                        <a:rPr sz="1150" b="0">
                          <a:solidFill>
                            <a:srgbClr val="242D38"/>
                          </a:solidFill>
                          <a:latin typeface="맑은 고딕"/>
                        </a:rPr>
                        <a:t>3,146만</a:t>
                      </a:r>
                    </a:p>
                  </a:txBody>
                  <a:tcPr marL="64008" marR="64008" marT="18288" marB="18288" anchor="ctr">
                    <a:solidFill>
                      <a:srgbClr val="E9F4EE"/>
                    </a:solidFill>
                  </a:tcPr>
                </a:tc>
                <a:tc>
                  <a:txBody>
                    <a:bodyPr/>
                    <a:lstStyle/>
                    <a:p>
                      <a:pPr algn="ctr"/>
                      <a:r>
                        <a:rPr sz="1150" b="0">
                          <a:solidFill>
                            <a:srgbClr val="242D38"/>
                          </a:solidFill>
                          <a:latin typeface="맑은 고딕"/>
                        </a:rPr>
                        <a:t>230만</a:t>
                      </a:r>
                    </a:p>
                  </a:txBody>
                  <a:tcPr marL="64008" marR="64008" marT="18288" marB="18288" anchor="ctr">
                    <a:solidFill>
                      <a:srgbClr val="E9F4EE"/>
                    </a:solidFill>
                  </a:tcPr>
                </a:tc>
                <a:tc>
                  <a:txBody>
                    <a:bodyPr/>
                    <a:lstStyle/>
                    <a:p>
                      <a:pPr algn="ctr"/>
                      <a:r>
                        <a:rPr sz="1150" b="0">
                          <a:solidFill>
                            <a:srgbClr val="242D38"/>
                          </a:solidFill>
                          <a:latin typeface="맑은 고딕"/>
                        </a:rPr>
                        <a:t>3,376만</a:t>
                      </a:r>
                    </a:p>
                  </a:txBody>
                  <a:tcPr marL="64008" marR="64008" marT="18288" marB="18288" anchor="ctr">
                    <a:solidFill>
                      <a:srgbClr val="E9F4EE"/>
                    </a:solidFill>
                  </a:tcPr>
                </a:tc>
                <a:tc>
                  <a:txBody>
                    <a:bodyPr/>
                    <a:lstStyle/>
                    <a:p>
                      <a:pPr algn="ctr"/>
                      <a:r>
                        <a:rPr sz="1150" b="0">
                          <a:solidFill>
                            <a:srgbClr val="242D38"/>
                          </a:solidFill>
                          <a:latin typeface="맑은 고딕"/>
                        </a:rPr>
                        <a:t>가능</a:t>
                      </a:r>
                    </a:p>
                  </a:txBody>
                  <a:tcPr marL="64008" marR="64008" marT="18288" marB="18288" anchor="ctr">
                    <a:solidFill>
                      <a:srgbClr val="E9F4EE"/>
                    </a:solidFill>
                  </a:tcPr>
                </a:tc>
                <a:tc>
                  <a:txBody>
                    <a:bodyPr/>
                    <a:lstStyle/>
                    <a:p>
                      <a:pPr algn="ctr"/>
                      <a:r>
                        <a:rPr sz="1150" b="0">
                          <a:solidFill>
                            <a:srgbClr val="242D38"/>
                          </a:solidFill>
                          <a:latin typeface="맑은 고딕"/>
                        </a:rPr>
                        <a:t>324만</a:t>
                      </a:r>
                    </a:p>
                  </a:txBody>
                  <a:tcPr marL="64008" marR="64008" marT="18288" marB="18288" anchor="ctr">
                    <a:solidFill>
                      <a:srgbClr val="E9F4EE"/>
                    </a:solidFill>
                  </a:tcPr>
                </a:tc>
              </a:tr>
              <a:tr h="306324">
                <a:tc>
                  <a:txBody>
                    <a:bodyPr/>
                    <a:lstStyle/>
                    <a:p>
                      <a:pPr algn="l"/>
                      <a:r>
                        <a:rPr sz="1150" b="0">
                          <a:solidFill>
                            <a:srgbClr val="242D38"/>
                          </a:solidFill>
                          <a:latin typeface="맑은 고딕"/>
                        </a:rPr>
                        <a:t>코나</a:t>
                      </a:r>
                    </a:p>
                  </a:txBody>
                  <a:tcPr marL="64008" marR="64008" marT="18288" marB="18288" anchor="ctr">
                    <a:solidFill>
                      <a:srgbClr val="E9F4EE"/>
                    </a:solidFill>
                  </a:tcPr>
                </a:tc>
                <a:tc>
                  <a:txBody>
                    <a:bodyPr/>
                    <a:lstStyle/>
                    <a:p>
                      <a:pPr algn="ctr"/>
                      <a:r>
                        <a:rPr sz="1150" b="0">
                          <a:solidFill>
                            <a:srgbClr val="242D38"/>
                          </a:solidFill>
                          <a:latin typeface="맑은 고딕"/>
                        </a:rPr>
                        <a:t>N Line (최상위)</a:t>
                      </a:r>
                    </a:p>
                  </a:txBody>
                  <a:tcPr marL="64008" marR="64008" marT="18288" marB="18288" anchor="ctr">
                    <a:solidFill>
                      <a:srgbClr val="E9F4EE"/>
                    </a:solidFill>
                  </a:tcPr>
                </a:tc>
                <a:tc>
                  <a:txBody>
                    <a:bodyPr/>
                    <a:lstStyle/>
                    <a:p>
                      <a:pPr algn="ctr"/>
                      <a:r>
                        <a:rPr sz="1150" b="0">
                          <a:solidFill>
                            <a:srgbClr val="242D38"/>
                          </a:solidFill>
                          <a:latin typeface="맑은 고딕"/>
                        </a:rPr>
                        <a:t>3,245만</a:t>
                      </a:r>
                    </a:p>
                  </a:txBody>
                  <a:tcPr marL="64008" marR="64008" marT="18288" marB="18288" anchor="ctr">
                    <a:solidFill>
                      <a:srgbClr val="E9F4EE"/>
                    </a:solidFill>
                  </a:tcPr>
                </a:tc>
                <a:tc>
                  <a:txBody>
                    <a:bodyPr/>
                    <a:lstStyle/>
                    <a:p>
                      <a:pPr algn="ctr"/>
                      <a:r>
                        <a:rPr sz="1150" b="0">
                          <a:solidFill>
                            <a:srgbClr val="242D38"/>
                          </a:solidFill>
                          <a:latin typeface="맑은 고딕"/>
                        </a:rPr>
                        <a:t>236만</a:t>
                      </a:r>
                    </a:p>
                  </a:txBody>
                  <a:tcPr marL="64008" marR="64008" marT="18288" marB="18288" anchor="ctr">
                    <a:solidFill>
                      <a:srgbClr val="E9F4EE"/>
                    </a:solidFill>
                  </a:tcPr>
                </a:tc>
                <a:tc>
                  <a:txBody>
                    <a:bodyPr/>
                    <a:lstStyle/>
                    <a:p>
                      <a:pPr algn="ctr"/>
                      <a:r>
                        <a:rPr sz="1150" b="0">
                          <a:solidFill>
                            <a:srgbClr val="242D38"/>
                          </a:solidFill>
                          <a:latin typeface="맑은 고딕"/>
                        </a:rPr>
                        <a:t>3,482만</a:t>
                      </a:r>
                    </a:p>
                  </a:txBody>
                  <a:tcPr marL="64008" marR="64008" marT="18288" marB="18288" anchor="ctr">
                    <a:solidFill>
                      <a:srgbClr val="E9F4EE"/>
                    </a:solidFill>
                  </a:tcPr>
                </a:tc>
                <a:tc>
                  <a:txBody>
                    <a:bodyPr/>
                    <a:lstStyle/>
                    <a:p>
                      <a:pPr algn="ctr"/>
                      <a:r>
                        <a:rPr sz="1150" b="0">
                          <a:solidFill>
                            <a:srgbClr val="242D38"/>
                          </a:solidFill>
                          <a:latin typeface="맑은 고딕"/>
                        </a:rPr>
                        <a:t>가능</a:t>
                      </a:r>
                    </a:p>
                  </a:txBody>
                  <a:tcPr marL="64008" marR="64008" marT="18288" marB="18288" anchor="ctr">
                    <a:solidFill>
                      <a:srgbClr val="E9F4EE"/>
                    </a:solidFill>
                  </a:tcPr>
                </a:tc>
                <a:tc>
                  <a:txBody>
                    <a:bodyPr/>
                    <a:lstStyle/>
                    <a:p>
                      <a:pPr algn="ctr"/>
                      <a:r>
                        <a:rPr sz="1150" b="0">
                          <a:solidFill>
                            <a:srgbClr val="242D38"/>
                          </a:solidFill>
                          <a:latin typeface="맑은 고딕"/>
                        </a:rPr>
                        <a:t>218만</a:t>
                      </a:r>
                    </a:p>
                  </a:txBody>
                  <a:tcPr marL="64008" marR="64008" marT="18288" marB="18288" anchor="ctr">
                    <a:solidFill>
                      <a:srgbClr val="E9F4EE"/>
                    </a:solidFill>
                  </a:tcPr>
                </a:tc>
              </a:tr>
              <a:tr h="306324">
                <a:tc>
                  <a:txBody>
                    <a:bodyPr/>
                    <a:lstStyle/>
                    <a:p>
                      <a:pPr algn="l"/>
                      <a:r>
                        <a:rPr sz="1150" b="0">
                          <a:solidFill>
                            <a:srgbClr val="242D38"/>
                          </a:solidFill>
                          <a:latin typeface="맑은 고딕"/>
                        </a:rPr>
                        <a:t>셀토스</a:t>
                      </a:r>
                    </a:p>
                  </a:txBody>
                  <a:tcPr marL="64008" marR="64008" marT="18288" marB="18288" anchor="ctr">
                    <a:solidFill>
                      <a:srgbClr val="E9F4EE"/>
                    </a:solidFill>
                  </a:tcPr>
                </a:tc>
                <a:tc>
                  <a:txBody>
                    <a:bodyPr/>
                    <a:lstStyle/>
                    <a:p>
                      <a:pPr algn="ctr"/>
                      <a:r>
                        <a:rPr sz="1150" b="0">
                          <a:solidFill>
                            <a:srgbClr val="242D38"/>
                          </a:solidFill>
                          <a:latin typeface="맑은 고딕"/>
                        </a:rPr>
                        <a:t>시그니처</a:t>
                      </a:r>
                    </a:p>
                  </a:txBody>
                  <a:tcPr marL="64008" marR="64008" marT="18288" marB="18288" anchor="ctr">
                    <a:solidFill>
                      <a:srgbClr val="E9F4EE"/>
                    </a:solidFill>
                  </a:tcPr>
                </a:tc>
                <a:tc>
                  <a:txBody>
                    <a:bodyPr/>
                    <a:lstStyle/>
                    <a:p>
                      <a:pPr algn="ctr"/>
                      <a:r>
                        <a:rPr sz="1150" b="0">
                          <a:solidFill>
                            <a:srgbClr val="242D38"/>
                          </a:solidFill>
                          <a:latin typeface="맑은 고딕"/>
                        </a:rPr>
                        <a:t>3,145만</a:t>
                      </a:r>
                    </a:p>
                  </a:txBody>
                  <a:tcPr marL="64008" marR="64008" marT="18288" marB="18288" anchor="ctr">
                    <a:solidFill>
                      <a:srgbClr val="E9F4EE"/>
                    </a:solidFill>
                  </a:tcPr>
                </a:tc>
                <a:tc>
                  <a:txBody>
                    <a:bodyPr/>
                    <a:lstStyle/>
                    <a:p>
                      <a:pPr algn="ctr"/>
                      <a:r>
                        <a:rPr sz="1150" b="0">
                          <a:solidFill>
                            <a:srgbClr val="242D38"/>
                          </a:solidFill>
                          <a:latin typeface="맑은 고딕"/>
                        </a:rPr>
                        <a:t>230만</a:t>
                      </a:r>
                    </a:p>
                  </a:txBody>
                  <a:tcPr marL="64008" marR="64008" marT="18288" marB="18288" anchor="ctr">
                    <a:solidFill>
                      <a:srgbClr val="E9F4EE"/>
                    </a:solidFill>
                  </a:tcPr>
                </a:tc>
                <a:tc>
                  <a:txBody>
                    <a:bodyPr/>
                    <a:lstStyle/>
                    <a:p>
                      <a:pPr algn="ctr"/>
                      <a:r>
                        <a:rPr sz="1150" b="0">
                          <a:solidFill>
                            <a:srgbClr val="242D38"/>
                          </a:solidFill>
                          <a:latin typeface="맑은 고딕"/>
                        </a:rPr>
                        <a:t>3,375만</a:t>
                      </a:r>
                    </a:p>
                  </a:txBody>
                  <a:tcPr marL="64008" marR="64008" marT="18288" marB="18288" anchor="ctr">
                    <a:solidFill>
                      <a:srgbClr val="E9F4EE"/>
                    </a:solidFill>
                  </a:tcPr>
                </a:tc>
                <a:tc>
                  <a:txBody>
                    <a:bodyPr/>
                    <a:lstStyle/>
                    <a:p>
                      <a:pPr algn="ctr"/>
                      <a:r>
                        <a:rPr sz="1150" b="0">
                          <a:solidFill>
                            <a:srgbClr val="242D38"/>
                          </a:solidFill>
                          <a:latin typeface="맑은 고딕"/>
                        </a:rPr>
                        <a:t>가능</a:t>
                      </a:r>
                    </a:p>
                  </a:txBody>
                  <a:tcPr marL="64008" marR="64008" marT="18288" marB="18288" anchor="ctr">
                    <a:solidFill>
                      <a:srgbClr val="E9F4EE"/>
                    </a:solidFill>
                  </a:tcPr>
                </a:tc>
                <a:tc>
                  <a:txBody>
                    <a:bodyPr/>
                    <a:lstStyle/>
                    <a:p>
                      <a:pPr algn="ctr"/>
                      <a:r>
                        <a:rPr sz="1150" b="0">
                          <a:solidFill>
                            <a:srgbClr val="242D38"/>
                          </a:solidFill>
                          <a:latin typeface="맑은 고딕"/>
                        </a:rPr>
                        <a:t>325만</a:t>
                      </a:r>
                    </a:p>
                  </a:txBody>
                  <a:tcPr marL="64008" marR="64008" marT="18288" marB="18288" anchor="ctr">
                    <a:solidFill>
                      <a:srgbClr val="E9F4EE"/>
                    </a:solidFill>
                  </a:tcPr>
                </a:tc>
              </a:tr>
              <a:tr h="306324">
                <a:tc>
                  <a:txBody>
                    <a:bodyPr/>
                    <a:lstStyle/>
                    <a:p>
                      <a:pPr algn="l"/>
                      <a:r>
                        <a:rPr sz="1150" b="0">
                          <a:solidFill>
                            <a:srgbClr val="242D38"/>
                          </a:solidFill>
                          <a:latin typeface="맑은 고딕"/>
                        </a:rPr>
                        <a:t>셀토스</a:t>
                      </a:r>
                    </a:p>
                  </a:txBody>
                  <a:tcPr marL="64008" marR="64008" marT="18288" marB="18288" anchor="ctr">
                    <a:solidFill>
                      <a:srgbClr val="E9F4EE"/>
                    </a:solidFill>
                  </a:tcPr>
                </a:tc>
                <a:tc>
                  <a:txBody>
                    <a:bodyPr/>
                    <a:lstStyle/>
                    <a:p>
                      <a:pPr algn="ctr"/>
                      <a:r>
                        <a:rPr sz="1150" b="0">
                          <a:solidFill>
                            <a:srgbClr val="242D38"/>
                          </a:solidFill>
                          <a:latin typeface="맑은 고딕"/>
                        </a:rPr>
                        <a:t>X-Line (최상위)</a:t>
                      </a:r>
                    </a:p>
                  </a:txBody>
                  <a:tcPr marL="64008" marR="64008" marT="18288" marB="18288" anchor="ctr">
                    <a:solidFill>
                      <a:srgbClr val="E9F4EE"/>
                    </a:solidFill>
                  </a:tcPr>
                </a:tc>
                <a:tc>
                  <a:txBody>
                    <a:bodyPr/>
                    <a:lstStyle/>
                    <a:p>
                      <a:pPr algn="ctr"/>
                      <a:r>
                        <a:rPr sz="1150" b="0">
                          <a:solidFill>
                            <a:srgbClr val="242D38"/>
                          </a:solidFill>
                          <a:latin typeface="맑은 고딕"/>
                        </a:rPr>
                        <a:t>3,263만</a:t>
                      </a:r>
                    </a:p>
                  </a:txBody>
                  <a:tcPr marL="64008" marR="64008" marT="18288" marB="18288" anchor="ctr">
                    <a:solidFill>
                      <a:srgbClr val="E9F4EE"/>
                    </a:solidFill>
                  </a:tcPr>
                </a:tc>
                <a:tc>
                  <a:txBody>
                    <a:bodyPr/>
                    <a:lstStyle/>
                    <a:p>
                      <a:pPr algn="ctr"/>
                      <a:r>
                        <a:rPr sz="1150" b="0">
                          <a:solidFill>
                            <a:srgbClr val="242D38"/>
                          </a:solidFill>
                          <a:latin typeface="맑은 고딕"/>
                        </a:rPr>
                        <a:t>238만</a:t>
                      </a:r>
                    </a:p>
                  </a:txBody>
                  <a:tcPr marL="64008" marR="64008" marT="18288" marB="18288" anchor="ctr">
                    <a:solidFill>
                      <a:srgbClr val="E9F4EE"/>
                    </a:solidFill>
                  </a:tcPr>
                </a:tc>
                <a:tc>
                  <a:txBody>
                    <a:bodyPr/>
                    <a:lstStyle/>
                    <a:p>
                      <a:pPr algn="ctr"/>
                      <a:r>
                        <a:rPr sz="1150" b="0">
                          <a:solidFill>
                            <a:srgbClr val="242D38"/>
                          </a:solidFill>
                          <a:latin typeface="맑은 고딕"/>
                        </a:rPr>
                        <a:t>3,501만</a:t>
                      </a:r>
                    </a:p>
                  </a:txBody>
                  <a:tcPr marL="64008" marR="64008" marT="18288" marB="18288" anchor="ctr">
                    <a:solidFill>
                      <a:srgbClr val="E9F4EE"/>
                    </a:solidFill>
                  </a:tcPr>
                </a:tc>
                <a:tc>
                  <a:txBody>
                    <a:bodyPr/>
                    <a:lstStyle/>
                    <a:p>
                      <a:pPr algn="ctr"/>
                      <a:r>
                        <a:rPr sz="1150" b="0">
                          <a:solidFill>
                            <a:srgbClr val="242D38"/>
                          </a:solidFill>
                          <a:latin typeface="맑은 고딕"/>
                        </a:rPr>
                        <a:t>가능</a:t>
                      </a:r>
                    </a:p>
                  </a:txBody>
                  <a:tcPr marL="64008" marR="64008" marT="18288" marB="18288" anchor="ctr">
                    <a:solidFill>
                      <a:srgbClr val="E9F4EE"/>
                    </a:solidFill>
                  </a:tcPr>
                </a:tc>
                <a:tc>
                  <a:txBody>
                    <a:bodyPr/>
                    <a:lstStyle/>
                    <a:p>
                      <a:pPr algn="ctr"/>
                      <a:r>
                        <a:rPr sz="1150" b="0">
                          <a:solidFill>
                            <a:srgbClr val="242D38"/>
                          </a:solidFill>
                          <a:latin typeface="맑은 고딕"/>
                        </a:rPr>
                        <a:t>199만</a:t>
                      </a:r>
                    </a:p>
                  </a:txBody>
                  <a:tcPr marL="64008" marR="64008" marT="18288" marB="18288" anchor="ctr">
                    <a:solidFill>
                      <a:srgbClr val="E9F4EE"/>
                    </a:solidFill>
                  </a:tcPr>
                </a:tc>
              </a:tr>
              <a:tr h="306324">
                <a:tc>
                  <a:txBody>
                    <a:bodyPr/>
                    <a:lstStyle/>
                    <a:p>
                      <a:pPr algn="l"/>
                      <a:r>
                        <a:rPr sz="1150" b="0">
                          <a:solidFill>
                            <a:srgbClr val="242D38"/>
                          </a:solidFill>
                          <a:latin typeface="맑은 고딕"/>
                        </a:rPr>
                        <a:t>트레일블레이저</a:t>
                      </a:r>
                    </a:p>
                  </a:txBody>
                  <a:tcPr marL="64008" marR="64008" marT="18288" marB="18288" anchor="ctr">
                    <a:solidFill>
                      <a:srgbClr val="E9F4EE"/>
                    </a:solidFill>
                  </a:tcPr>
                </a:tc>
                <a:tc>
                  <a:txBody>
                    <a:bodyPr/>
                    <a:lstStyle/>
                    <a:p>
                      <a:pPr algn="ctr"/>
                      <a:r>
                        <a:rPr sz="1150" b="0">
                          <a:solidFill>
                            <a:srgbClr val="242D38"/>
                          </a:solidFill>
                          <a:latin typeface="맑은 고딕"/>
                        </a:rPr>
                        <a:t>Premier</a:t>
                      </a:r>
                    </a:p>
                  </a:txBody>
                  <a:tcPr marL="64008" marR="64008" marT="18288" marB="18288" anchor="ctr">
                    <a:solidFill>
                      <a:srgbClr val="E9F4EE"/>
                    </a:solidFill>
                  </a:tcPr>
                </a:tc>
                <a:tc>
                  <a:txBody>
                    <a:bodyPr/>
                    <a:lstStyle/>
                    <a:p>
                      <a:pPr algn="ctr"/>
                      <a:r>
                        <a:rPr sz="1150" b="0">
                          <a:solidFill>
                            <a:srgbClr val="242D38"/>
                          </a:solidFill>
                          <a:latin typeface="맑은 고딕"/>
                        </a:rPr>
                        <a:t>2,796만</a:t>
                      </a:r>
                    </a:p>
                  </a:txBody>
                  <a:tcPr marL="64008" marR="64008" marT="18288" marB="18288" anchor="ctr">
                    <a:solidFill>
                      <a:srgbClr val="E9F4EE"/>
                    </a:solidFill>
                  </a:tcPr>
                </a:tc>
                <a:tc>
                  <a:txBody>
                    <a:bodyPr/>
                    <a:lstStyle/>
                    <a:p>
                      <a:pPr algn="ctr"/>
                      <a:r>
                        <a:rPr sz="1150" b="0">
                          <a:solidFill>
                            <a:srgbClr val="242D38"/>
                          </a:solidFill>
                          <a:latin typeface="맑은 고딕"/>
                        </a:rPr>
                        <a:t>208만</a:t>
                      </a:r>
                    </a:p>
                  </a:txBody>
                  <a:tcPr marL="64008" marR="64008" marT="18288" marB="18288" anchor="ctr">
                    <a:solidFill>
                      <a:srgbClr val="E9F4EE"/>
                    </a:solidFill>
                  </a:tcPr>
                </a:tc>
                <a:tc>
                  <a:txBody>
                    <a:bodyPr/>
                    <a:lstStyle/>
                    <a:p>
                      <a:pPr algn="ctr"/>
                      <a:r>
                        <a:rPr sz="1150" b="0">
                          <a:solidFill>
                            <a:srgbClr val="242D38"/>
                          </a:solidFill>
                          <a:latin typeface="맑은 고딕"/>
                        </a:rPr>
                        <a:t>3,004만</a:t>
                      </a:r>
                    </a:p>
                  </a:txBody>
                  <a:tcPr marL="64008" marR="64008" marT="18288" marB="18288" anchor="ctr">
                    <a:solidFill>
                      <a:srgbClr val="E9F4EE"/>
                    </a:solidFill>
                  </a:tcPr>
                </a:tc>
                <a:tc>
                  <a:txBody>
                    <a:bodyPr/>
                    <a:lstStyle/>
                    <a:p>
                      <a:pPr algn="ctr"/>
                      <a:r>
                        <a:rPr sz="1150" b="0">
                          <a:solidFill>
                            <a:srgbClr val="242D38"/>
                          </a:solidFill>
                          <a:latin typeface="맑은 고딕"/>
                        </a:rPr>
                        <a:t>가능</a:t>
                      </a:r>
                    </a:p>
                  </a:txBody>
                  <a:tcPr marL="64008" marR="64008" marT="18288" marB="18288" anchor="ctr">
                    <a:solidFill>
                      <a:srgbClr val="E9F4EE"/>
                    </a:solidFill>
                  </a:tcPr>
                </a:tc>
                <a:tc>
                  <a:txBody>
                    <a:bodyPr/>
                    <a:lstStyle/>
                    <a:p>
                      <a:pPr algn="ctr"/>
                      <a:r>
                        <a:rPr sz="1150" b="0">
                          <a:solidFill>
                            <a:srgbClr val="242D38"/>
                          </a:solidFill>
                          <a:latin typeface="맑은 고딕"/>
                        </a:rPr>
                        <a:t>696만</a:t>
                      </a:r>
                    </a:p>
                  </a:txBody>
                  <a:tcPr marL="64008" marR="64008" marT="18288" marB="18288" anchor="ctr">
                    <a:solidFill>
                      <a:srgbClr val="E9F4EE"/>
                    </a:solidFill>
                  </a:tcPr>
                </a:tc>
              </a:tr>
              <a:tr h="306324">
                <a:tc>
                  <a:txBody>
                    <a:bodyPr/>
                    <a:lstStyle/>
                    <a:p>
                      <a:pPr algn="l"/>
                      <a:r>
                        <a:rPr sz="1150" b="0">
                          <a:solidFill>
                            <a:srgbClr val="242D38"/>
                          </a:solidFill>
                          <a:latin typeface="맑은 고딕"/>
                        </a:rPr>
                        <a:t>트레일블레이저</a:t>
                      </a:r>
                    </a:p>
                  </a:txBody>
                  <a:tcPr marL="64008" marR="64008" marT="18288" marB="18288" anchor="ctr">
                    <a:solidFill>
                      <a:srgbClr val="E9F4EE"/>
                    </a:solidFill>
                  </a:tcPr>
                </a:tc>
                <a:tc>
                  <a:txBody>
                    <a:bodyPr/>
                    <a:lstStyle/>
                    <a:p>
                      <a:pPr algn="ctr"/>
                      <a:r>
                        <a:rPr sz="1150" b="0">
                          <a:solidFill>
                            <a:srgbClr val="242D38"/>
                          </a:solidFill>
                          <a:latin typeface="맑은 고딕"/>
                        </a:rPr>
                        <a:t>RS (최상위)</a:t>
                      </a:r>
                    </a:p>
                  </a:txBody>
                  <a:tcPr marL="64008" marR="64008" marT="18288" marB="18288" anchor="ctr">
                    <a:solidFill>
                      <a:srgbClr val="E9F4EE"/>
                    </a:solidFill>
                  </a:tcPr>
                </a:tc>
                <a:tc>
                  <a:txBody>
                    <a:bodyPr/>
                    <a:lstStyle/>
                    <a:p>
                      <a:pPr algn="ctr"/>
                      <a:r>
                        <a:rPr sz="1150" b="0">
                          <a:solidFill>
                            <a:srgbClr val="242D38"/>
                          </a:solidFill>
                          <a:latin typeface="맑은 고딕"/>
                        </a:rPr>
                        <a:t>3,096만</a:t>
                      </a:r>
                    </a:p>
                  </a:txBody>
                  <a:tcPr marL="64008" marR="64008" marT="18288" marB="18288" anchor="ctr">
                    <a:solidFill>
                      <a:srgbClr val="E9F4EE"/>
                    </a:solidFill>
                  </a:tcPr>
                </a:tc>
                <a:tc>
                  <a:txBody>
                    <a:bodyPr/>
                    <a:lstStyle/>
                    <a:p>
                      <a:pPr algn="ctr"/>
                      <a:r>
                        <a:rPr sz="1150" b="0">
                          <a:solidFill>
                            <a:srgbClr val="242D38"/>
                          </a:solidFill>
                          <a:latin typeface="맑은 고딕"/>
                        </a:rPr>
                        <a:t>227만</a:t>
                      </a:r>
                    </a:p>
                  </a:txBody>
                  <a:tcPr marL="64008" marR="64008" marT="18288" marB="18288" anchor="ctr">
                    <a:solidFill>
                      <a:srgbClr val="E9F4EE"/>
                    </a:solidFill>
                  </a:tcPr>
                </a:tc>
                <a:tc>
                  <a:txBody>
                    <a:bodyPr/>
                    <a:lstStyle/>
                    <a:p>
                      <a:pPr algn="ctr"/>
                      <a:r>
                        <a:rPr sz="1150" b="0">
                          <a:solidFill>
                            <a:srgbClr val="242D38"/>
                          </a:solidFill>
                          <a:latin typeface="맑은 고딕"/>
                        </a:rPr>
                        <a:t>3,323만</a:t>
                      </a:r>
                    </a:p>
                  </a:txBody>
                  <a:tcPr marL="64008" marR="64008" marT="18288" marB="18288" anchor="ctr">
                    <a:solidFill>
                      <a:srgbClr val="E9F4EE"/>
                    </a:solidFill>
                  </a:tcPr>
                </a:tc>
                <a:tc>
                  <a:txBody>
                    <a:bodyPr/>
                    <a:lstStyle/>
                    <a:p>
                      <a:pPr algn="ctr"/>
                      <a:r>
                        <a:rPr sz="1150" b="0">
                          <a:solidFill>
                            <a:srgbClr val="242D38"/>
                          </a:solidFill>
                          <a:latin typeface="맑은 고딕"/>
                        </a:rPr>
                        <a:t>가능</a:t>
                      </a:r>
                    </a:p>
                  </a:txBody>
                  <a:tcPr marL="64008" marR="64008" marT="18288" marB="18288" anchor="ctr">
                    <a:solidFill>
                      <a:srgbClr val="E9F4EE"/>
                    </a:solidFill>
                  </a:tcPr>
                </a:tc>
                <a:tc>
                  <a:txBody>
                    <a:bodyPr/>
                    <a:lstStyle/>
                    <a:p>
                      <a:pPr algn="ctr"/>
                      <a:r>
                        <a:rPr sz="1150" b="0">
                          <a:solidFill>
                            <a:srgbClr val="242D38"/>
                          </a:solidFill>
                          <a:latin typeface="맑은 고딕"/>
                        </a:rPr>
                        <a:t>377만</a:t>
                      </a:r>
                    </a:p>
                  </a:txBody>
                  <a:tcPr marL="64008" marR="64008" marT="18288" marB="18288" anchor="ctr">
                    <a:solidFill>
                      <a:srgbClr val="E9F4EE"/>
                    </a:solidFill>
                  </a:tcPr>
                </a:tc>
              </a:tr>
              <a:tr h="306324">
                <a:tc>
                  <a:txBody>
                    <a:bodyPr/>
                    <a:lstStyle/>
                    <a:p>
                      <a:pPr algn="l"/>
                      <a:r>
                        <a:rPr sz="1150" b="0">
                          <a:solidFill>
                            <a:srgbClr val="242D38"/>
                          </a:solidFill>
                          <a:latin typeface="맑은 고딕"/>
                        </a:rPr>
                        <a:t>투싼</a:t>
                      </a:r>
                    </a:p>
                  </a:txBody>
                  <a:tcPr marL="64008" marR="64008" marT="18288" marB="18288" anchor="ctr">
                    <a:solidFill>
                      <a:srgbClr val="E9F4EE"/>
                    </a:solidFill>
                  </a:tcPr>
                </a:tc>
                <a:tc>
                  <a:txBody>
                    <a:bodyPr/>
                    <a:lstStyle/>
                    <a:p>
                      <a:pPr algn="ctr"/>
                      <a:r>
                        <a:rPr sz="1150" b="0">
                          <a:solidFill>
                            <a:srgbClr val="242D38"/>
                          </a:solidFill>
                          <a:latin typeface="맑은 고딕"/>
                        </a:rPr>
                        <a:t>프리미엄</a:t>
                      </a:r>
                    </a:p>
                  </a:txBody>
                  <a:tcPr marL="64008" marR="64008" marT="18288" marB="18288" anchor="ctr">
                    <a:solidFill>
                      <a:srgbClr val="E9F4EE"/>
                    </a:solidFill>
                  </a:tcPr>
                </a:tc>
                <a:tc>
                  <a:txBody>
                    <a:bodyPr/>
                    <a:lstStyle/>
                    <a:p>
                      <a:pPr algn="ctr"/>
                      <a:r>
                        <a:rPr sz="1150" b="0">
                          <a:solidFill>
                            <a:srgbClr val="242D38"/>
                          </a:solidFill>
                          <a:latin typeface="맑은 고딕"/>
                        </a:rPr>
                        <a:t>3,112만</a:t>
                      </a:r>
                    </a:p>
                  </a:txBody>
                  <a:tcPr marL="64008" marR="64008" marT="18288" marB="18288" anchor="ctr">
                    <a:solidFill>
                      <a:srgbClr val="E9F4EE"/>
                    </a:solidFill>
                  </a:tcPr>
                </a:tc>
                <a:tc>
                  <a:txBody>
                    <a:bodyPr/>
                    <a:lstStyle/>
                    <a:p>
                      <a:pPr algn="ctr"/>
                      <a:r>
                        <a:rPr sz="1150" b="0">
                          <a:solidFill>
                            <a:srgbClr val="242D38"/>
                          </a:solidFill>
                          <a:latin typeface="맑은 고딕"/>
                        </a:rPr>
                        <a:t>228만</a:t>
                      </a:r>
                    </a:p>
                  </a:txBody>
                  <a:tcPr marL="64008" marR="64008" marT="18288" marB="18288" anchor="ctr">
                    <a:solidFill>
                      <a:srgbClr val="E9F4EE"/>
                    </a:solidFill>
                  </a:tcPr>
                </a:tc>
                <a:tc>
                  <a:txBody>
                    <a:bodyPr/>
                    <a:lstStyle/>
                    <a:p>
                      <a:pPr algn="ctr"/>
                      <a:r>
                        <a:rPr sz="1150" b="0">
                          <a:solidFill>
                            <a:srgbClr val="242D38"/>
                          </a:solidFill>
                          <a:latin typeface="맑은 고딕"/>
                        </a:rPr>
                        <a:t>3,340만</a:t>
                      </a:r>
                    </a:p>
                  </a:txBody>
                  <a:tcPr marL="64008" marR="64008" marT="18288" marB="18288" anchor="ctr">
                    <a:solidFill>
                      <a:srgbClr val="E9F4EE"/>
                    </a:solidFill>
                  </a:tcPr>
                </a:tc>
                <a:tc>
                  <a:txBody>
                    <a:bodyPr/>
                    <a:lstStyle/>
                    <a:p>
                      <a:pPr algn="ctr"/>
                      <a:r>
                        <a:rPr sz="1150" b="0">
                          <a:solidFill>
                            <a:srgbClr val="242D38"/>
                          </a:solidFill>
                          <a:latin typeface="맑은 고딕"/>
                        </a:rPr>
                        <a:t>가능</a:t>
                      </a:r>
                    </a:p>
                  </a:txBody>
                  <a:tcPr marL="64008" marR="64008" marT="18288" marB="18288" anchor="ctr">
                    <a:solidFill>
                      <a:srgbClr val="E9F4EE"/>
                    </a:solidFill>
                  </a:tcPr>
                </a:tc>
                <a:tc>
                  <a:txBody>
                    <a:bodyPr/>
                    <a:lstStyle/>
                    <a:p>
                      <a:pPr algn="ctr"/>
                      <a:r>
                        <a:rPr sz="1150" b="0">
                          <a:solidFill>
                            <a:srgbClr val="242D38"/>
                          </a:solidFill>
                          <a:latin typeface="맑은 고딕"/>
                        </a:rPr>
                        <a:t>360만</a:t>
                      </a:r>
                    </a:p>
                  </a:txBody>
                  <a:tcPr marL="64008" marR="64008" marT="18288" marB="18288" anchor="ctr">
                    <a:solidFill>
                      <a:srgbClr val="E9F4EE"/>
                    </a:solidFill>
                  </a:tcPr>
                </a:tc>
              </a:tr>
              <a:tr h="306324">
                <a:tc>
                  <a:txBody>
                    <a:bodyPr/>
                    <a:lstStyle/>
                    <a:p>
                      <a:pPr algn="l"/>
                      <a:r>
                        <a:rPr sz="1150" b="0">
                          <a:solidFill>
                            <a:srgbClr val="242D38"/>
                          </a:solidFill>
                          <a:latin typeface="맑은 고딕"/>
                        </a:rPr>
                        <a:t>투싼</a:t>
                      </a:r>
                    </a:p>
                  </a:txBody>
                  <a:tcPr marL="64008" marR="64008" marT="18288" marB="18288" anchor="ctr">
                    <a:solidFill>
                      <a:srgbClr val="E9F4EE"/>
                    </a:solidFill>
                  </a:tcPr>
                </a:tc>
                <a:tc>
                  <a:txBody>
                    <a:bodyPr/>
                    <a:lstStyle/>
                    <a:p>
                      <a:pPr algn="ctr"/>
                      <a:r>
                        <a:rPr sz="1150" b="0">
                          <a:solidFill>
                            <a:srgbClr val="242D38"/>
                          </a:solidFill>
                          <a:latin typeface="맑은 고딕"/>
                        </a:rPr>
                        <a:t>H-Pick</a:t>
                      </a:r>
                    </a:p>
                  </a:txBody>
                  <a:tcPr marL="64008" marR="64008" marT="18288" marB="18288" anchor="ctr">
                    <a:solidFill>
                      <a:srgbClr val="E9F4EE"/>
                    </a:solidFill>
                  </a:tcPr>
                </a:tc>
                <a:tc>
                  <a:txBody>
                    <a:bodyPr/>
                    <a:lstStyle/>
                    <a:p>
                      <a:pPr algn="ctr"/>
                      <a:r>
                        <a:rPr sz="1150" b="0">
                          <a:solidFill>
                            <a:srgbClr val="242D38"/>
                          </a:solidFill>
                          <a:latin typeface="맑은 고딕"/>
                        </a:rPr>
                        <a:t>3,201만</a:t>
                      </a:r>
                    </a:p>
                  </a:txBody>
                  <a:tcPr marL="64008" marR="64008" marT="18288" marB="18288" anchor="ctr">
                    <a:solidFill>
                      <a:srgbClr val="E9F4EE"/>
                    </a:solidFill>
                  </a:tcPr>
                </a:tc>
                <a:tc>
                  <a:txBody>
                    <a:bodyPr/>
                    <a:lstStyle/>
                    <a:p>
                      <a:pPr algn="ctr"/>
                      <a:r>
                        <a:rPr sz="1150" b="0">
                          <a:solidFill>
                            <a:srgbClr val="242D38"/>
                          </a:solidFill>
                          <a:latin typeface="맑은 고딕"/>
                        </a:rPr>
                        <a:t>234만</a:t>
                      </a:r>
                    </a:p>
                  </a:txBody>
                  <a:tcPr marL="64008" marR="64008" marT="18288" marB="18288" anchor="ctr">
                    <a:solidFill>
                      <a:srgbClr val="E9F4EE"/>
                    </a:solidFill>
                  </a:tcPr>
                </a:tc>
                <a:tc>
                  <a:txBody>
                    <a:bodyPr/>
                    <a:lstStyle/>
                    <a:p>
                      <a:pPr algn="ctr"/>
                      <a:r>
                        <a:rPr sz="1150" b="0">
                          <a:solidFill>
                            <a:srgbClr val="242D38"/>
                          </a:solidFill>
                          <a:latin typeface="맑은 고딕"/>
                        </a:rPr>
                        <a:t>3,435만</a:t>
                      </a:r>
                    </a:p>
                  </a:txBody>
                  <a:tcPr marL="64008" marR="64008" marT="18288" marB="18288" anchor="ctr">
                    <a:solidFill>
                      <a:srgbClr val="E9F4EE"/>
                    </a:solidFill>
                  </a:tcPr>
                </a:tc>
                <a:tc>
                  <a:txBody>
                    <a:bodyPr/>
                    <a:lstStyle/>
                    <a:p>
                      <a:pPr algn="ctr"/>
                      <a:r>
                        <a:rPr sz="1150" b="0">
                          <a:solidFill>
                            <a:srgbClr val="242D38"/>
                          </a:solidFill>
                          <a:latin typeface="맑은 고딕"/>
                        </a:rPr>
                        <a:t>가능</a:t>
                      </a:r>
                    </a:p>
                  </a:txBody>
                  <a:tcPr marL="64008" marR="64008" marT="18288" marB="18288" anchor="ctr">
                    <a:solidFill>
                      <a:srgbClr val="E9F4EE"/>
                    </a:solidFill>
                  </a:tcPr>
                </a:tc>
                <a:tc>
                  <a:txBody>
                    <a:bodyPr/>
                    <a:lstStyle/>
                    <a:p>
                      <a:pPr algn="ctr"/>
                      <a:r>
                        <a:rPr sz="1150" b="0">
                          <a:solidFill>
                            <a:srgbClr val="242D38"/>
                          </a:solidFill>
                          <a:latin typeface="맑은 고딕"/>
                        </a:rPr>
                        <a:t>265만</a:t>
                      </a:r>
                    </a:p>
                  </a:txBody>
                  <a:tcPr marL="64008" marR="64008" marT="18288" marB="18288" anchor="ctr">
                    <a:solidFill>
                      <a:srgbClr val="E9F4EE"/>
                    </a:solidFill>
                  </a:tcPr>
                </a:tc>
              </a:tr>
              <a:tr h="306324">
                <a:tc>
                  <a:txBody>
                    <a:bodyPr/>
                    <a:lstStyle/>
                    <a:p>
                      <a:pPr algn="l"/>
                      <a:r>
                        <a:rPr sz="1150" b="0">
                          <a:solidFill>
                            <a:srgbClr val="242D38"/>
                          </a:solidFill>
                          <a:latin typeface="맑은 고딕"/>
                        </a:rPr>
                        <a:t>투싼</a:t>
                      </a:r>
                    </a:p>
                  </a:txBody>
                  <a:tcPr marL="64008" marR="64008" marT="18288" marB="18288" anchor="ctr">
                    <a:solidFill>
                      <a:srgbClr val="FDECE8"/>
                    </a:solidFill>
                  </a:tcPr>
                </a:tc>
                <a:tc>
                  <a:txBody>
                    <a:bodyPr/>
                    <a:lstStyle/>
                    <a:p>
                      <a:pPr algn="ctr"/>
                      <a:r>
                        <a:rPr sz="1150" b="0">
                          <a:solidFill>
                            <a:srgbClr val="242D38"/>
                          </a:solidFill>
                          <a:latin typeface="맑은 고딕"/>
                        </a:rPr>
                        <a:t>인스퍼레이션</a:t>
                      </a:r>
                    </a:p>
                  </a:txBody>
                  <a:tcPr marL="64008" marR="64008" marT="18288" marB="18288" anchor="ctr">
                    <a:solidFill>
                      <a:srgbClr val="FDECE8"/>
                    </a:solidFill>
                  </a:tcPr>
                </a:tc>
                <a:tc>
                  <a:txBody>
                    <a:bodyPr/>
                    <a:lstStyle/>
                    <a:p>
                      <a:pPr algn="ctr"/>
                      <a:r>
                        <a:rPr sz="1150" b="0">
                          <a:solidFill>
                            <a:srgbClr val="242D38"/>
                          </a:solidFill>
                          <a:latin typeface="맑은 고딕"/>
                        </a:rPr>
                        <a:t>3,456만</a:t>
                      </a:r>
                    </a:p>
                  </a:txBody>
                  <a:tcPr marL="64008" marR="64008" marT="18288" marB="18288" anchor="ctr">
                    <a:solidFill>
                      <a:srgbClr val="FDECE8"/>
                    </a:solidFill>
                  </a:tcPr>
                </a:tc>
                <a:tc>
                  <a:txBody>
                    <a:bodyPr/>
                    <a:lstStyle/>
                    <a:p>
                      <a:pPr algn="ctr"/>
                      <a:r>
                        <a:rPr sz="1150" b="0">
                          <a:solidFill>
                            <a:srgbClr val="242D38"/>
                          </a:solidFill>
                          <a:latin typeface="맑은 고딕"/>
                        </a:rPr>
                        <a:t>250만</a:t>
                      </a:r>
                    </a:p>
                  </a:txBody>
                  <a:tcPr marL="64008" marR="64008" marT="18288" marB="18288" anchor="ctr">
                    <a:solidFill>
                      <a:srgbClr val="FDECE8"/>
                    </a:solidFill>
                  </a:tcPr>
                </a:tc>
                <a:tc>
                  <a:txBody>
                    <a:bodyPr/>
                    <a:lstStyle/>
                    <a:p>
                      <a:pPr algn="ctr"/>
                      <a:r>
                        <a:rPr sz="1150" b="0">
                          <a:solidFill>
                            <a:srgbClr val="242D38"/>
                          </a:solidFill>
                          <a:latin typeface="맑은 고딕"/>
                        </a:rPr>
                        <a:t>3,706만</a:t>
                      </a:r>
                    </a:p>
                  </a:txBody>
                  <a:tcPr marL="64008" marR="64008" marT="18288" marB="18288" anchor="ctr">
                    <a:solidFill>
                      <a:srgbClr val="FDECE8"/>
                    </a:solidFill>
                  </a:tcPr>
                </a:tc>
                <a:tc>
                  <a:txBody>
                    <a:bodyPr/>
                    <a:lstStyle/>
                    <a:p>
                      <a:pPr algn="ctr"/>
                      <a:r>
                        <a:rPr sz="1150" b="0">
                          <a:solidFill>
                            <a:srgbClr val="242D38"/>
                          </a:solidFill>
                          <a:latin typeface="맑은 고딕"/>
                        </a:rPr>
                        <a:t>초과</a:t>
                      </a:r>
                    </a:p>
                  </a:txBody>
                  <a:tcPr marL="64008" marR="64008" marT="18288" marB="18288" anchor="ctr">
                    <a:solidFill>
                      <a:srgbClr val="FDECE8"/>
                    </a:solidFill>
                  </a:tcPr>
                </a:tc>
                <a:tc>
                  <a:txBody>
                    <a:bodyPr/>
                    <a:lstStyle/>
                    <a:p>
                      <a:pPr algn="ctr"/>
                      <a:r>
                        <a:rPr sz="1150" b="0">
                          <a:solidFill>
                            <a:srgbClr val="242D38"/>
                          </a:solidFill>
                          <a:latin typeface="맑은 고딕"/>
                        </a:rPr>
                        <a:t>-6만</a:t>
                      </a:r>
                    </a:p>
                  </a:txBody>
                  <a:tcPr marL="64008" marR="64008" marT="18288" marB="18288" anchor="ctr">
                    <a:solidFill>
                      <a:srgbClr val="FDECE8"/>
                    </a:solidFill>
                  </a:tcPr>
                </a:tc>
              </a:tr>
              <a:tr h="306324">
                <a:tc>
                  <a:txBody>
                    <a:bodyPr/>
                    <a:lstStyle/>
                    <a:p>
                      <a:pPr algn="l"/>
                      <a:r>
                        <a:rPr sz="1150" b="0">
                          <a:solidFill>
                            <a:srgbClr val="242D38"/>
                          </a:solidFill>
                          <a:latin typeface="맑은 고딕"/>
                        </a:rPr>
                        <a:t>스포티지</a:t>
                      </a:r>
                    </a:p>
                  </a:txBody>
                  <a:tcPr marL="64008" marR="64008" marT="18288" marB="18288" anchor="ctr">
                    <a:solidFill>
                      <a:srgbClr val="E9F4EE"/>
                    </a:solidFill>
                  </a:tcPr>
                </a:tc>
                <a:tc>
                  <a:txBody>
                    <a:bodyPr/>
                    <a:lstStyle/>
                    <a:p>
                      <a:pPr algn="ctr"/>
                      <a:r>
                        <a:rPr sz="1150" b="0">
                          <a:solidFill>
                            <a:srgbClr val="242D38"/>
                          </a:solidFill>
                          <a:latin typeface="맑은 고딕"/>
                        </a:rPr>
                        <a:t>프레스티지</a:t>
                      </a:r>
                    </a:p>
                  </a:txBody>
                  <a:tcPr marL="64008" marR="64008" marT="18288" marB="18288" anchor="ctr">
                    <a:solidFill>
                      <a:srgbClr val="E9F4EE"/>
                    </a:solidFill>
                  </a:tcPr>
                </a:tc>
                <a:tc>
                  <a:txBody>
                    <a:bodyPr/>
                    <a:lstStyle/>
                    <a:p>
                      <a:pPr algn="ctr"/>
                      <a:r>
                        <a:rPr sz="1150" b="0">
                          <a:solidFill>
                            <a:srgbClr val="242D38"/>
                          </a:solidFill>
                          <a:latin typeface="맑은 고딕"/>
                        </a:rPr>
                        <a:t>2,944만</a:t>
                      </a:r>
                    </a:p>
                  </a:txBody>
                  <a:tcPr marL="64008" marR="64008" marT="18288" marB="18288" anchor="ctr">
                    <a:solidFill>
                      <a:srgbClr val="E9F4EE"/>
                    </a:solidFill>
                  </a:tcPr>
                </a:tc>
                <a:tc>
                  <a:txBody>
                    <a:bodyPr/>
                    <a:lstStyle/>
                    <a:p>
                      <a:pPr algn="ctr"/>
                      <a:r>
                        <a:rPr sz="1150" b="0">
                          <a:solidFill>
                            <a:srgbClr val="242D38"/>
                          </a:solidFill>
                          <a:latin typeface="맑은 고딕"/>
                        </a:rPr>
                        <a:t>217만</a:t>
                      </a:r>
                    </a:p>
                  </a:txBody>
                  <a:tcPr marL="64008" marR="64008" marT="18288" marB="18288" anchor="ctr">
                    <a:solidFill>
                      <a:srgbClr val="E9F4EE"/>
                    </a:solidFill>
                  </a:tcPr>
                </a:tc>
                <a:tc>
                  <a:txBody>
                    <a:bodyPr/>
                    <a:lstStyle/>
                    <a:p>
                      <a:pPr algn="ctr"/>
                      <a:r>
                        <a:rPr sz="1150" b="0">
                          <a:solidFill>
                            <a:srgbClr val="242D38"/>
                          </a:solidFill>
                          <a:latin typeface="맑은 고딕"/>
                        </a:rPr>
                        <a:t>3,161만</a:t>
                      </a:r>
                    </a:p>
                  </a:txBody>
                  <a:tcPr marL="64008" marR="64008" marT="18288" marB="18288" anchor="ctr">
                    <a:solidFill>
                      <a:srgbClr val="E9F4EE"/>
                    </a:solidFill>
                  </a:tcPr>
                </a:tc>
                <a:tc>
                  <a:txBody>
                    <a:bodyPr/>
                    <a:lstStyle/>
                    <a:p>
                      <a:pPr algn="ctr"/>
                      <a:r>
                        <a:rPr sz="1150" b="0">
                          <a:solidFill>
                            <a:srgbClr val="242D38"/>
                          </a:solidFill>
                          <a:latin typeface="맑은 고딕"/>
                        </a:rPr>
                        <a:t>가능</a:t>
                      </a:r>
                    </a:p>
                  </a:txBody>
                  <a:tcPr marL="64008" marR="64008" marT="18288" marB="18288" anchor="ctr">
                    <a:solidFill>
                      <a:srgbClr val="E9F4EE"/>
                    </a:solidFill>
                  </a:tcPr>
                </a:tc>
                <a:tc>
                  <a:txBody>
                    <a:bodyPr/>
                    <a:lstStyle/>
                    <a:p>
                      <a:pPr algn="ctr"/>
                      <a:r>
                        <a:rPr sz="1150" b="0">
                          <a:solidFill>
                            <a:srgbClr val="242D38"/>
                          </a:solidFill>
                          <a:latin typeface="맑은 고딕"/>
                        </a:rPr>
                        <a:t>539만</a:t>
                      </a:r>
                    </a:p>
                  </a:txBody>
                  <a:tcPr marL="64008" marR="64008" marT="18288" marB="18288" anchor="ctr">
                    <a:solidFill>
                      <a:srgbClr val="E9F4EE"/>
                    </a:solidFill>
                  </a:tcPr>
                </a:tc>
              </a:tr>
              <a:tr h="306324">
                <a:tc>
                  <a:txBody>
                    <a:bodyPr/>
                    <a:lstStyle/>
                    <a:p>
                      <a:pPr algn="l"/>
                      <a:r>
                        <a:rPr sz="1150" b="0">
                          <a:solidFill>
                            <a:srgbClr val="242D38"/>
                          </a:solidFill>
                          <a:latin typeface="맑은 고딕"/>
                        </a:rPr>
                        <a:t>스포티지</a:t>
                      </a:r>
                    </a:p>
                  </a:txBody>
                  <a:tcPr marL="64008" marR="64008" marT="18288" marB="18288" anchor="ctr">
                    <a:solidFill>
                      <a:srgbClr val="E9F4EE"/>
                    </a:solidFill>
                  </a:tcPr>
                </a:tc>
                <a:tc>
                  <a:txBody>
                    <a:bodyPr/>
                    <a:lstStyle/>
                    <a:p>
                      <a:pPr algn="ctr"/>
                      <a:r>
                        <a:rPr sz="1150" b="0">
                          <a:solidFill>
                            <a:srgbClr val="242D38"/>
                          </a:solidFill>
                          <a:latin typeface="맑은 고딕"/>
                        </a:rPr>
                        <a:t>노블레스</a:t>
                      </a:r>
                    </a:p>
                  </a:txBody>
                  <a:tcPr marL="64008" marR="64008" marT="18288" marB="18288" anchor="ctr">
                    <a:solidFill>
                      <a:srgbClr val="E9F4EE"/>
                    </a:solidFill>
                  </a:tcPr>
                </a:tc>
                <a:tc>
                  <a:txBody>
                    <a:bodyPr/>
                    <a:lstStyle/>
                    <a:p>
                      <a:pPr algn="ctr"/>
                      <a:r>
                        <a:rPr sz="1150" b="0">
                          <a:solidFill>
                            <a:srgbClr val="242D38"/>
                          </a:solidFill>
                          <a:latin typeface="맑은 고딕"/>
                        </a:rPr>
                        <a:t>3,322만</a:t>
                      </a:r>
                    </a:p>
                  </a:txBody>
                  <a:tcPr marL="64008" marR="64008" marT="18288" marB="18288" anchor="ctr">
                    <a:solidFill>
                      <a:srgbClr val="E9F4EE"/>
                    </a:solidFill>
                  </a:tcPr>
                </a:tc>
                <a:tc>
                  <a:txBody>
                    <a:bodyPr/>
                    <a:lstStyle/>
                    <a:p>
                      <a:pPr algn="ctr"/>
                      <a:r>
                        <a:rPr sz="1150" b="0">
                          <a:solidFill>
                            <a:srgbClr val="242D38"/>
                          </a:solidFill>
                          <a:latin typeface="맑은 고딕"/>
                        </a:rPr>
                        <a:t>241만</a:t>
                      </a:r>
                    </a:p>
                  </a:txBody>
                  <a:tcPr marL="64008" marR="64008" marT="18288" marB="18288" anchor="ctr">
                    <a:solidFill>
                      <a:srgbClr val="E9F4EE"/>
                    </a:solidFill>
                  </a:tcPr>
                </a:tc>
                <a:tc>
                  <a:txBody>
                    <a:bodyPr/>
                    <a:lstStyle/>
                    <a:p>
                      <a:pPr algn="ctr"/>
                      <a:r>
                        <a:rPr sz="1150" b="0">
                          <a:solidFill>
                            <a:srgbClr val="242D38"/>
                          </a:solidFill>
                          <a:latin typeface="맑은 고딕"/>
                        </a:rPr>
                        <a:t>3,563만</a:t>
                      </a:r>
                    </a:p>
                  </a:txBody>
                  <a:tcPr marL="64008" marR="64008" marT="18288" marB="18288" anchor="ctr">
                    <a:solidFill>
                      <a:srgbClr val="E9F4EE"/>
                    </a:solidFill>
                  </a:tcPr>
                </a:tc>
                <a:tc>
                  <a:txBody>
                    <a:bodyPr/>
                    <a:lstStyle/>
                    <a:p>
                      <a:pPr algn="ctr"/>
                      <a:r>
                        <a:rPr sz="1150" b="0">
                          <a:solidFill>
                            <a:srgbClr val="242D38"/>
                          </a:solidFill>
                          <a:latin typeface="맑은 고딕"/>
                        </a:rPr>
                        <a:t>가능</a:t>
                      </a:r>
                    </a:p>
                  </a:txBody>
                  <a:tcPr marL="64008" marR="64008" marT="18288" marB="18288" anchor="ctr">
                    <a:solidFill>
                      <a:srgbClr val="E9F4EE"/>
                    </a:solidFill>
                  </a:tcPr>
                </a:tc>
                <a:tc>
                  <a:txBody>
                    <a:bodyPr/>
                    <a:lstStyle/>
                    <a:p>
                      <a:pPr algn="ctr"/>
                      <a:r>
                        <a:rPr sz="1150" b="0">
                          <a:solidFill>
                            <a:srgbClr val="242D38"/>
                          </a:solidFill>
                          <a:latin typeface="맑은 고딕"/>
                        </a:rPr>
                        <a:t>137만</a:t>
                      </a:r>
                    </a:p>
                  </a:txBody>
                  <a:tcPr marL="64008" marR="64008" marT="18288" marB="18288" anchor="ctr">
                    <a:solidFill>
                      <a:srgbClr val="E9F4EE"/>
                    </a:solidFill>
                  </a:tcPr>
                </a:tc>
              </a:tr>
              <a:tr h="306324">
                <a:tc>
                  <a:txBody>
                    <a:bodyPr/>
                    <a:lstStyle/>
                    <a:p>
                      <a:pPr algn="l"/>
                      <a:r>
                        <a:rPr sz="1150" b="0">
                          <a:solidFill>
                            <a:srgbClr val="242D38"/>
                          </a:solidFill>
                          <a:latin typeface="맑은 고딕"/>
                        </a:rPr>
                        <a:t>스포티지</a:t>
                      </a:r>
                    </a:p>
                  </a:txBody>
                  <a:tcPr marL="64008" marR="64008" marT="18288" marB="18288" anchor="ctr">
                    <a:solidFill>
                      <a:srgbClr val="FDECE8"/>
                    </a:solidFill>
                  </a:tcPr>
                </a:tc>
                <a:tc>
                  <a:txBody>
                    <a:bodyPr/>
                    <a:lstStyle/>
                    <a:p>
                      <a:pPr algn="ctr"/>
                      <a:r>
                        <a:rPr sz="1150" b="0">
                          <a:solidFill>
                            <a:srgbClr val="242D38"/>
                          </a:solidFill>
                          <a:latin typeface="맑은 고딕"/>
                        </a:rPr>
                        <a:t>시그니처</a:t>
                      </a:r>
                    </a:p>
                  </a:txBody>
                  <a:tcPr marL="64008" marR="64008" marT="18288" marB="18288" anchor="ctr">
                    <a:solidFill>
                      <a:srgbClr val="FDECE8"/>
                    </a:solidFill>
                  </a:tcPr>
                </a:tc>
                <a:tc>
                  <a:txBody>
                    <a:bodyPr/>
                    <a:lstStyle/>
                    <a:p>
                      <a:pPr algn="ctr"/>
                      <a:r>
                        <a:rPr sz="1150" b="0">
                          <a:solidFill>
                            <a:srgbClr val="242D38"/>
                          </a:solidFill>
                          <a:latin typeface="맑은 고딕"/>
                        </a:rPr>
                        <a:t>3,557만</a:t>
                      </a:r>
                    </a:p>
                  </a:txBody>
                  <a:tcPr marL="64008" marR="64008" marT="18288" marB="18288" anchor="ctr">
                    <a:solidFill>
                      <a:srgbClr val="FDECE8"/>
                    </a:solidFill>
                  </a:tcPr>
                </a:tc>
                <a:tc>
                  <a:txBody>
                    <a:bodyPr/>
                    <a:lstStyle/>
                    <a:p>
                      <a:pPr algn="ctr"/>
                      <a:r>
                        <a:rPr sz="1150" b="0">
                          <a:solidFill>
                            <a:srgbClr val="242D38"/>
                          </a:solidFill>
                          <a:latin typeface="맑은 고딕"/>
                        </a:rPr>
                        <a:t>256만</a:t>
                      </a:r>
                    </a:p>
                  </a:txBody>
                  <a:tcPr marL="64008" marR="64008" marT="18288" marB="18288" anchor="ctr">
                    <a:solidFill>
                      <a:srgbClr val="FDECE8"/>
                    </a:solidFill>
                  </a:tcPr>
                </a:tc>
                <a:tc>
                  <a:txBody>
                    <a:bodyPr/>
                    <a:lstStyle/>
                    <a:p>
                      <a:pPr algn="ctr"/>
                      <a:r>
                        <a:rPr sz="1150" b="0">
                          <a:solidFill>
                            <a:srgbClr val="242D38"/>
                          </a:solidFill>
                          <a:latin typeface="맑은 고딕"/>
                        </a:rPr>
                        <a:t>3,813만</a:t>
                      </a:r>
                    </a:p>
                  </a:txBody>
                  <a:tcPr marL="64008" marR="64008" marT="18288" marB="18288" anchor="ctr">
                    <a:solidFill>
                      <a:srgbClr val="FDECE8"/>
                    </a:solidFill>
                  </a:tcPr>
                </a:tc>
                <a:tc>
                  <a:txBody>
                    <a:bodyPr/>
                    <a:lstStyle/>
                    <a:p>
                      <a:pPr algn="ctr"/>
                      <a:r>
                        <a:rPr sz="1150" b="0">
                          <a:solidFill>
                            <a:srgbClr val="242D38"/>
                          </a:solidFill>
                          <a:latin typeface="맑은 고딕"/>
                        </a:rPr>
                        <a:t>초과</a:t>
                      </a:r>
                    </a:p>
                  </a:txBody>
                  <a:tcPr marL="64008" marR="64008" marT="18288" marB="18288" anchor="ctr">
                    <a:solidFill>
                      <a:srgbClr val="FDECE8"/>
                    </a:solidFill>
                  </a:tcPr>
                </a:tc>
                <a:tc>
                  <a:txBody>
                    <a:bodyPr/>
                    <a:lstStyle/>
                    <a:p>
                      <a:pPr algn="ctr"/>
                      <a:r>
                        <a:rPr sz="1150" b="0">
                          <a:solidFill>
                            <a:srgbClr val="242D38"/>
                          </a:solidFill>
                          <a:latin typeface="맑은 고딕"/>
                        </a:rPr>
                        <a:t>-113만</a:t>
                      </a:r>
                    </a:p>
                  </a:txBody>
                  <a:tcPr marL="64008" marR="64008" marT="18288" marB="18288" anchor="ctr">
                    <a:solidFill>
                      <a:srgbClr val="FDECE8"/>
                    </a:solidFill>
                  </a:tcPr>
                </a:tc>
              </a:tr>
            </a:tbl>
          </a:graphicData>
        </a:graphic>
      </p:graphicFrame>
      <p:sp>
        <p:nvSpPr>
          <p:cNvPr id="8" name="TextBox 7"/>
          <p:cNvSpPr txBox="1"/>
          <p:nvPr/>
        </p:nvSpPr>
        <p:spPr>
          <a:xfrm>
            <a:off x="713232" y="6327648"/>
            <a:ext cx="10881360" cy="365760"/>
          </a:xfrm>
          <a:prstGeom prst="rect">
            <a:avLst/>
          </a:prstGeom>
          <a:noFill/>
        </p:spPr>
        <p:txBody>
          <a:bodyPr wrap="square" anchor="t" lIns="0" rIns="0" tIns="0" bIns="0">
            <a:spAutoFit/>
          </a:bodyPr>
          <a:lstStyle/>
          <a:p>
            <a:pPr algn="l">
              <a:lnSpc>
                <a:spcPct val="120000"/>
              </a:lnSpc>
              <a:spcAft>
                <a:spcPts val="400"/>
              </a:spcAft>
            </a:pPr>
            <a:r>
              <a:rPr sz="950" b="0">
                <a:solidFill>
                  <a:srgbClr val="6E7884"/>
                </a:solidFill>
                <a:latin typeface="맑은 고딕"/>
              </a:rPr>
              <a:t>코나·셀토스·트레일블레이저는 최상위 트림도 예산 안. 투싼은 H-Pick까지, 스포티지는 노블레스까지 가능하다. 투싼 인스퍼레이션은 단 5만원 차이로 아깝게 초과한다. 실제로는 남는 예산 안에서 옵션까지 채워야 하므로 선택지는 더 좁아진다.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02920" y="274320"/>
            <a:ext cx="50292" cy="384048"/>
          </a:xfrm>
          <a:prstGeom prst="rect">
            <a:avLst/>
          </a:prstGeom>
          <a:solidFill>
            <a:srgbClr val="E26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13232" y="219456"/>
            <a:ext cx="8778240" cy="457200"/>
          </a:xfrm>
          <a:prstGeom prst="rect">
            <a:avLst/>
          </a:prstGeom>
          <a:noFill/>
        </p:spPr>
        <p:txBody>
          <a:bodyPr wrap="square" anchor="t" lIns="0" rIns="0" tIns="0" bIns="0">
            <a:spAutoFit/>
          </a:bodyPr>
          <a:lstStyle/>
          <a:p>
            <a:pPr algn="l">
              <a:lnSpc>
                <a:spcPct val="115000"/>
              </a:lnSpc>
              <a:spcAft>
                <a:spcPts val="400"/>
              </a:spcAft>
            </a:pPr>
            <a:r>
              <a:rPr sz="2300" b="1">
                <a:solidFill>
                  <a:srgbClr val="FFFFFF"/>
                </a:solidFill>
                <a:latin typeface="맑은 고딕"/>
              </a:rPr>
              <a:t>예산 내 구매 가능 트림 — 하이브리드</a:t>
            </a:r>
          </a:p>
        </p:txBody>
      </p:sp>
      <p:sp>
        <p:nvSpPr>
          <p:cNvPr id="5" name="TextBox 4"/>
          <p:cNvSpPr txBox="1"/>
          <p:nvPr/>
        </p:nvSpPr>
        <p:spPr>
          <a:xfrm>
            <a:off x="9509760" y="329184"/>
            <a:ext cx="2194560" cy="365760"/>
          </a:xfrm>
          <a:prstGeom prst="rect">
            <a:avLst/>
          </a:prstGeom>
          <a:noFill/>
        </p:spPr>
        <p:txBody>
          <a:bodyPr wrap="square" anchor="t" lIns="0" rIns="0" tIns="0" bIns="0">
            <a:spAutoFit/>
          </a:bodyPr>
          <a:lstStyle/>
          <a:p>
            <a:pPr algn="r">
              <a:lnSpc>
                <a:spcPct val="115000"/>
              </a:lnSpc>
              <a:spcAft>
                <a:spcPts val="400"/>
              </a:spcAft>
            </a:pPr>
            <a:r>
              <a:rPr sz="1100" b="0">
                <a:solidFill>
                  <a:srgbClr val="A9BED2"/>
                </a:solidFill>
                <a:latin typeface="맑은 고딕"/>
              </a:rPr>
              <a:t>04 / 하이브리드</a:t>
            </a:r>
          </a:p>
        </p:txBody>
      </p:sp>
      <p:sp>
        <p:nvSpPr>
          <p:cNvPr id="6" name="TextBox 5"/>
          <p:cNvSpPr txBox="1"/>
          <p:nvPr/>
        </p:nvSpPr>
        <p:spPr>
          <a:xfrm>
            <a:off x="713232" y="1060704"/>
            <a:ext cx="10881360" cy="310896"/>
          </a:xfrm>
          <a:prstGeom prst="rect">
            <a:avLst/>
          </a:prstGeom>
          <a:noFill/>
        </p:spPr>
        <p:txBody>
          <a:bodyPr wrap="square" anchor="t" lIns="0" rIns="0" tIns="0" bIns="0">
            <a:spAutoFit/>
          </a:bodyPr>
          <a:lstStyle/>
          <a:p>
            <a:pPr algn="l">
              <a:lnSpc>
                <a:spcPct val="115000"/>
              </a:lnSpc>
              <a:spcAft>
                <a:spcPts val="400"/>
              </a:spcAft>
            </a:pPr>
            <a:r>
              <a:rPr sz="1250" b="0">
                <a:solidFill>
                  <a:srgbClr val="6E7884"/>
                </a:solidFill>
                <a:latin typeface="맑은 고딕"/>
              </a:rPr>
              <a:t>모두 친환경차 세제혜택(약 100만원) 반영 후 가격. 트레일블레이저는 하이브리드가 없다.</a:t>
            </a:r>
          </a:p>
        </p:txBody>
      </p:sp>
      <p:graphicFrame>
        <p:nvGraphicFramePr>
          <p:cNvPr id="7" name="Table 6"/>
          <p:cNvGraphicFramePr>
            <a:graphicFrameLocks noGrp="1"/>
          </p:cNvGraphicFramePr>
          <p:nvPr/>
        </p:nvGraphicFramePr>
        <p:xfrm>
          <a:off x="713232" y="1627632"/>
          <a:ext cx="10762485" cy="3429000"/>
        </p:xfrm>
        <a:graphic>
          <a:graphicData uri="http://schemas.openxmlformats.org/drawingml/2006/table">
            <a:tbl>
              <a:tblPr firstRow="1">
                <a:tableStyleId>{5C22544A-7EE6-4342-B048-85BDC9FD1C3A}</a:tableStyleId>
              </a:tblPr>
              <a:tblGrid>
                <a:gridCol w="1694095"/>
                <a:gridCol w="2590969"/>
                <a:gridCol w="1295484"/>
                <a:gridCol w="1694095"/>
                <a:gridCol w="1295484"/>
                <a:gridCol w="896874"/>
                <a:gridCol w="1295484"/>
              </a:tblGrid>
              <a:tr h="365760">
                <a:tc>
                  <a:txBody>
                    <a:bodyPr/>
                    <a:lstStyle/>
                    <a:p>
                      <a:pPr algn="l"/>
                      <a:r>
                        <a:rPr sz="1150" b="1">
                          <a:solidFill>
                            <a:srgbClr val="FFFFFF"/>
                          </a:solidFill>
                          <a:latin typeface="맑은 고딕"/>
                        </a:rPr>
                        <a:t>차종</a:t>
                      </a:r>
                    </a:p>
                  </a:txBody>
                  <a:tcPr marL="64008" marR="64008" marT="18288" marB="18288" anchor="ctr">
                    <a:solidFill>
                      <a:srgbClr val="102A43"/>
                    </a:solidFill>
                  </a:tcPr>
                </a:tc>
                <a:tc>
                  <a:txBody>
                    <a:bodyPr/>
                    <a:lstStyle/>
                    <a:p>
                      <a:pPr algn="ctr"/>
                      <a:r>
                        <a:rPr sz="1150" b="1">
                          <a:solidFill>
                            <a:srgbClr val="FFFFFF"/>
                          </a:solidFill>
                          <a:latin typeface="맑은 고딕"/>
                        </a:rPr>
                        <a:t>트림</a:t>
                      </a:r>
                    </a:p>
                  </a:txBody>
                  <a:tcPr marL="64008" marR="64008" marT="18288" marB="18288" anchor="ctr">
                    <a:solidFill>
                      <a:srgbClr val="102A43"/>
                    </a:solidFill>
                  </a:tcPr>
                </a:tc>
                <a:tc>
                  <a:txBody>
                    <a:bodyPr/>
                    <a:lstStyle/>
                    <a:p>
                      <a:pPr algn="ctr"/>
                      <a:r>
                        <a:rPr sz="1150" b="1">
                          <a:solidFill>
                            <a:srgbClr val="FFFFFF"/>
                          </a:solidFill>
                          <a:latin typeface="맑은 고딕"/>
                        </a:rPr>
                        <a:t>차량가</a:t>
                      </a:r>
                    </a:p>
                  </a:txBody>
                  <a:tcPr marL="64008" marR="64008" marT="18288" marB="18288" anchor="ctr">
                    <a:solidFill>
                      <a:srgbClr val="102A43"/>
                    </a:solidFill>
                  </a:tcPr>
                </a:tc>
                <a:tc>
                  <a:txBody>
                    <a:bodyPr/>
                    <a:lstStyle/>
                    <a:p>
                      <a:pPr algn="ctr"/>
                      <a:r>
                        <a:rPr sz="1150" b="1">
                          <a:solidFill>
                            <a:srgbClr val="FFFFFF"/>
                          </a:solidFill>
                          <a:latin typeface="맑은 고딕"/>
                        </a:rPr>
                        <a:t>취득세+등록비</a:t>
                      </a:r>
                    </a:p>
                  </a:txBody>
                  <a:tcPr marL="64008" marR="64008" marT="18288" marB="18288" anchor="ctr">
                    <a:solidFill>
                      <a:srgbClr val="102A43"/>
                    </a:solidFill>
                  </a:tcPr>
                </a:tc>
                <a:tc>
                  <a:txBody>
                    <a:bodyPr/>
                    <a:lstStyle/>
                    <a:p>
                      <a:pPr algn="ctr"/>
                      <a:r>
                        <a:rPr sz="1150" b="1">
                          <a:solidFill>
                            <a:srgbClr val="FFFFFF"/>
                          </a:solidFill>
                          <a:latin typeface="맑은 고딕"/>
                        </a:rPr>
                        <a:t>실구매가</a:t>
                      </a:r>
                    </a:p>
                  </a:txBody>
                  <a:tcPr marL="64008" marR="64008" marT="18288" marB="18288" anchor="ctr">
                    <a:solidFill>
                      <a:srgbClr val="102A43"/>
                    </a:solidFill>
                  </a:tcPr>
                </a:tc>
                <a:tc>
                  <a:txBody>
                    <a:bodyPr/>
                    <a:lstStyle/>
                    <a:p>
                      <a:pPr algn="ctr"/>
                      <a:r>
                        <a:rPr sz="1150" b="1">
                          <a:solidFill>
                            <a:srgbClr val="FFFFFF"/>
                          </a:solidFill>
                          <a:latin typeface="맑은 고딕"/>
                        </a:rPr>
                        <a:t>판정</a:t>
                      </a:r>
                    </a:p>
                  </a:txBody>
                  <a:tcPr marL="64008" marR="64008" marT="18288" marB="18288" anchor="ctr">
                    <a:solidFill>
                      <a:srgbClr val="102A43"/>
                    </a:solidFill>
                  </a:tcPr>
                </a:tc>
                <a:tc>
                  <a:txBody>
                    <a:bodyPr/>
                    <a:lstStyle/>
                    <a:p>
                      <a:pPr algn="ctr"/>
                      <a:r>
                        <a:rPr sz="1150" b="1">
                          <a:solidFill>
                            <a:srgbClr val="FFFFFF"/>
                          </a:solidFill>
                          <a:latin typeface="맑은 고딕"/>
                        </a:rPr>
                        <a:t>남는 예산</a:t>
                      </a:r>
                    </a:p>
                  </a:txBody>
                  <a:tcPr marL="64008" marR="64008" marT="18288" marB="18288" anchor="ctr">
                    <a:solidFill>
                      <a:srgbClr val="102A43"/>
                    </a:solidFill>
                  </a:tcPr>
                </a:tc>
              </a:tr>
              <a:tr h="306324">
                <a:tc>
                  <a:txBody>
                    <a:bodyPr/>
                    <a:lstStyle/>
                    <a:p>
                      <a:pPr algn="l"/>
                      <a:r>
                        <a:rPr sz="1150" b="0">
                          <a:solidFill>
                            <a:srgbClr val="242D38"/>
                          </a:solidFill>
                          <a:latin typeface="맑은 고딕"/>
                        </a:rPr>
                        <a:t>코나 HEV</a:t>
                      </a:r>
                    </a:p>
                  </a:txBody>
                  <a:tcPr marL="64008" marR="64008" marT="18288" marB="18288" anchor="ctr">
                    <a:solidFill>
                      <a:srgbClr val="E9F4EE"/>
                    </a:solidFill>
                  </a:tcPr>
                </a:tc>
                <a:tc>
                  <a:txBody>
                    <a:bodyPr/>
                    <a:lstStyle/>
                    <a:p>
                      <a:pPr algn="ctr"/>
                      <a:r>
                        <a:rPr sz="1150" b="0">
                          <a:solidFill>
                            <a:srgbClr val="242D38"/>
                          </a:solidFill>
                          <a:latin typeface="맑은 고딕"/>
                        </a:rPr>
                        <a:t>H-Pick</a:t>
                      </a:r>
                    </a:p>
                  </a:txBody>
                  <a:tcPr marL="64008" marR="64008" marT="18288" marB="18288" anchor="ctr">
                    <a:solidFill>
                      <a:srgbClr val="E9F4EE"/>
                    </a:solidFill>
                  </a:tcPr>
                </a:tc>
                <a:tc>
                  <a:txBody>
                    <a:bodyPr/>
                    <a:lstStyle/>
                    <a:p>
                      <a:pPr algn="ctr"/>
                      <a:r>
                        <a:rPr sz="1150" b="0">
                          <a:solidFill>
                            <a:srgbClr val="242D38"/>
                          </a:solidFill>
                          <a:latin typeface="맑은 고딕"/>
                        </a:rPr>
                        <a:t>3,120만</a:t>
                      </a:r>
                    </a:p>
                  </a:txBody>
                  <a:tcPr marL="64008" marR="64008" marT="18288" marB="18288" anchor="ctr">
                    <a:solidFill>
                      <a:srgbClr val="E9F4EE"/>
                    </a:solidFill>
                  </a:tcPr>
                </a:tc>
                <a:tc>
                  <a:txBody>
                    <a:bodyPr/>
                    <a:lstStyle/>
                    <a:p>
                      <a:pPr algn="ctr"/>
                      <a:r>
                        <a:rPr sz="1150" b="0">
                          <a:solidFill>
                            <a:srgbClr val="242D38"/>
                          </a:solidFill>
                          <a:latin typeface="맑은 고딕"/>
                        </a:rPr>
                        <a:t>229만</a:t>
                      </a:r>
                    </a:p>
                  </a:txBody>
                  <a:tcPr marL="64008" marR="64008" marT="18288" marB="18288" anchor="ctr">
                    <a:solidFill>
                      <a:srgbClr val="E9F4EE"/>
                    </a:solidFill>
                  </a:tcPr>
                </a:tc>
                <a:tc>
                  <a:txBody>
                    <a:bodyPr/>
                    <a:lstStyle/>
                    <a:p>
                      <a:pPr algn="ctr"/>
                      <a:r>
                        <a:rPr sz="1150" b="0">
                          <a:solidFill>
                            <a:srgbClr val="242D38"/>
                          </a:solidFill>
                          <a:latin typeface="맑은 고딕"/>
                        </a:rPr>
                        <a:t>3,349만</a:t>
                      </a:r>
                    </a:p>
                  </a:txBody>
                  <a:tcPr marL="64008" marR="64008" marT="18288" marB="18288" anchor="ctr">
                    <a:solidFill>
                      <a:srgbClr val="E9F4EE"/>
                    </a:solidFill>
                  </a:tcPr>
                </a:tc>
                <a:tc>
                  <a:txBody>
                    <a:bodyPr/>
                    <a:lstStyle/>
                    <a:p>
                      <a:pPr algn="ctr"/>
                      <a:r>
                        <a:rPr sz="1150" b="0">
                          <a:solidFill>
                            <a:srgbClr val="242D38"/>
                          </a:solidFill>
                          <a:latin typeface="맑은 고딕"/>
                        </a:rPr>
                        <a:t>가능</a:t>
                      </a:r>
                    </a:p>
                  </a:txBody>
                  <a:tcPr marL="64008" marR="64008" marT="18288" marB="18288" anchor="ctr">
                    <a:solidFill>
                      <a:srgbClr val="E9F4EE"/>
                    </a:solidFill>
                  </a:tcPr>
                </a:tc>
                <a:tc>
                  <a:txBody>
                    <a:bodyPr/>
                    <a:lstStyle/>
                    <a:p>
                      <a:pPr algn="ctr"/>
                      <a:r>
                        <a:rPr sz="1150" b="0">
                          <a:solidFill>
                            <a:srgbClr val="242D38"/>
                          </a:solidFill>
                          <a:latin typeface="맑은 고딕"/>
                        </a:rPr>
                        <a:t>351만</a:t>
                      </a:r>
                    </a:p>
                  </a:txBody>
                  <a:tcPr marL="64008" marR="64008" marT="18288" marB="18288" anchor="ctr">
                    <a:solidFill>
                      <a:srgbClr val="E9F4EE"/>
                    </a:solidFill>
                  </a:tcPr>
                </a:tc>
              </a:tr>
              <a:tr h="306324">
                <a:tc>
                  <a:txBody>
                    <a:bodyPr/>
                    <a:lstStyle/>
                    <a:p>
                      <a:pPr algn="l"/>
                      <a:r>
                        <a:rPr sz="1150" b="0">
                          <a:solidFill>
                            <a:srgbClr val="242D38"/>
                          </a:solidFill>
                          <a:latin typeface="맑은 고딕"/>
                        </a:rPr>
                        <a:t>코나 HEV</a:t>
                      </a:r>
                    </a:p>
                  </a:txBody>
                  <a:tcPr marL="64008" marR="64008" marT="18288" marB="18288" anchor="ctr">
                    <a:solidFill>
                      <a:srgbClr val="E9F4EE"/>
                    </a:solidFill>
                  </a:tcPr>
                </a:tc>
                <a:tc>
                  <a:txBody>
                    <a:bodyPr/>
                    <a:lstStyle/>
                    <a:p>
                      <a:pPr algn="ctr"/>
                      <a:r>
                        <a:rPr sz="1150" b="0">
                          <a:solidFill>
                            <a:srgbClr val="242D38"/>
                          </a:solidFill>
                          <a:latin typeface="맑은 고딕"/>
                        </a:rPr>
                        <a:t>프리미엄</a:t>
                      </a:r>
                    </a:p>
                  </a:txBody>
                  <a:tcPr marL="64008" marR="64008" marT="18288" marB="18288" anchor="ctr">
                    <a:solidFill>
                      <a:srgbClr val="E9F4EE"/>
                    </a:solidFill>
                  </a:tcPr>
                </a:tc>
                <a:tc>
                  <a:txBody>
                    <a:bodyPr/>
                    <a:lstStyle/>
                    <a:p>
                      <a:pPr algn="ctr"/>
                      <a:r>
                        <a:rPr sz="1150" b="0">
                          <a:solidFill>
                            <a:srgbClr val="242D38"/>
                          </a:solidFill>
                          <a:latin typeface="맑은 고딕"/>
                        </a:rPr>
                        <a:t>3,367만</a:t>
                      </a:r>
                    </a:p>
                  </a:txBody>
                  <a:tcPr marL="64008" marR="64008" marT="18288" marB="18288" anchor="ctr">
                    <a:solidFill>
                      <a:srgbClr val="E9F4EE"/>
                    </a:solidFill>
                  </a:tcPr>
                </a:tc>
                <a:tc>
                  <a:txBody>
                    <a:bodyPr/>
                    <a:lstStyle/>
                    <a:p>
                      <a:pPr algn="ctr"/>
                      <a:r>
                        <a:rPr sz="1150" b="0">
                          <a:solidFill>
                            <a:srgbClr val="242D38"/>
                          </a:solidFill>
                          <a:latin typeface="맑은 고딕"/>
                        </a:rPr>
                        <a:t>244만</a:t>
                      </a:r>
                    </a:p>
                  </a:txBody>
                  <a:tcPr marL="64008" marR="64008" marT="18288" marB="18288" anchor="ctr">
                    <a:solidFill>
                      <a:srgbClr val="E9F4EE"/>
                    </a:solidFill>
                  </a:tcPr>
                </a:tc>
                <a:tc>
                  <a:txBody>
                    <a:bodyPr/>
                    <a:lstStyle/>
                    <a:p>
                      <a:pPr algn="ctr"/>
                      <a:r>
                        <a:rPr sz="1150" b="0">
                          <a:solidFill>
                            <a:srgbClr val="242D38"/>
                          </a:solidFill>
                          <a:latin typeface="맑은 고딕"/>
                        </a:rPr>
                        <a:t>3,611만</a:t>
                      </a:r>
                    </a:p>
                  </a:txBody>
                  <a:tcPr marL="64008" marR="64008" marT="18288" marB="18288" anchor="ctr">
                    <a:solidFill>
                      <a:srgbClr val="E9F4EE"/>
                    </a:solidFill>
                  </a:tcPr>
                </a:tc>
                <a:tc>
                  <a:txBody>
                    <a:bodyPr/>
                    <a:lstStyle/>
                    <a:p>
                      <a:pPr algn="ctr"/>
                      <a:r>
                        <a:rPr sz="1150" b="0">
                          <a:solidFill>
                            <a:srgbClr val="242D38"/>
                          </a:solidFill>
                          <a:latin typeface="맑은 고딕"/>
                        </a:rPr>
                        <a:t>가능</a:t>
                      </a:r>
                    </a:p>
                  </a:txBody>
                  <a:tcPr marL="64008" marR="64008" marT="18288" marB="18288" anchor="ctr">
                    <a:solidFill>
                      <a:srgbClr val="E9F4EE"/>
                    </a:solidFill>
                  </a:tcPr>
                </a:tc>
                <a:tc>
                  <a:txBody>
                    <a:bodyPr/>
                    <a:lstStyle/>
                    <a:p>
                      <a:pPr algn="ctr"/>
                      <a:r>
                        <a:rPr sz="1150" b="0">
                          <a:solidFill>
                            <a:srgbClr val="242D38"/>
                          </a:solidFill>
                          <a:latin typeface="맑은 고딕"/>
                        </a:rPr>
                        <a:t>89만</a:t>
                      </a:r>
                    </a:p>
                  </a:txBody>
                  <a:tcPr marL="64008" marR="64008" marT="18288" marB="18288" anchor="ctr">
                    <a:solidFill>
                      <a:srgbClr val="E9F4EE"/>
                    </a:solidFill>
                  </a:tcPr>
                </a:tc>
              </a:tr>
              <a:tr h="306324">
                <a:tc>
                  <a:txBody>
                    <a:bodyPr/>
                    <a:lstStyle/>
                    <a:p>
                      <a:pPr algn="l"/>
                      <a:r>
                        <a:rPr sz="1150" b="0">
                          <a:solidFill>
                            <a:srgbClr val="242D38"/>
                          </a:solidFill>
                          <a:latin typeface="맑은 고딕"/>
                        </a:rPr>
                        <a:t>코나 HEV</a:t>
                      </a:r>
                    </a:p>
                  </a:txBody>
                  <a:tcPr marL="64008" marR="64008" marT="18288" marB="18288" anchor="ctr">
                    <a:solidFill>
                      <a:srgbClr val="FDECE8"/>
                    </a:solidFill>
                  </a:tcPr>
                </a:tc>
                <a:tc>
                  <a:txBody>
                    <a:bodyPr/>
                    <a:lstStyle/>
                    <a:p>
                      <a:pPr algn="ctr"/>
                      <a:r>
                        <a:rPr sz="1150" b="0">
                          <a:solidFill>
                            <a:srgbClr val="242D38"/>
                          </a:solidFill>
                          <a:latin typeface="맑은 고딕"/>
                        </a:rPr>
                        <a:t>인스퍼레이션 (최상위급)</a:t>
                      </a:r>
                    </a:p>
                  </a:txBody>
                  <a:tcPr marL="64008" marR="64008" marT="18288" marB="18288" anchor="ctr">
                    <a:solidFill>
                      <a:srgbClr val="FDECE8"/>
                    </a:solidFill>
                  </a:tcPr>
                </a:tc>
                <a:tc>
                  <a:txBody>
                    <a:bodyPr/>
                    <a:lstStyle/>
                    <a:p>
                      <a:pPr algn="ctr"/>
                      <a:r>
                        <a:rPr sz="1150" b="0">
                          <a:solidFill>
                            <a:srgbClr val="242D38"/>
                          </a:solidFill>
                          <a:latin typeface="맑은 고딕"/>
                        </a:rPr>
                        <a:t>3,563만</a:t>
                      </a:r>
                    </a:p>
                  </a:txBody>
                  <a:tcPr marL="64008" marR="64008" marT="18288" marB="18288" anchor="ctr">
                    <a:solidFill>
                      <a:srgbClr val="FDECE8"/>
                    </a:solidFill>
                  </a:tcPr>
                </a:tc>
                <a:tc>
                  <a:txBody>
                    <a:bodyPr/>
                    <a:lstStyle/>
                    <a:p>
                      <a:pPr algn="ctr"/>
                      <a:r>
                        <a:rPr sz="1150" b="0">
                          <a:solidFill>
                            <a:srgbClr val="242D38"/>
                          </a:solidFill>
                          <a:latin typeface="맑은 고딕"/>
                        </a:rPr>
                        <a:t>257만</a:t>
                      </a:r>
                    </a:p>
                  </a:txBody>
                  <a:tcPr marL="64008" marR="64008" marT="18288" marB="18288" anchor="ctr">
                    <a:solidFill>
                      <a:srgbClr val="FDECE8"/>
                    </a:solidFill>
                  </a:tcPr>
                </a:tc>
                <a:tc>
                  <a:txBody>
                    <a:bodyPr/>
                    <a:lstStyle/>
                    <a:p>
                      <a:pPr algn="ctr"/>
                      <a:r>
                        <a:rPr sz="1150" b="0">
                          <a:solidFill>
                            <a:srgbClr val="242D38"/>
                          </a:solidFill>
                          <a:latin typeface="맑은 고딕"/>
                        </a:rPr>
                        <a:t>3,820만</a:t>
                      </a:r>
                    </a:p>
                  </a:txBody>
                  <a:tcPr marL="64008" marR="64008" marT="18288" marB="18288" anchor="ctr">
                    <a:solidFill>
                      <a:srgbClr val="FDECE8"/>
                    </a:solidFill>
                  </a:tcPr>
                </a:tc>
                <a:tc>
                  <a:txBody>
                    <a:bodyPr/>
                    <a:lstStyle/>
                    <a:p>
                      <a:pPr algn="ctr"/>
                      <a:r>
                        <a:rPr sz="1150" b="0">
                          <a:solidFill>
                            <a:srgbClr val="242D38"/>
                          </a:solidFill>
                          <a:latin typeface="맑은 고딕"/>
                        </a:rPr>
                        <a:t>초과</a:t>
                      </a:r>
                    </a:p>
                  </a:txBody>
                  <a:tcPr marL="64008" marR="64008" marT="18288" marB="18288" anchor="ctr">
                    <a:solidFill>
                      <a:srgbClr val="FDECE8"/>
                    </a:solidFill>
                  </a:tcPr>
                </a:tc>
                <a:tc>
                  <a:txBody>
                    <a:bodyPr/>
                    <a:lstStyle/>
                    <a:p>
                      <a:pPr algn="ctr"/>
                      <a:r>
                        <a:rPr sz="1150" b="0">
                          <a:solidFill>
                            <a:srgbClr val="242D38"/>
                          </a:solidFill>
                          <a:latin typeface="맑은 고딕"/>
                        </a:rPr>
                        <a:t>-120만</a:t>
                      </a:r>
                    </a:p>
                  </a:txBody>
                  <a:tcPr marL="64008" marR="64008" marT="18288" marB="18288" anchor="ctr">
                    <a:solidFill>
                      <a:srgbClr val="FDECE8"/>
                    </a:solidFill>
                  </a:tcPr>
                </a:tc>
              </a:tr>
              <a:tr h="306324">
                <a:tc>
                  <a:txBody>
                    <a:bodyPr/>
                    <a:lstStyle/>
                    <a:p>
                      <a:pPr algn="l"/>
                      <a:r>
                        <a:rPr sz="1150" b="0">
                          <a:solidFill>
                            <a:srgbClr val="242D38"/>
                          </a:solidFill>
                          <a:latin typeface="맑은 고딕"/>
                        </a:rPr>
                        <a:t>셀토스 HEV</a:t>
                      </a:r>
                    </a:p>
                  </a:txBody>
                  <a:tcPr marL="64008" marR="64008" marT="18288" marB="18288" anchor="ctr">
                    <a:solidFill>
                      <a:srgbClr val="E9F4EE"/>
                    </a:solidFill>
                  </a:tcPr>
                </a:tc>
                <a:tc>
                  <a:txBody>
                    <a:bodyPr/>
                    <a:lstStyle/>
                    <a:p>
                      <a:pPr algn="ctr"/>
                      <a:r>
                        <a:rPr sz="1150" b="0">
                          <a:solidFill>
                            <a:srgbClr val="242D38"/>
                          </a:solidFill>
                          <a:latin typeface="맑은 고딕"/>
                        </a:rPr>
                        <a:t>트렌디</a:t>
                      </a:r>
                    </a:p>
                  </a:txBody>
                  <a:tcPr marL="64008" marR="64008" marT="18288" marB="18288" anchor="ctr">
                    <a:solidFill>
                      <a:srgbClr val="E9F4EE"/>
                    </a:solidFill>
                  </a:tcPr>
                </a:tc>
                <a:tc>
                  <a:txBody>
                    <a:bodyPr/>
                    <a:lstStyle/>
                    <a:p>
                      <a:pPr algn="ctr"/>
                      <a:r>
                        <a:rPr sz="1150" b="0">
                          <a:solidFill>
                            <a:srgbClr val="242D38"/>
                          </a:solidFill>
                          <a:latin typeface="맑은 고딕"/>
                        </a:rPr>
                        <a:t>2,940만</a:t>
                      </a:r>
                    </a:p>
                  </a:txBody>
                  <a:tcPr marL="64008" marR="64008" marT="18288" marB="18288" anchor="ctr">
                    <a:solidFill>
                      <a:srgbClr val="E9F4EE"/>
                    </a:solidFill>
                  </a:tcPr>
                </a:tc>
                <a:tc>
                  <a:txBody>
                    <a:bodyPr/>
                    <a:lstStyle/>
                    <a:p>
                      <a:pPr algn="ctr"/>
                      <a:r>
                        <a:rPr sz="1150" b="0">
                          <a:solidFill>
                            <a:srgbClr val="242D38"/>
                          </a:solidFill>
                          <a:latin typeface="맑은 고딕"/>
                        </a:rPr>
                        <a:t>217만</a:t>
                      </a:r>
                    </a:p>
                  </a:txBody>
                  <a:tcPr marL="64008" marR="64008" marT="18288" marB="18288" anchor="ctr">
                    <a:solidFill>
                      <a:srgbClr val="E9F4EE"/>
                    </a:solidFill>
                  </a:tcPr>
                </a:tc>
                <a:tc>
                  <a:txBody>
                    <a:bodyPr/>
                    <a:lstStyle/>
                    <a:p>
                      <a:pPr algn="ctr"/>
                      <a:r>
                        <a:rPr sz="1150" b="0">
                          <a:solidFill>
                            <a:srgbClr val="242D38"/>
                          </a:solidFill>
                          <a:latin typeface="맑은 고딕"/>
                        </a:rPr>
                        <a:t>3,157만</a:t>
                      </a:r>
                    </a:p>
                  </a:txBody>
                  <a:tcPr marL="64008" marR="64008" marT="18288" marB="18288" anchor="ctr">
                    <a:solidFill>
                      <a:srgbClr val="E9F4EE"/>
                    </a:solidFill>
                  </a:tcPr>
                </a:tc>
                <a:tc>
                  <a:txBody>
                    <a:bodyPr/>
                    <a:lstStyle/>
                    <a:p>
                      <a:pPr algn="ctr"/>
                      <a:r>
                        <a:rPr sz="1150" b="0">
                          <a:solidFill>
                            <a:srgbClr val="242D38"/>
                          </a:solidFill>
                          <a:latin typeface="맑은 고딕"/>
                        </a:rPr>
                        <a:t>가능</a:t>
                      </a:r>
                    </a:p>
                  </a:txBody>
                  <a:tcPr marL="64008" marR="64008" marT="18288" marB="18288" anchor="ctr">
                    <a:solidFill>
                      <a:srgbClr val="E9F4EE"/>
                    </a:solidFill>
                  </a:tcPr>
                </a:tc>
                <a:tc>
                  <a:txBody>
                    <a:bodyPr/>
                    <a:lstStyle/>
                    <a:p>
                      <a:pPr algn="ctr"/>
                      <a:r>
                        <a:rPr sz="1150" b="0">
                          <a:solidFill>
                            <a:srgbClr val="242D38"/>
                          </a:solidFill>
                          <a:latin typeface="맑은 고딕"/>
                        </a:rPr>
                        <a:t>543만</a:t>
                      </a:r>
                    </a:p>
                  </a:txBody>
                  <a:tcPr marL="64008" marR="64008" marT="18288" marB="18288" anchor="ctr">
                    <a:solidFill>
                      <a:srgbClr val="E9F4EE"/>
                    </a:solidFill>
                  </a:tcPr>
                </a:tc>
              </a:tr>
              <a:tr h="306324">
                <a:tc>
                  <a:txBody>
                    <a:bodyPr/>
                    <a:lstStyle/>
                    <a:p>
                      <a:pPr algn="l"/>
                      <a:r>
                        <a:rPr sz="1150" b="0">
                          <a:solidFill>
                            <a:srgbClr val="242D38"/>
                          </a:solidFill>
                          <a:latin typeface="맑은 고딕"/>
                        </a:rPr>
                        <a:t>셀토스 HEV</a:t>
                      </a:r>
                    </a:p>
                  </a:txBody>
                  <a:tcPr marL="64008" marR="64008" marT="18288" marB="18288" anchor="ctr">
                    <a:solidFill>
                      <a:srgbClr val="E9F4EE"/>
                    </a:solidFill>
                  </a:tcPr>
                </a:tc>
                <a:tc>
                  <a:txBody>
                    <a:bodyPr/>
                    <a:lstStyle/>
                    <a:p>
                      <a:pPr algn="ctr"/>
                      <a:r>
                        <a:rPr sz="1150" b="0">
                          <a:solidFill>
                            <a:srgbClr val="242D38"/>
                          </a:solidFill>
                          <a:latin typeface="맑은 고딕"/>
                        </a:rPr>
                        <a:t>프레스티지</a:t>
                      </a:r>
                    </a:p>
                  </a:txBody>
                  <a:tcPr marL="64008" marR="64008" marT="18288" marB="18288" anchor="ctr">
                    <a:solidFill>
                      <a:srgbClr val="E9F4EE"/>
                    </a:solidFill>
                  </a:tcPr>
                </a:tc>
                <a:tc>
                  <a:txBody>
                    <a:bodyPr/>
                    <a:lstStyle/>
                    <a:p>
                      <a:pPr algn="ctr"/>
                      <a:r>
                        <a:rPr sz="1150" b="0">
                          <a:solidFill>
                            <a:srgbClr val="242D38"/>
                          </a:solidFill>
                          <a:latin typeface="맑은 고딕"/>
                        </a:rPr>
                        <a:t>3,255만</a:t>
                      </a:r>
                    </a:p>
                  </a:txBody>
                  <a:tcPr marL="64008" marR="64008" marT="18288" marB="18288" anchor="ctr">
                    <a:solidFill>
                      <a:srgbClr val="E9F4EE"/>
                    </a:solidFill>
                  </a:tcPr>
                </a:tc>
                <a:tc>
                  <a:txBody>
                    <a:bodyPr/>
                    <a:lstStyle/>
                    <a:p>
                      <a:pPr algn="ctr"/>
                      <a:r>
                        <a:rPr sz="1150" b="0">
                          <a:solidFill>
                            <a:srgbClr val="242D38"/>
                          </a:solidFill>
                          <a:latin typeface="맑은 고딕"/>
                        </a:rPr>
                        <a:t>237만</a:t>
                      </a:r>
                    </a:p>
                  </a:txBody>
                  <a:tcPr marL="64008" marR="64008" marT="18288" marB="18288" anchor="ctr">
                    <a:solidFill>
                      <a:srgbClr val="E9F4EE"/>
                    </a:solidFill>
                  </a:tcPr>
                </a:tc>
                <a:tc>
                  <a:txBody>
                    <a:bodyPr/>
                    <a:lstStyle/>
                    <a:p>
                      <a:pPr algn="ctr"/>
                      <a:r>
                        <a:rPr sz="1150" b="0">
                          <a:solidFill>
                            <a:srgbClr val="242D38"/>
                          </a:solidFill>
                          <a:latin typeface="맑은 고딕"/>
                        </a:rPr>
                        <a:t>3,492만</a:t>
                      </a:r>
                    </a:p>
                  </a:txBody>
                  <a:tcPr marL="64008" marR="64008" marT="18288" marB="18288" anchor="ctr">
                    <a:solidFill>
                      <a:srgbClr val="E9F4EE"/>
                    </a:solidFill>
                  </a:tcPr>
                </a:tc>
                <a:tc>
                  <a:txBody>
                    <a:bodyPr/>
                    <a:lstStyle/>
                    <a:p>
                      <a:pPr algn="ctr"/>
                      <a:r>
                        <a:rPr sz="1150" b="0">
                          <a:solidFill>
                            <a:srgbClr val="242D38"/>
                          </a:solidFill>
                          <a:latin typeface="맑은 고딕"/>
                        </a:rPr>
                        <a:t>가능</a:t>
                      </a:r>
                    </a:p>
                  </a:txBody>
                  <a:tcPr marL="64008" marR="64008" marT="18288" marB="18288" anchor="ctr">
                    <a:solidFill>
                      <a:srgbClr val="E9F4EE"/>
                    </a:solidFill>
                  </a:tcPr>
                </a:tc>
                <a:tc>
                  <a:txBody>
                    <a:bodyPr/>
                    <a:lstStyle/>
                    <a:p>
                      <a:pPr algn="ctr"/>
                      <a:r>
                        <a:rPr sz="1150" b="0">
                          <a:solidFill>
                            <a:srgbClr val="242D38"/>
                          </a:solidFill>
                          <a:latin typeface="맑은 고딕"/>
                        </a:rPr>
                        <a:t>208만</a:t>
                      </a:r>
                    </a:p>
                  </a:txBody>
                  <a:tcPr marL="64008" marR="64008" marT="18288" marB="18288" anchor="ctr">
                    <a:solidFill>
                      <a:srgbClr val="E9F4EE"/>
                    </a:solidFill>
                  </a:tcPr>
                </a:tc>
              </a:tr>
              <a:tr h="306324">
                <a:tc>
                  <a:txBody>
                    <a:bodyPr/>
                    <a:lstStyle/>
                    <a:p>
                      <a:pPr algn="l"/>
                      <a:r>
                        <a:rPr sz="1150" b="0">
                          <a:solidFill>
                            <a:srgbClr val="242D38"/>
                          </a:solidFill>
                          <a:latin typeface="맑은 고딕"/>
                        </a:rPr>
                        <a:t>셀토스 HEV</a:t>
                      </a:r>
                    </a:p>
                  </a:txBody>
                  <a:tcPr marL="64008" marR="64008" marT="18288" marB="18288" anchor="ctr">
                    <a:solidFill>
                      <a:srgbClr val="FDECE8"/>
                    </a:solidFill>
                  </a:tcPr>
                </a:tc>
                <a:tc>
                  <a:txBody>
                    <a:bodyPr/>
                    <a:lstStyle/>
                    <a:p>
                      <a:pPr algn="ctr"/>
                      <a:r>
                        <a:rPr sz="1150" b="0">
                          <a:solidFill>
                            <a:srgbClr val="242D38"/>
                          </a:solidFill>
                          <a:latin typeface="맑은 고딕"/>
                        </a:rPr>
                        <a:t>시그니처</a:t>
                      </a:r>
                    </a:p>
                  </a:txBody>
                  <a:tcPr marL="64008" marR="64008" marT="18288" marB="18288" anchor="ctr">
                    <a:solidFill>
                      <a:srgbClr val="FDECE8"/>
                    </a:solidFill>
                  </a:tcPr>
                </a:tc>
                <a:tc>
                  <a:txBody>
                    <a:bodyPr/>
                    <a:lstStyle/>
                    <a:p>
                      <a:pPr algn="ctr"/>
                      <a:r>
                        <a:rPr sz="1150" b="0">
                          <a:solidFill>
                            <a:srgbClr val="242D38"/>
                          </a:solidFill>
                          <a:latin typeface="맑은 고딕"/>
                        </a:rPr>
                        <a:t>3,520만</a:t>
                      </a:r>
                    </a:p>
                  </a:txBody>
                  <a:tcPr marL="64008" marR="64008" marT="18288" marB="18288" anchor="ctr">
                    <a:solidFill>
                      <a:srgbClr val="FDECE8"/>
                    </a:solidFill>
                  </a:tcPr>
                </a:tc>
                <a:tc>
                  <a:txBody>
                    <a:bodyPr/>
                    <a:lstStyle/>
                    <a:p>
                      <a:pPr algn="ctr"/>
                      <a:r>
                        <a:rPr sz="1150" b="0">
                          <a:solidFill>
                            <a:srgbClr val="242D38"/>
                          </a:solidFill>
                          <a:latin typeface="맑은 고딕"/>
                        </a:rPr>
                        <a:t>254만</a:t>
                      </a:r>
                    </a:p>
                  </a:txBody>
                  <a:tcPr marL="64008" marR="64008" marT="18288" marB="18288" anchor="ctr">
                    <a:solidFill>
                      <a:srgbClr val="FDECE8"/>
                    </a:solidFill>
                  </a:tcPr>
                </a:tc>
                <a:tc>
                  <a:txBody>
                    <a:bodyPr/>
                    <a:lstStyle/>
                    <a:p>
                      <a:pPr algn="ctr"/>
                      <a:r>
                        <a:rPr sz="1150" b="0">
                          <a:solidFill>
                            <a:srgbClr val="242D38"/>
                          </a:solidFill>
                          <a:latin typeface="맑은 고딕"/>
                        </a:rPr>
                        <a:t>3,774만</a:t>
                      </a:r>
                    </a:p>
                  </a:txBody>
                  <a:tcPr marL="64008" marR="64008" marT="18288" marB="18288" anchor="ctr">
                    <a:solidFill>
                      <a:srgbClr val="FDECE8"/>
                    </a:solidFill>
                  </a:tcPr>
                </a:tc>
                <a:tc>
                  <a:txBody>
                    <a:bodyPr/>
                    <a:lstStyle/>
                    <a:p>
                      <a:pPr algn="ctr"/>
                      <a:r>
                        <a:rPr sz="1150" b="0">
                          <a:solidFill>
                            <a:srgbClr val="242D38"/>
                          </a:solidFill>
                          <a:latin typeface="맑은 고딕"/>
                        </a:rPr>
                        <a:t>초과</a:t>
                      </a:r>
                    </a:p>
                  </a:txBody>
                  <a:tcPr marL="64008" marR="64008" marT="18288" marB="18288" anchor="ctr">
                    <a:solidFill>
                      <a:srgbClr val="FDECE8"/>
                    </a:solidFill>
                  </a:tcPr>
                </a:tc>
                <a:tc>
                  <a:txBody>
                    <a:bodyPr/>
                    <a:lstStyle/>
                    <a:p>
                      <a:pPr algn="ctr"/>
                      <a:r>
                        <a:rPr sz="1150" b="0">
                          <a:solidFill>
                            <a:srgbClr val="242D38"/>
                          </a:solidFill>
                          <a:latin typeface="맑은 고딕"/>
                        </a:rPr>
                        <a:t>-74만</a:t>
                      </a:r>
                    </a:p>
                  </a:txBody>
                  <a:tcPr marL="64008" marR="64008" marT="18288" marB="18288" anchor="ctr">
                    <a:solidFill>
                      <a:srgbClr val="FDECE8"/>
                    </a:solidFill>
                  </a:tcPr>
                </a:tc>
              </a:tr>
              <a:tr h="306324">
                <a:tc>
                  <a:txBody>
                    <a:bodyPr/>
                    <a:lstStyle/>
                    <a:p>
                      <a:pPr algn="l"/>
                      <a:r>
                        <a:rPr sz="1150" b="0">
                          <a:solidFill>
                            <a:srgbClr val="242D38"/>
                          </a:solidFill>
                          <a:latin typeface="맑은 고딕"/>
                        </a:rPr>
                        <a:t>투싼 HEV</a:t>
                      </a:r>
                    </a:p>
                  </a:txBody>
                  <a:tcPr marL="64008" marR="64008" marT="18288" marB="18288" anchor="ctr">
                    <a:solidFill>
                      <a:srgbClr val="E9F4EE"/>
                    </a:solidFill>
                  </a:tcPr>
                </a:tc>
                <a:tc>
                  <a:txBody>
                    <a:bodyPr/>
                    <a:lstStyle/>
                    <a:p>
                      <a:pPr algn="ctr"/>
                      <a:r>
                        <a:rPr sz="1150" b="0">
                          <a:solidFill>
                            <a:srgbClr val="242D38"/>
                          </a:solidFill>
                          <a:latin typeface="맑은 고딕"/>
                        </a:rPr>
                        <a:t>모던 (최하위)</a:t>
                      </a:r>
                    </a:p>
                  </a:txBody>
                  <a:tcPr marL="64008" marR="64008" marT="18288" marB="18288" anchor="ctr">
                    <a:solidFill>
                      <a:srgbClr val="E9F4EE"/>
                    </a:solidFill>
                  </a:tcPr>
                </a:tc>
                <a:tc>
                  <a:txBody>
                    <a:bodyPr/>
                    <a:lstStyle/>
                    <a:p>
                      <a:pPr algn="ctr"/>
                      <a:r>
                        <a:rPr sz="1150" b="0">
                          <a:solidFill>
                            <a:srgbClr val="242D38"/>
                          </a:solidFill>
                          <a:latin typeface="맑은 고딕"/>
                        </a:rPr>
                        <a:t>3,318만</a:t>
                      </a:r>
                    </a:p>
                  </a:txBody>
                  <a:tcPr marL="64008" marR="64008" marT="18288" marB="18288" anchor="ctr">
                    <a:solidFill>
                      <a:srgbClr val="E9F4EE"/>
                    </a:solidFill>
                  </a:tcPr>
                </a:tc>
                <a:tc>
                  <a:txBody>
                    <a:bodyPr/>
                    <a:lstStyle/>
                    <a:p>
                      <a:pPr algn="ctr"/>
                      <a:r>
                        <a:rPr sz="1150" b="0">
                          <a:solidFill>
                            <a:srgbClr val="242D38"/>
                          </a:solidFill>
                          <a:latin typeface="맑은 고딕"/>
                        </a:rPr>
                        <a:t>241만</a:t>
                      </a:r>
                    </a:p>
                  </a:txBody>
                  <a:tcPr marL="64008" marR="64008" marT="18288" marB="18288" anchor="ctr">
                    <a:solidFill>
                      <a:srgbClr val="E9F4EE"/>
                    </a:solidFill>
                  </a:tcPr>
                </a:tc>
                <a:tc>
                  <a:txBody>
                    <a:bodyPr/>
                    <a:lstStyle/>
                    <a:p>
                      <a:pPr algn="ctr"/>
                      <a:r>
                        <a:rPr sz="1150" b="0">
                          <a:solidFill>
                            <a:srgbClr val="242D38"/>
                          </a:solidFill>
                          <a:latin typeface="맑은 고딕"/>
                        </a:rPr>
                        <a:t>3,559만</a:t>
                      </a:r>
                    </a:p>
                  </a:txBody>
                  <a:tcPr marL="64008" marR="64008" marT="18288" marB="18288" anchor="ctr">
                    <a:solidFill>
                      <a:srgbClr val="E9F4EE"/>
                    </a:solidFill>
                  </a:tcPr>
                </a:tc>
                <a:tc>
                  <a:txBody>
                    <a:bodyPr/>
                    <a:lstStyle/>
                    <a:p>
                      <a:pPr algn="ctr"/>
                      <a:r>
                        <a:rPr sz="1150" b="0">
                          <a:solidFill>
                            <a:srgbClr val="242D38"/>
                          </a:solidFill>
                          <a:latin typeface="맑은 고딕"/>
                        </a:rPr>
                        <a:t>가능</a:t>
                      </a:r>
                    </a:p>
                  </a:txBody>
                  <a:tcPr marL="64008" marR="64008" marT="18288" marB="18288" anchor="ctr">
                    <a:solidFill>
                      <a:srgbClr val="E9F4EE"/>
                    </a:solidFill>
                  </a:tcPr>
                </a:tc>
                <a:tc>
                  <a:txBody>
                    <a:bodyPr/>
                    <a:lstStyle/>
                    <a:p>
                      <a:pPr algn="ctr"/>
                      <a:r>
                        <a:rPr sz="1150" b="0">
                          <a:solidFill>
                            <a:srgbClr val="242D38"/>
                          </a:solidFill>
                          <a:latin typeface="맑은 고딕"/>
                        </a:rPr>
                        <a:t>141만</a:t>
                      </a:r>
                    </a:p>
                  </a:txBody>
                  <a:tcPr marL="64008" marR="64008" marT="18288" marB="18288" anchor="ctr">
                    <a:solidFill>
                      <a:srgbClr val="E9F4EE"/>
                    </a:solidFill>
                  </a:tcPr>
                </a:tc>
              </a:tr>
              <a:tr h="306324">
                <a:tc>
                  <a:txBody>
                    <a:bodyPr/>
                    <a:lstStyle/>
                    <a:p>
                      <a:pPr algn="l"/>
                      <a:r>
                        <a:rPr sz="1150" b="0">
                          <a:solidFill>
                            <a:srgbClr val="242D38"/>
                          </a:solidFill>
                          <a:latin typeface="맑은 고딕"/>
                        </a:rPr>
                        <a:t>투싼 HEV</a:t>
                      </a:r>
                    </a:p>
                  </a:txBody>
                  <a:tcPr marL="64008" marR="64008" marT="18288" marB="18288" anchor="ctr">
                    <a:solidFill>
                      <a:srgbClr val="FDECE8"/>
                    </a:solidFill>
                  </a:tcPr>
                </a:tc>
                <a:tc>
                  <a:txBody>
                    <a:bodyPr/>
                    <a:lstStyle/>
                    <a:p>
                      <a:pPr algn="ctr"/>
                      <a:r>
                        <a:rPr sz="1150" b="0">
                          <a:solidFill>
                            <a:srgbClr val="242D38"/>
                          </a:solidFill>
                          <a:latin typeface="맑은 고딕"/>
                        </a:rPr>
                        <a:t>프리미엄</a:t>
                      </a:r>
                    </a:p>
                  </a:txBody>
                  <a:tcPr marL="64008" marR="64008" marT="18288" marB="18288" anchor="ctr">
                    <a:solidFill>
                      <a:srgbClr val="FDECE8"/>
                    </a:solidFill>
                  </a:tcPr>
                </a:tc>
                <a:tc>
                  <a:txBody>
                    <a:bodyPr/>
                    <a:lstStyle/>
                    <a:p>
                      <a:pPr algn="ctr"/>
                      <a:r>
                        <a:rPr sz="1150" b="0">
                          <a:solidFill>
                            <a:srgbClr val="242D38"/>
                          </a:solidFill>
                          <a:latin typeface="맑은 고딕"/>
                        </a:rPr>
                        <a:t>3,565만</a:t>
                      </a:r>
                    </a:p>
                  </a:txBody>
                  <a:tcPr marL="64008" marR="64008" marT="18288" marB="18288" anchor="ctr">
                    <a:solidFill>
                      <a:srgbClr val="FDECE8"/>
                    </a:solidFill>
                  </a:tcPr>
                </a:tc>
                <a:tc>
                  <a:txBody>
                    <a:bodyPr/>
                    <a:lstStyle/>
                    <a:p>
                      <a:pPr algn="ctr"/>
                      <a:r>
                        <a:rPr sz="1150" b="0">
                          <a:solidFill>
                            <a:srgbClr val="242D38"/>
                          </a:solidFill>
                          <a:latin typeface="맑은 고딕"/>
                        </a:rPr>
                        <a:t>257만</a:t>
                      </a:r>
                    </a:p>
                  </a:txBody>
                  <a:tcPr marL="64008" marR="64008" marT="18288" marB="18288" anchor="ctr">
                    <a:solidFill>
                      <a:srgbClr val="FDECE8"/>
                    </a:solidFill>
                  </a:tcPr>
                </a:tc>
                <a:tc>
                  <a:txBody>
                    <a:bodyPr/>
                    <a:lstStyle/>
                    <a:p>
                      <a:pPr algn="ctr"/>
                      <a:r>
                        <a:rPr sz="1150" b="0">
                          <a:solidFill>
                            <a:srgbClr val="242D38"/>
                          </a:solidFill>
                          <a:latin typeface="맑은 고딕"/>
                        </a:rPr>
                        <a:t>3,822만</a:t>
                      </a:r>
                    </a:p>
                  </a:txBody>
                  <a:tcPr marL="64008" marR="64008" marT="18288" marB="18288" anchor="ctr">
                    <a:solidFill>
                      <a:srgbClr val="FDECE8"/>
                    </a:solidFill>
                  </a:tcPr>
                </a:tc>
                <a:tc>
                  <a:txBody>
                    <a:bodyPr/>
                    <a:lstStyle/>
                    <a:p>
                      <a:pPr algn="ctr"/>
                      <a:r>
                        <a:rPr sz="1150" b="0">
                          <a:solidFill>
                            <a:srgbClr val="242D38"/>
                          </a:solidFill>
                          <a:latin typeface="맑은 고딕"/>
                        </a:rPr>
                        <a:t>초과</a:t>
                      </a:r>
                    </a:p>
                  </a:txBody>
                  <a:tcPr marL="64008" marR="64008" marT="18288" marB="18288" anchor="ctr">
                    <a:solidFill>
                      <a:srgbClr val="FDECE8"/>
                    </a:solidFill>
                  </a:tcPr>
                </a:tc>
                <a:tc>
                  <a:txBody>
                    <a:bodyPr/>
                    <a:lstStyle/>
                    <a:p>
                      <a:pPr algn="ctr"/>
                      <a:r>
                        <a:rPr sz="1150" b="0">
                          <a:solidFill>
                            <a:srgbClr val="242D38"/>
                          </a:solidFill>
                          <a:latin typeface="맑은 고딕"/>
                        </a:rPr>
                        <a:t>-122만</a:t>
                      </a:r>
                    </a:p>
                  </a:txBody>
                  <a:tcPr marL="64008" marR="64008" marT="18288" marB="18288" anchor="ctr">
                    <a:solidFill>
                      <a:srgbClr val="FDECE8"/>
                    </a:solidFill>
                  </a:tcPr>
                </a:tc>
              </a:tr>
              <a:tr h="306324">
                <a:tc>
                  <a:txBody>
                    <a:bodyPr/>
                    <a:lstStyle/>
                    <a:p>
                      <a:pPr algn="l"/>
                      <a:r>
                        <a:rPr sz="1150" b="0">
                          <a:solidFill>
                            <a:srgbClr val="242D38"/>
                          </a:solidFill>
                          <a:latin typeface="맑은 고딕"/>
                        </a:rPr>
                        <a:t>스포티지 HEV</a:t>
                      </a:r>
                    </a:p>
                  </a:txBody>
                  <a:tcPr marL="64008" marR="64008" marT="18288" marB="18288" anchor="ctr">
                    <a:solidFill>
                      <a:srgbClr val="E9F4EE"/>
                    </a:solidFill>
                  </a:tcPr>
                </a:tc>
                <a:tc>
                  <a:txBody>
                    <a:bodyPr/>
                    <a:lstStyle/>
                    <a:p>
                      <a:pPr algn="ctr"/>
                      <a:r>
                        <a:rPr sz="1150" b="0">
                          <a:solidFill>
                            <a:srgbClr val="242D38"/>
                          </a:solidFill>
                          <a:latin typeface="맑은 고딕"/>
                        </a:rPr>
                        <a:t>프레스티지 (최하위)</a:t>
                      </a:r>
                    </a:p>
                  </a:txBody>
                  <a:tcPr marL="64008" marR="64008" marT="18288" marB="18288" anchor="ctr">
                    <a:solidFill>
                      <a:srgbClr val="E9F4EE"/>
                    </a:solidFill>
                  </a:tcPr>
                </a:tc>
                <a:tc>
                  <a:txBody>
                    <a:bodyPr/>
                    <a:lstStyle/>
                    <a:p>
                      <a:pPr algn="ctr"/>
                      <a:r>
                        <a:rPr sz="1150" b="0">
                          <a:solidFill>
                            <a:srgbClr val="242D38"/>
                          </a:solidFill>
                          <a:latin typeface="맑은 고딕"/>
                        </a:rPr>
                        <a:t>3,436만</a:t>
                      </a:r>
                    </a:p>
                  </a:txBody>
                  <a:tcPr marL="64008" marR="64008" marT="18288" marB="18288" anchor="ctr">
                    <a:solidFill>
                      <a:srgbClr val="E9F4EE"/>
                    </a:solidFill>
                  </a:tcPr>
                </a:tc>
                <a:tc>
                  <a:txBody>
                    <a:bodyPr/>
                    <a:lstStyle/>
                    <a:p>
                      <a:pPr algn="ctr"/>
                      <a:r>
                        <a:rPr sz="1150" b="0">
                          <a:solidFill>
                            <a:srgbClr val="242D38"/>
                          </a:solidFill>
                          <a:latin typeface="맑은 고딕"/>
                        </a:rPr>
                        <a:t>249만</a:t>
                      </a:r>
                    </a:p>
                  </a:txBody>
                  <a:tcPr marL="64008" marR="64008" marT="18288" marB="18288" anchor="ctr">
                    <a:solidFill>
                      <a:srgbClr val="E9F4EE"/>
                    </a:solidFill>
                  </a:tcPr>
                </a:tc>
                <a:tc>
                  <a:txBody>
                    <a:bodyPr/>
                    <a:lstStyle/>
                    <a:p>
                      <a:pPr algn="ctr"/>
                      <a:r>
                        <a:rPr sz="1150" b="0">
                          <a:solidFill>
                            <a:srgbClr val="242D38"/>
                          </a:solidFill>
                          <a:latin typeface="맑은 고딕"/>
                        </a:rPr>
                        <a:t>3,685만</a:t>
                      </a:r>
                    </a:p>
                  </a:txBody>
                  <a:tcPr marL="64008" marR="64008" marT="18288" marB="18288" anchor="ctr">
                    <a:solidFill>
                      <a:srgbClr val="E9F4EE"/>
                    </a:solidFill>
                  </a:tcPr>
                </a:tc>
                <a:tc>
                  <a:txBody>
                    <a:bodyPr/>
                    <a:lstStyle/>
                    <a:p>
                      <a:pPr algn="ctr"/>
                      <a:r>
                        <a:rPr sz="1150" b="0">
                          <a:solidFill>
                            <a:srgbClr val="242D38"/>
                          </a:solidFill>
                          <a:latin typeface="맑은 고딕"/>
                        </a:rPr>
                        <a:t>가능</a:t>
                      </a:r>
                    </a:p>
                  </a:txBody>
                  <a:tcPr marL="64008" marR="64008" marT="18288" marB="18288" anchor="ctr">
                    <a:solidFill>
                      <a:srgbClr val="E9F4EE"/>
                    </a:solidFill>
                  </a:tcPr>
                </a:tc>
                <a:tc>
                  <a:txBody>
                    <a:bodyPr/>
                    <a:lstStyle/>
                    <a:p>
                      <a:pPr algn="ctr"/>
                      <a:r>
                        <a:rPr sz="1150" b="0">
                          <a:solidFill>
                            <a:srgbClr val="242D38"/>
                          </a:solidFill>
                          <a:latin typeface="맑은 고딕"/>
                        </a:rPr>
                        <a:t>15만</a:t>
                      </a:r>
                    </a:p>
                  </a:txBody>
                  <a:tcPr marL="64008" marR="64008" marT="18288" marB="18288" anchor="ctr">
                    <a:solidFill>
                      <a:srgbClr val="E9F4EE"/>
                    </a:solidFill>
                  </a:tcPr>
                </a:tc>
              </a:tr>
              <a:tr h="306324">
                <a:tc>
                  <a:txBody>
                    <a:bodyPr/>
                    <a:lstStyle/>
                    <a:p>
                      <a:pPr algn="l"/>
                      <a:r>
                        <a:rPr sz="1150" b="0">
                          <a:solidFill>
                            <a:srgbClr val="242D38"/>
                          </a:solidFill>
                          <a:latin typeface="맑은 고딕"/>
                        </a:rPr>
                        <a:t>스포티지 HEV</a:t>
                      </a:r>
                    </a:p>
                  </a:txBody>
                  <a:tcPr marL="64008" marR="64008" marT="18288" marB="18288" anchor="ctr">
                    <a:solidFill>
                      <a:srgbClr val="FDECE8"/>
                    </a:solidFill>
                  </a:tcPr>
                </a:tc>
                <a:tc>
                  <a:txBody>
                    <a:bodyPr/>
                    <a:lstStyle/>
                    <a:p>
                      <a:pPr algn="ctr"/>
                      <a:r>
                        <a:rPr sz="1150" b="0">
                          <a:solidFill>
                            <a:srgbClr val="242D38"/>
                          </a:solidFill>
                          <a:latin typeface="맑은 고딕"/>
                        </a:rPr>
                        <a:t>노블레스</a:t>
                      </a:r>
                    </a:p>
                  </a:txBody>
                  <a:tcPr marL="64008" marR="64008" marT="18288" marB="18288" anchor="ctr">
                    <a:solidFill>
                      <a:srgbClr val="FDECE8"/>
                    </a:solidFill>
                  </a:tcPr>
                </a:tc>
                <a:tc>
                  <a:txBody>
                    <a:bodyPr/>
                    <a:lstStyle/>
                    <a:p>
                      <a:pPr algn="ctr"/>
                      <a:r>
                        <a:rPr sz="1150" b="0">
                          <a:solidFill>
                            <a:srgbClr val="242D38"/>
                          </a:solidFill>
                          <a:latin typeface="맑은 고딕"/>
                        </a:rPr>
                        <a:t>3,803만</a:t>
                      </a:r>
                    </a:p>
                  </a:txBody>
                  <a:tcPr marL="64008" marR="64008" marT="18288" marB="18288" anchor="ctr">
                    <a:solidFill>
                      <a:srgbClr val="FDECE8"/>
                    </a:solidFill>
                  </a:tcPr>
                </a:tc>
                <a:tc>
                  <a:txBody>
                    <a:bodyPr/>
                    <a:lstStyle/>
                    <a:p>
                      <a:pPr algn="ctr"/>
                      <a:r>
                        <a:rPr sz="1150" b="0">
                          <a:solidFill>
                            <a:srgbClr val="242D38"/>
                          </a:solidFill>
                          <a:latin typeface="맑은 고딕"/>
                        </a:rPr>
                        <a:t>272만</a:t>
                      </a:r>
                    </a:p>
                  </a:txBody>
                  <a:tcPr marL="64008" marR="64008" marT="18288" marB="18288" anchor="ctr">
                    <a:solidFill>
                      <a:srgbClr val="FDECE8"/>
                    </a:solidFill>
                  </a:tcPr>
                </a:tc>
                <a:tc>
                  <a:txBody>
                    <a:bodyPr/>
                    <a:lstStyle/>
                    <a:p>
                      <a:pPr algn="ctr"/>
                      <a:r>
                        <a:rPr sz="1150" b="0">
                          <a:solidFill>
                            <a:srgbClr val="242D38"/>
                          </a:solidFill>
                          <a:latin typeface="맑은 고딕"/>
                        </a:rPr>
                        <a:t>4,075만</a:t>
                      </a:r>
                    </a:p>
                  </a:txBody>
                  <a:tcPr marL="64008" marR="64008" marT="18288" marB="18288" anchor="ctr">
                    <a:solidFill>
                      <a:srgbClr val="FDECE8"/>
                    </a:solidFill>
                  </a:tcPr>
                </a:tc>
                <a:tc>
                  <a:txBody>
                    <a:bodyPr/>
                    <a:lstStyle/>
                    <a:p>
                      <a:pPr algn="ctr"/>
                      <a:r>
                        <a:rPr sz="1150" b="0">
                          <a:solidFill>
                            <a:srgbClr val="242D38"/>
                          </a:solidFill>
                          <a:latin typeface="맑은 고딕"/>
                        </a:rPr>
                        <a:t>초과</a:t>
                      </a:r>
                    </a:p>
                  </a:txBody>
                  <a:tcPr marL="64008" marR="64008" marT="18288" marB="18288" anchor="ctr">
                    <a:solidFill>
                      <a:srgbClr val="FDECE8"/>
                    </a:solidFill>
                  </a:tcPr>
                </a:tc>
                <a:tc>
                  <a:txBody>
                    <a:bodyPr/>
                    <a:lstStyle/>
                    <a:p>
                      <a:pPr algn="ctr"/>
                      <a:r>
                        <a:rPr sz="1150" b="0">
                          <a:solidFill>
                            <a:srgbClr val="242D38"/>
                          </a:solidFill>
                          <a:latin typeface="맑은 고딕"/>
                        </a:rPr>
                        <a:t>-375만</a:t>
                      </a:r>
                    </a:p>
                  </a:txBody>
                  <a:tcPr marL="64008" marR="64008" marT="18288" marB="18288" anchor="ctr">
                    <a:solidFill>
                      <a:srgbClr val="FDECE8"/>
                    </a:solidFill>
                  </a:tcPr>
                </a:tc>
              </a:tr>
            </a:tbl>
          </a:graphicData>
        </a:graphic>
      </p:graphicFrame>
      <p:sp>
        <p:nvSpPr>
          <p:cNvPr id="8" name="TextBox 7"/>
          <p:cNvSpPr txBox="1"/>
          <p:nvPr/>
        </p:nvSpPr>
        <p:spPr>
          <a:xfrm>
            <a:off x="713232" y="6327648"/>
            <a:ext cx="10881360" cy="365760"/>
          </a:xfrm>
          <a:prstGeom prst="rect">
            <a:avLst/>
          </a:prstGeom>
          <a:noFill/>
        </p:spPr>
        <p:txBody>
          <a:bodyPr wrap="square" anchor="t" lIns="0" rIns="0" tIns="0" bIns="0">
            <a:spAutoFit/>
          </a:bodyPr>
          <a:lstStyle/>
          <a:p>
            <a:pPr algn="l">
              <a:lnSpc>
                <a:spcPct val="120000"/>
              </a:lnSpc>
              <a:spcAft>
                <a:spcPts val="400"/>
              </a:spcAft>
            </a:pPr>
            <a:r>
              <a:rPr sz="950" b="0">
                <a:solidFill>
                  <a:srgbClr val="6E7884"/>
                </a:solidFill>
                <a:latin typeface="맑은 고딕"/>
              </a:rPr>
              <a:t>하이브리드는 소형이 확실히 유리하다. 코나 HEV는 프리미엄, 셀토스 HEV는 프레스티지까지 옵션 여유를 두고 살 수 있다. 반면 준중형은 최하위 트림 한 대뿐 — 투싼 HEV 모던은 옵션 130만원 남짓, 스포티지 HEV 프레스티지는 옵션 여유 없이 딱 맞아떨어진다.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02920" y="274320"/>
            <a:ext cx="50292" cy="384048"/>
          </a:xfrm>
          <a:prstGeom prst="rect">
            <a:avLst/>
          </a:prstGeom>
          <a:solidFill>
            <a:srgbClr val="E26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13232" y="219456"/>
            <a:ext cx="8778240" cy="457200"/>
          </a:xfrm>
          <a:prstGeom prst="rect">
            <a:avLst/>
          </a:prstGeom>
          <a:noFill/>
        </p:spPr>
        <p:txBody>
          <a:bodyPr wrap="square" anchor="t" lIns="0" rIns="0" tIns="0" bIns="0">
            <a:spAutoFit/>
          </a:bodyPr>
          <a:lstStyle/>
          <a:p>
            <a:pPr algn="l">
              <a:lnSpc>
                <a:spcPct val="115000"/>
              </a:lnSpc>
              <a:spcAft>
                <a:spcPts val="400"/>
              </a:spcAft>
            </a:pPr>
            <a:r>
              <a:rPr sz="2300" b="1">
                <a:solidFill>
                  <a:srgbClr val="FFFFFF"/>
                </a:solidFill>
                <a:latin typeface="맑은 고딕"/>
              </a:rPr>
              <a:t>기아 셀토스</a:t>
            </a:r>
          </a:p>
        </p:txBody>
      </p:sp>
      <p:sp>
        <p:nvSpPr>
          <p:cNvPr id="5" name="TextBox 4"/>
          <p:cNvSpPr txBox="1"/>
          <p:nvPr/>
        </p:nvSpPr>
        <p:spPr>
          <a:xfrm>
            <a:off x="9509760" y="329184"/>
            <a:ext cx="2194560" cy="365760"/>
          </a:xfrm>
          <a:prstGeom prst="rect">
            <a:avLst/>
          </a:prstGeom>
          <a:noFill/>
        </p:spPr>
        <p:txBody>
          <a:bodyPr wrap="square" anchor="t" lIns="0" rIns="0" tIns="0" bIns="0">
            <a:spAutoFit/>
          </a:bodyPr>
          <a:lstStyle/>
          <a:p>
            <a:pPr algn="r">
              <a:lnSpc>
                <a:spcPct val="115000"/>
              </a:lnSpc>
              <a:spcAft>
                <a:spcPts val="400"/>
              </a:spcAft>
            </a:pPr>
            <a:r>
              <a:rPr sz="1100" b="0">
                <a:solidFill>
                  <a:srgbClr val="A9BED2"/>
                </a:solidFill>
                <a:latin typeface="맑은 고딕"/>
              </a:rPr>
              <a:t>05 / 소형</a:t>
            </a:r>
          </a:p>
        </p:txBody>
      </p:sp>
      <p:sp>
        <p:nvSpPr>
          <p:cNvPr id="6" name="TextBox 5"/>
          <p:cNvSpPr txBox="1"/>
          <p:nvPr/>
        </p:nvSpPr>
        <p:spPr>
          <a:xfrm>
            <a:off x="713232" y="1060704"/>
            <a:ext cx="10881360" cy="310896"/>
          </a:xfrm>
          <a:prstGeom prst="rect">
            <a:avLst/>
          </a:prstGeom>
          <a:noFill/>
        </p:spPr>
        <p:txBody>
          <a:bodyPr wrap="square" anchor="t" lIns="0" rIns="0" tIns="0" bIns="0">
            <a:spAutoFit/>
          </a:bodyPr>
          <a:lstStyle/>
          <a:p>
            <a:pPr algn="l">
              <a:lnSpc>
                <a:spcPct val="115000"/>
              </a:lnSpc>
              <a:spcAft>
                <a:spcPts val="400"/>
              </a:spcAft>
            </a:pPr>
            <a:r>
              <a:rPr sz="1250" b="0">
                <a:solidFill>
                  <a:srgbClr val="6E7884"/>
                </a:solidFill>
                <a:latin typeface="맑은 고딕"/>
              </a:rPr>
              <a:t>소형 SUV 중 유일하게 신형 하이브리드가 있고, 옵션 자유도가 가장 높다.</a:t>
            </a:r>
          </a:p>
        </p:txBody>
      </p:sp>
      <p:graphicFrame>
        <p:nvGraphicFramePr>
          <p:cNvPr id="7" name="Table 6"/>
          <p:cNvGraphicFramePr>
            <a:graphicFrameLocks noGrp="1"/>
          </p:cNvGraphicFramePr>
          <p:nvPr/>
        </p:nvGraphicFramePr>
        <p:xfrm>
          <a:off x="713232" y="1627632"/>
          <a:ext cx="5029198" cy="2382012"/>
        </p:xfrm>
        <a:graphic>
          <a:graphicData uri="http://schemas.openxmlformats.org/drawingml/2006/table">
            <a:tbl>
              <a:tblPr firstRow="1">
                <a:tableStyleId>{5C22544A-7EE6-4342-B048-85BDC9FD1C3A}</a:tableStyleId>
              </a:tblPr>
              <a:tblGrid>
                <a:gridCol w="2143593"/>
                <a:gridCol w="1071796"/>
                <a:gridCol w="1071796"/>
                <a:gridCol w="742013"/>
              </a:tblGrid>
              <a:tr h="365760">
                <a:tc>
                  <a:txBody>
                    <a:bodyPr/>
                    <a:lstStyle/>
                    <a:p>
                      <a:pPr algn="l"/>
                      <a:r>
                        <a:rPr sz="1100" b="1">
                          <a:solidFill>
                            <a:srgbClr val="FFFFFF"/>
                          </a:solidFill>
                          <a:latin typeface="맑은 고딕"/>
                        </a:rPr>
                        <a:t>트림</a:t>
                      </a:r>
                    </a:p>
                  </a:txBody>
                  <a:tcPr marL="64008" marR="64008" marT="18288" marB="18288" anchor="ctr">
                    <a:solidFill>
                      <a:srgbClr val="102A43"/>
                    </a:solidFill>
                  </a:tcPr>
                </a:tc>
                <a:tc>
                  <a:txBody>
                    <a:bodyPr/>
                    <a:lstStyle/>
                    <a:p>
                      <a:pPr algn="ctr"/>
                      <a:r>
                        <a:rPr sz="1100" b="1">
                          <a:solidFill>
                            <a:srgbClr val="FFFFFF"/>
                          </a:solidFill>
                          <a:latin typeface="맑은 고딕"/>
                        </a:rPr>
                        <a:t>차량가</a:t>
                      </a:r>
                    </a:p>
                  </a:txBody>
                  <a:tcPr marL="64008" marR="64008" marT="18288" marB="18288" anchor="ctr">
                    <a:solidFill>
                      <a:srgbClr val="102A43"/>
                    </a:solidFill>
                  </a:tcPr>
                </a:tc>
                <a:tc>
                  <a:txBody>
                    <a:bodyPr/>
                    <a:lstStyle/>
                    <a:p>
                      <a:pPr algn="ctr"/>
                      <a:r>
                        <a:rPr sz="1100" b="1">
                          <a:solidFill>
                            <a:srgbClr val="FFFFFF"/>
                          </a:solidFill>
                          <a:latin typeface="맑은 고딕"/>
                        </a:rPr>
                        <a:t>실구매가</a:t>
                      </a:r>
                    </a:p>
                  </a:txBody>
                  <a:tcPr marL="64008" marR="64008" marT="18288" marB="18288" anchor="ctr">
                    <a:solidFill>
                      <a:srgbClr val="102A43"/>
                    </a:solidFill>
                  </a:tcPr>
                </a:tc>
                <a:tc>
                  <a:txBody>
                    <a:bodyPr/>
                    <a:lstStyle/>
                    <a:p>
                      <a:pPr algn="ctr"/>
                      <a:r>
                        <a:rPr sz="1100" b="1">
                          <a:solidFill>
                            <a:srgbClr val="FFFFFF"/>
                          </a:solidFill>
                          <a:latin typeface="맑은 고딕"/>
                        </a:rPr>
                        <a:t>판정</a:t>
                      </a:r>
                    </a:p>
                  </a:txBody>
                  <a:tcPr marL="64008" marR="64008" marT="18288" marB="18288" anchor="ctr">
                    <a:solidFill>
                      <a:srgbClr val="102A43"/>
                    </a:solidFill>
                  </a:tcPr>
                </a:tc>
              </a:tr>
              <a:tr h="288036">
                <a:tc>
                  <a:txBody>
                    <a:bodyPr/>
                    <a:lstStyle/>
                    <a:p>
                      <a:pPr algn="l"/>
                      <a:r>
                        <a:rPr sz="1100" b="0">
                          <a:solidFill>
                            <a:srgbClr val="242D38"/>
                          </a:solidFill>
                          <a:latin typeface="맑은 고딕"/>
                        </a:rPr>
                        <a:t>가솔린 트렌디</a:t>
                      </a:r>
                    </a:p>
                  </a:txBody>
                  <a:tcPr marL="64008" marR="64008" marT="18288" marB="18288" anchor="ctr">
                    <a:solidFill>
                      <a:srgbClr val="E9F4EE"/>
                    </a:solidFill>
                  </a:tcPr>
                </a:tc>
                <a:tc>
                  <a:txBody>
                    <a:bodyPr/>
                    <a:lstStyle/>
                    <a:p>
                      <a:pPr algn="ctr"/>
                      <a:r>
                        <a:rPr sz="1100" b="0">
                          <a:solidFill>
                            <a:srgbClr val="242D38"/>
                          </a:solidFill>
                          <a:latin typeface="맑은 고딕"/>
                        </a:rPr>
                        <a:t>2,512만</a:t>
                      </a:r>
                    </a:p>
                  </a:txBody>
                  <a:tcPr marL="64008" marR="64008" marT="18288" marB="18288" anchor="ctr">
                    <a:solidFill>
                      <a:srgbClr val="E9F4EE"/>
                    </a:solidFill>
                  </a:tcPr>
                </a:tc>
                <a:tc>
                  <a:txBody>
                    <a:bodyPr/>
                    <a:lstStyle/>
                    <a:p>
                      <a:pPr algn="ctr"/>
                      <a:r>
                        <a:rPr sz="1100" b="0">
                          <a:solidFill>
                            <a:srgbClr val="242D38"/>
                          </a:solidFill>
                          <a:latin typeface="맑은 고딕"/>
                        </a:rPr>
                        <a:t>2,702만</a:t>
                      </a:r>
                    </a:p>
                  </a:txBody>
                  <a:tcPr marL="64008" marR="64008" marT="18288" marB="18288" anchor="ctr">
                    <a:solidFill>
                      <a:srgbClr val="E9F4EE"/>
                    </a:solidFill>
                  </a:tcPr>
                </a:tc>
                <a:tc>
                  <a:txBody>
                    <a:bodyPr/>
                    <a:lstStyle/>
                    <a:p>
                      <a:pPr algn="ctr"/>
                      <a:r>
                        <a:rPr sz="1100" b="0">
                          <a:solidFill>
                            <a:srgbClr val="242D38"/>
                          </a:solidFill>
                          <a:latin typeface="맑은 고딕"/>
                        </a:rPr>
                        <a:t>가능</a:t>
                      </a:r>
                    </a:p>
                  </a:txBody>
                  <a:tcPr marL="64008" marR="64008" marT="18288" marB="18288" anchor="ctr">
                    <a:solidFill>
                      <a:srgbClr val="E9F4EE"/>
                    </a:solidFill>
                  </a:tcPr>
                </a:tc>
              </a:tr>
              <a:tr h="288036">
                <a:tc>
                  <a:txBody>
                    <a:bodyPr/>
                    <a:lstStyle/>
                    <a:p>
                      <a:pPr algn="l"/>
                      <a:r>
                        <a:rPr sz="1100" b="0">
                          <a:solidFill>
                            <a:srgbClr val="242D38"/>
                          </a:solidFill>
                          <a:latin typeface="맑은 고딕"/>
                        </a:rPr>
                        <a:t>가솔린 프레스티지</a:t>
                      </a:r>
                    </a:p>
                  </a:txBody>
                  <a:tcPr marL="64008" marR="64008" marT="18288" marB="18288" anchor="ctr">
                    <a:solidFill>
                      <a:srgbClr val="E9F4EE"/>
                    </a:solidFill>
                  </a:tcPr>
                </a:tc>
                <a:tc>
                  <a:txBody>
                    <a:bodyPr/>
                    <a:lstStyle/>
                    <a:p>
                      <a:pPr algn="ctr"/>
                      <a:r>
                        <a:rPr sz="1100" b="0">
                          <a:solidFill>
                            <a:srgbClr val="242D38"/>
                          </a:solidFill>
                          <a:latin typeface="맑은 고딕"/>
                        </a:rPr>
                        <a:t>2,880만</a:t>
                      </a:r>
                    </a:p>
                  </a:txBody>
                  <a:tcPr marL="64008" marR="64008" marT="18288" marB="18288" anchor="ctr">
                    <a:solidFill>
                      <a:srgbClr val="E9F4EE"/>
                    </a:solidFill>
                  </a:tcPr>
                </a:tc>
                <a:tc>
                  <a:txBody>
                    <a:bodyPr/>
                    <a:lstStyle/>
                    <a:p>
                      <a:pPr algn="ctr"/>
                      <a:r>
                        <a:rPr sz="1100" b="0">
                          <a:solidFill>
                            <a:srgbClr val="242D38"/>
                          </a:solidFill>
                          <a:latin typeface="맑은 고딕"/>
                        </a:rPr>
                        <a:t>3,093만</a:t>
                      </a:r>
                    </a:p>
                  </a:txBody>
                  <a:tcPr marL="64008" marR="64008" marT="18288" marB="18288" anchor="ctr">
                    <a:solidFill>
                      <a:srgbClr val="E9F4EE"/>
                    </a:solidFill>
                  </a:tcPr>
                </a:tc>
                <a:tc>
                  <a:txBody>
                    <a:bodyPr/>
                    <a:lstStyle/>
                    <a:p>
                      <a:pPr algn="ctr"/>
                      <a:r>
                        <a:rPr sz="1100" b="0">
                          <a:solidFill>
                            <a:srgbClr val="242D38"/>
                          </a:solidFill>
                          <a:latin typeface="맑은 고딕"/>
                        </a:rPr>
                        <a:t>가능</a:t>
                      </a:r>
                    </a:p>
                  </a:txBody>
                  <a:tcPr marL="64008" marR="64008" marT="18288" marB="18288" anchor="ctr">
                    <a:solidFill>
                      <a:srgbClr val="E9F4EE"/>
                    </a:solidFill>
                  </a:tcPr>
                </a:tc>
              </a:tr>
              <a:tr h="288036">
                <a:tc>
                  <a:txBody>
                    <a:bodyPr/>
                    <a:lstStyle/>
                    <a:p>
                      <a:pPr algn="l"/>
                      <a:r>
                        <a:rPr sz="1100" b="0">
                          <a:solidFill>
                            <a:srgbClr val="242D38"/>
                          </a:solidFill>
                          <a:latin typeface="맑은 고딕"/>
                        </a:rPr>
                        <a:t>가솔린 시그니처</a:t>
                      </a:r>
                    </a:p>
                  </a:txBody>
                  <a:tcPr marL="64008" marR="64008" marT="18288" marB="18288" anchor="ctr">
                    <a:solidFill>
                      <a:srgbClr val="E9F4EE"/>
                    </a:solidFill>
                  </a:tcPr>
                </a:tc>
                <a:tc>
                  <a:txBody>
                    <a:bodyPr/>
                    <a:lstStyle/>
                    <a:p>
                      <a:pPr algn="ctr"/>
                      <a:r>
                        <a:rPr sz="1100" b="0">
                          <a:solidFill>
                            <a:srgbClr val="242D38"/>
                          </a:solidFill>
                          <a:latin typeface="맑은 고딕"/>
                        </a:rPr>
                        <a:t>3,145만</a:t>
                      </a:r>
                    </a:p>
                  </a:txBody>
                  <a:tcPr marL="64008" marR="64008" marT="18288" marB="18288" anchor="ctr">
                    <a:solidFill>
                      <a:srgbClr val="E9F4EE"/>
                    </a:solidFill>
                  </a:tcPr>
                </a:tc>
                <a:tc>
                  <a:txBody>
                    <a:bodyPr/>
                    <a:lstStyle/>
                    <a:p>
                      <a:pPr algn="ctr"/>
                      <a:r>
                        <a:rPr sz="1100" b="0">
                          <a:solidFill>
                            <a:srgbClr val="242D38"/>
                          </a:solidFill>
                          <a:latin typeface="맑은 고딕"/>
                        </a:rPr>
                        <a:t>3,375만</a:t>
                      </a:r>
                    </a:p>
                  </a:txBody>
                  <a:tcPr marL="64008" marR="64008" marT="18288" marB="18288" anchor="ctr">
                    <a:solidFill>
                      <a:srgbClr val="E9F4EE"/>
                    </a:solidFill>
                  </a:tcPr>
                </a:tc>
                <a:tc>
                  <a:txBody>
                    <a:bodyPr/>
                    <a:lstStyle/>
                    <a:p>
                      <a:pPr algn="ctr"/>
                      <a:r>
                        <a:rPr sz="1100" b="0">
                          <a:solidFill>
                            <a:srgbClr val="242D38"/>
                          </a:solidFill>
                          <a:latin typeface="맑은 고딕"/>
                        </a:rPr>
                        <a:t>가능</a:t>
                      </a:r>
                    </a:p>
                  </a:txBody>
                  <a:tcPr marL="64008" marR="64008" marT="18288" marB="18288" anchor="ctr">
                    <a:solidFill>
                      <a:srgbClr val="E9F4EE"/>
                    </a:solidFill>
                  </a:tcPr>
                </a:tc>
              </a:tr>
              <a:tr h="288036">
                <a:tc>
                  <a:txBody>
                    <a:bodyPr/>
                    <a:lstStyle/>
                    <a:p>
                      <a:pPr algn="l"/>
                      <a:r>
                        <a:rPr sz="1100" b="0">
                          <a:solidFill>
                            <a:srgbClr val="242D38"/>
                          </a:solidFill>
                          <a:latin typeface="맑은 고딕"/>
                        </a:rPr>
                        <a:t>가솔린 X-Line</a:t>
                      </a:r>
                    </a:p>
                  </a:txBody>
                  <a:tcPr marL="64008" marR="64008" marT="18288" marB="18288" anchor="ctr">
                    <a:solidFill>
                      <a:srgbClr val="E9F4EE"/>
                    </a:solidFill>
                  </a:tcPr>
                </a:tc>
                <a:tc>
                  <a:txBody>
                    <a:bodyPr/>
                    <a:lstStyle/>
                    <a:p>
                      <a:pPr algn="ctr"/>
                      <a:r>
                        <a:rPr sz="1100" b="0">
                          <a:solidFill>
                            <a:srgbClr val="242D38"/>
                          </a:solidFill>
                          <a:latin typeface="맑은 고딕"/>
                        </a:rPr>
                        <a:t>3,263만</a:t>
                      </a:r>
                    </a:p>
                  </a:txBody>
                  <a:tcPr marL="64008" marR="64008" marT="18288" marB="18288" anchor="ctr">
                    <a:solidFill>
                      <a:srgbClr val="E9F4EE"/>
                    </a:solidFill>
                  </a:tcPr>
                </a:tc>
                <a:tc>
                  <a:txBody>
                    <a:bodyPr/>
                    <a:lstStyle/>
                    <a:p>
                      <a:pPr algn="ctr"/>
                      <a:r>
                        <a:rPr sz="1100" b="0">
                          <a:solidFill>
                            <a:srgbClr val="242D38"/>
                          </a:solidFill>
                          <a:latin typeface="맑은 고딕"/>
                        </a:rPr>
                        <a:t>3,501만</a:t>
                      </a:r>
                    </a:p>
                  </a:txBody>
                  <a:tcPr marL="64008" marR="64008" marT="18288" marB="18288" anchor="ctr">
                    <a:solidFill>
                      <a:srgbClr val="E9F4EE"/>
                    </a:solidFill>
                  </a:tcPr>
                </a:tc>
                <a:tc>
                  <a:txBody>
                    <a:bodyPr/>
                    <a:lstStyle/>
                    <a:p>
                      <a:pPr algn="ctr"/>
                      <a:r>
                        <a:rPr sz="1100" b="0">
                          <a:solidFill>
                            <a:srgbClr val="242D38"/>
                          </a:solidFill>
                          <a:latin typeface="맑은 고딕"/>
                        </a:rPr>
                        <a:t>가능</a:t>
                      </a:r>
                    </a:p>
                  </a:txBody>
                  <a:tcPr marL="64008" marR="64008" marT="18288" marB="18288" anchor="ctr">
                    <a:solidFill>
                      <a:srgbClr val="E9F4EE"/>
                    </a:solidFill>
                  </a:tcPr>
                </a:tc>
              </a:tr>
              <a:tr h="288036">
                <a:tc>
                  <a:txBody>
                    <a:bodyPr/>
                    <a:lstStyle/>
                    <a:p>
                      <a:pPr algn="l"/>
                      <a:r>
                        <a:rPr sz="1100" b="0">
                          <a:solidFill>
                            <a:srgbClr val="242D38"/>
                          </a:solidFill>
                          <a:latin typeface="맑은 고딕"/>
                        </a:rPr>
                        <a:t>HEV 트렌디</a:t>
                      </a:r>
                    </a:p>
                  </a:txBody>
                  <a:tcPr marL="64008" marR="64008" marT="18288" marB="18288" anchor="ctr">
                    <a:solidFill>
                      <a:srgbClr val="E9F4EE"/>
                    </a:solidFill>
                  </a:tcPr>
                </a:tc>
                <a:tc>
                  <a:txBody>
                    <a:bodyPr/>
                    <a:lstStyle/>
                    <a:p>
                      <a:pPr algn="ctr"/>
                      <a:r>
                        <a:rPr sz="1100" b="0">
                          <a:solidFill>
                            <a:srgbClr val="242D38"/>
                          </a:solidFill>
                          <a:latin typeface="맑은 고딕"/>
                        </a:rPr>
                        <a:t>2,940만</a:t>
                      </a:r>
                    </a:p>
                  </a:txBody>
                  <a:tcPr marL="64008" marR="64008" marT="18288" marB="18288" anchor="ctr">
                    <a:solidFill>
                      <a:srgbClr val="E9F4EE"/>
                    </a:solidFill>
                  </a:tcPr>
                </a:tc>
                <a:tc>
                  <a:txBody>
                    <a:bodyPr/>
                    <a:lstStyle/>
                    <a:p>
                      <a:pPr algn="ctr"/>
                      <a:r>
                        <a:rPr sz="1100" b="0">
                          <a:solidFill>
                            <a:srgbClr val="242D38"/>
                          </a:solidFill>
                          <a:latin typeface="맑은 고딕"/>
                        </a:rPr>
                        <a:t>3,157만</a:t>
                      </a:r>
                    </a:p>
                  </a:txBody>
                  <a:tcPr marL="64008" marR="64008" marT="18288" marB="18288" anchor="ctr">
                    <a:solidFill>
                      <a:srgbClr val="E9F4EE"/>
                    </a:solidFill>
                  </a:tcPr>
                </a:tc>
                <a:tc>
                  <a:txBody>
                    <a:bodyPr/>
                    <a:lstStyle/>
                    <a:p>
                      <a:pPr algn="ctr"/>
                      <a:r>
                        <a:rPr sz="1100" b="0">
                          <a:solidFill>
                            <a:srgbClr val="242D38"/>
                          </a:solidFill>
                          <a:latin typeface="맑은 고딕"/>
                        </a:rPr>
                        <a:t>가능</a:t>
                      </a:r>
                    </a:p>
                  </a:txBody>
                  <a:tcPr marL="64008" marR="64008" marT="18288" marB="18288" anchor="ctr">
                    <a:solidFill>
                      <a:srgbClr val="E9F4EE"/>
                    </a:solidFill>
                  </a:tcPr>
                </a:tc>
              </a:tr>
              <a:tr h="288036">
                <a:tc>
                  <a:txBody>
                    <a:bodyPr/>
                    <a:lstStyle/>
                    <a:p>
                      <a:pPr algn="l"/>
                      <a:r>
                        <a:rPr sz="1100" b="0">
                          <a:solidFill>
                            <a:srgbClr val="242D38"/>
                          </a:solidFill>
                          <a:latin typeface="맑은 고딕"/>
                        </a:rPr>
                        <a:t>HEV 프레스티지</a:t>
                      </a:r>
                    </a:p>
                  </a:txBody>
                  <a:tcPr marL="64008" marR="64008" marT="18288" marB="18288" anchor="ctr">
                    <a:solidFill>
                      <a:srgbClr val="E9F4EE"/>
                    </a:solidFill>
                  </a:tcPr>
                </a:tc>
                <a:tc>
                  <a:txBody>
                    <a:bodyPr/>
                    <a:lstStyle/>
                    <a:p>
                      <a:pPr algn="ctr"/>
                      <a:r>
                        <a:rPr sz="1100" b="0">
                          <a:solidFill>
                            <a:srgbClr val="242D38"/>
                          </a:solidFill>
                          <a:latin typeface="맑은 고딕"/>
                        </a:rPr>
                        <a:t>3,255만</a:t>
                      </a:r>
                    </a:p>
                  </a:txBody>
                  <a:tcPr marL="64008" marR="64008" marT="18288" marB="18288" anchor="ctr">
                    <a:solidFill>
                      <a:srgbClr val="E9F4EE"/>
                    </a:solidFill>
                  </a:tcPr>
                </a:tc>
                <a:tc>
                  <a:txBody>
                    <a:bodyPr/>
                    <a:lstStyle/>
                    <a:p>
                      <a:pPr algn="ctr"/>
                      <a:r>
                        <a:rPr sz="1100" b="0">
                          <a:solidFill>
                            <a:srgbClr val="242D38"/>
                          </a:solidFill>
                          <a:latin typeface="맑은 고딕"/>
                        </a:rPr>
                        <a:t>3,492만</a:t>
                      </a:r>
                    </a:p>
                  </a:txBody>
                  <a:tcPr marL="64008" marR="64008" marT="18288" marB="18288" anchor="ctr">
                    <a:solidFill>
                      <a:srgbClr val="E9F4EE"/>
                    </a:solidFill>
                  </a:tcPr>
                </a:tc>
                <a:tc>
                  <a:txBody>
                    <a:bodyPr/>
                    <a:lstStyle/>
                    <a:p>
                      <a:pPr algn="ctr"/>
                      <a:r>
                        <a:rPr sz="1100" b="0">
                          <a:solidFill>
                            <a:srgbClr val="242D38"/>
                          </a:solidFill>
                          <a:latin typeface="맑은 고딕"/>
                        </a:rPr>
                        <a:t>가능</a:t>
                      </a:r>
                    </a:p>
                  </a:txBody>
                  <a:tcPr marL="64008" marR="64008" marT="18288" marB="18288" anchor="ctr">
                    <a:solidFill>
                      <a:srgbClr val="E9F4EE"/>
                    </a:solidFill>
                  </a:tcPr>
                </a:tc>
              </a:tr>
              <a:tr h="288036">
                <a:tc>
                  <a:txBody>
                    <a:bodyPr/>
                    <a:lstStyle/>
                    <a:p>
                      <a:pPr algn="l"/>
                      <a:r>
                        <a:rPr sz="1100" b="0">
                          <a:solidFill>
                            <a:srgbClr val="242D38"/>
                          </a:solidFill>
                          <a:latin typeface="맑은 고딕"/>
                        </a:rPr>
                        <a:t>HEV 시그니처</a:t>
                      </a:r>
                    </a:p>
                  </a:txBody>
                  <a:tcPr marL="64008" marR="64008" marT="18288" marB="18288" anchor="ctr">
                    <a:solidFill>
                      <a:srgbClr val="FDECE8"/>
                    </a:solidFill>
                  </a:tcPr>
                </a:tc>
                <a:tc>
                  <a:txBody>
                    <a:bodyPr/>
                    <a:lstStyle/>
                    <a:p>
                      <a:pPr algn="ctr"/>
                      <a:r>
                        <a:rPr sz="1100" b="0">
                          <a:solidFill>
                            <a:srgbClr val="242D38"/>
                          </a:solidFill>
                          <a:latin typeface="맑은 고딕"/>
                        </a:rPr>
                        <a:t>3,520만</a:t>
                      </a:r>
                    </a:p>
                  </a:txBody>
                  <a:tcPr marL="64008" marR="64008" marT="18288" marB="18288" anchor="ctr">
                    <a:solidFill>
                      <a:srgbClr val="FDECE8"/>
                    </a:solidFill>
                  </a:tcPr>
                </a:tc>
                <a:tc>
                  <a:txBody>
                    <a:bodyPr/>
                    <a:lstStyle/>
                    <a:p>
                      <a:pPr algn="ctr"/>
                      <a:r>
                        <a:rPr sz="1100" b="0">
                          <a:solidFill>
                            <a:srgbClr val="242D38"/>
                          </a:solidFill>
                          <a:latin typeface="맑은 고딕"/>
                        </a:rPr>
                        <a:t>3,774만</a:t>
                      </a:r>
                    </a:p>
                  </a:txBody>
                  <a:tcPr marL="64008" marR="64008" marT="18288" marB="18288" anchor="ctr">
                    <a:solidFill>
                      <a:srgbClr val="FDECE8"/>
                    </a:solidFill>
                  </a:tcPr>
                </a:tc>
                <a:tc>
                  <a:txBody>
                    <a:bodyPr/>
                    <a:lstStyle/>
                    <a:p>
                      <a:pPr algn="ctr"/>
                      <a:r>
                        <a:rPr sz="1100" b="0">
                          <a:solidFill>
                            <a:srgbClr val="242D38"/>
                          </a:solidFill>
                          <a:latin typeface="맑은 고딕"/>
                        </a:rPr>
                        <a:t>초과</a:t>
                      </a:r>
                    </a:p>
                  </a:txBody>
                  <a:tcPr marL="64008" marR="64008" marT="18288" marB="18288" anchor="ctr">
                    <a:solidFill>
                      <a:srgbClr val="FDECE8"/>
                    </a:solidFill>
                  </a:tcPr>
                </a:tc>
              </a:tr>
            </a:tbl>
          </a:graphicData>
        </a:graphic>
      </p:graphicFrame>
      <p:sp>
        <p:nvSpPr>
          <p:cNvPr id="8" name="Rectangle 7"/>
          <p:cNvSpPr/>
          <p:nvPr/>
        </p:nvSpPr>
        <p:spPr>
          <a:xfrm>
            <a:off x="6053328" y="1627632"/>
            <a:ext cx="5422392" cy="228600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053328" y="1627632"/>
            <a:ext cx="45720" cy="2286000"/>
          </a:xfrm>
          <a:prstGeom prst="rect">
            <a:avLst/>
          </a:prstGeom>
          <a:solidFill>
            <a:srgbClr val="1B6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291072" y="1792224"/>
            <a:ext cx="5029200" cy="274320"/>
          </a:xfrm>
          <a:prstGeom prst="rect">
            <a:avLst/>
          </a:prstGeom>
          <a:noFill/>
        </p:spPr>
        <p:txBody>
          <a:bodyPr wrap="square" anchor="t" lIns="0" rIns="0" tIns="0" bIns="0">
            <a:spAutoFit/>
          </a:bodyPr>
          <a:lstStyle/>
          <a:p>
            <a:pPr algn="l">
              <a:lnSpc>
                <a:spcPct val="115000"/>
              </a:lnSpc>
              <a:spcAft>
                <a:spcPts val="400"/>
              </a:spcAft>
            </a:pPr>
            <a:r>
              <a:rPr sz="1250" b="1">
                <a:solidFill>
                  <a:srgbClr val="1B6CA8"/>
                </a:solidFill>
                <a:latin typeface="맑은 고딕"/>
              </a:rPr>
              <a:t>적용 가능한 주요 선택 옵션</a:t>
            </a:r>
          </a:p>
        </p:txBody>
      </p:sp>
      <p:sp>
        <p:nvSpPr>
          <p:cNvPr id="11" name="TextBox 10"/>
          <p:cNvSpPr txBox="1"/>
          <p:nvPr/>
        </p:nvSpPr>
        <p:spPr>
          <a:xfrm>
            <a:off x="6291072" y="2157984"/>
            <a:ext cx="5029200" cy="1691640"/>
          </a:xfrm>
          <a:prstGeom prst="rect">
            <a:avLst/>
          </a:prstGeom>
          <a:noFill/>
        </p:spPr>
        <p:txBody>
          <a:bodyPr wrap="square" anchor="t" lIns="0" rIns="0" tIns="0" bIns="0">
            <a:spAutoFit/>
          </a:bodyPr>
          <a:lstStyle/>
          <a:p>
            <a:pPr algn="l">
              <a:lnSpc>
                <a:spcPct val="142000"/>
              </a:lnSpc>
              <a:spcAft>
                <a:spcPts val="400"/>
              </a:spcAft>
            </a:pPr>
            <a:r>
              <a:rPr sz="1080" b="0">
                <a:solidFill>
                  <a:srgbClr val="242D38"/>
                </a:solidFill>
                <a:latin typeface="맑은 고딕"/>
              </a:rPr>
              <a:t>· 12.3인치 내비게이션  109만  (트렌디)</a:t>
            </a:r>
          </a:p>
          <a:p>
            <a:pPr algn="l">
              <a:lnSpc>
                <a:spcPct val="142000"/>
              </a:lnSpc>
              <a:spcAft>
                <a:spcPts val="400"/>
              </a:spcAft>
            </a:pPr>
            <a:r>
              <a:rPr sz="1080" b="0">
                <a:solidFill>
                  <a:srgbClr val="242D38"/>
                </a:solidFill>
                <a:latin typeface="맑은 고딕"/>
              </a:rPr>
              <a:t>· 컨비니언스(인조가죽·통풍시트)  64만  (트렌디)</a:t>
            </a:r>
          </a:p>
          <a:p>
            <a:pPr algn="l">
              <a:lnSpc>
                <a:spcPct val="142000"/>
              </a:lnSpc>
              <a:spcAft>
                <a:spcPts val="400"/>
              </a:spcAft>
            </a:pPr>
            <a:r>
              <a:rPr sz="1080" b="0">
                <a:solidFill>
                  <a:srgbClr val="242D38"/>
                </a:solidFill>
                <a:latin typeface="맑은 고딕"/>
              </a:rPr>
              <a:t>· 드라이브 와이즈(HDA2·차로변경보조)  79 ~ 119만</a:t>
            </a:r>
          </a:p>
          <a:p>
            <a:pPr algn="l">
              <a:lnSpc>
                <a:spcPct val="142000"/>
              </a:lnSpc>
              <a:spcAft>
                <a:spcPts val="400"/>
              </a:spcAft>
            </a:pPr>
            <a:r>
              <a:rPr sz="1080" b="0">
                <a:solidFill>
                  <a:srgbClr val="242D38"/>
                </a:solidFill>
                <a:latin typeface="맑은 고딕"/>
              </a:rPr>
              <a:t>· 파노라마 선루프  109만</a:t>
            </a:r>
          </a:p>
          <a:p>
            <a:pPr algn="l">
              <a:lnSpc>
                <a:spcPct val="142000"/>
              </a:lnSpc>
              <a:spcAft>
                <a:spcPts val="400"/>
              </a:spcAft>
            </a:pPr>
            <a:r>
              <a:rPr sz="1080" b="0">
                <a:solidFill>
                  <a:srgbClr val="242D38"/>
                </a:solidFill>
                <a:latin typeface="맑은 고딕"/>
              </a:rPr>
              <a:t>· 하만카돈 프리미엄 사운드  89만</a:t>
            </a:r>
          </a:p>
          <a:p>
            <a:pPr algn="l">
              <a:lnSpc>
                <a:spcPct val="142000"/>
              </a:lnSpc>
              <a:spcAft>
                <a:spcPts val="400"/>
              </a:spcAft>
            </a:pPr>
            <a:r>
              <a:rPr sz="1080" b="0">
                <a:solidFill>
                  <a:srgbClr val="242D38"/>
                </a:solidFill>
                <a:latin typeface="맑은 고딕"/>
              </a:rPr>
              <a:t>· 12.3인치 클러스터  40만 / 빌트인 캠2 플러스  45만</a:t>
            </a:r>
          </a:p>
          <a:p>
            <a:pPr algn="l">
              <a:lnSpc>
                <a:spcPct val="142000"/>
              </a:lnSpc>
              <a:spcAft>
                <a:spcPts val="400"/>
              </a:spcAft>
            </a:pPr>
            <a:r>
              <a:rPr sz="1080" b="0">
                <a:solidFill>
                  <a:srgbClr val="242D38"/>
                </a:solidFill>
                <a:latin typeface="맑은 고딕"/>
              </a:rPr>
              <a:t>· 전자식 4WD  198만</a:t>
            </a:r>
          </a:p>
          <a:p>
            <a:pPr algn="l">
              <a:lnSpc>
                <a:spcPct val="142000"/>
              </a:lnSpc>
              <a:spcAft>
                <a:spcPts val="400"/>
              </a:spcAft>
            </a:pPr>
            <a:r>
              <a:rPr sz="1080" b="0">
                <a:solidFill>
                  <a:srgbClr val="242D38"/>
                </a:solidFill>
                <a:latin typeface="맑은 고딕"/>
              </a:rPr>
              <a:t>· 스타일(LED 헤드램프·18~19인치 휠)  89 ~ 109만</a:t>
            </a:r>
          </a:p>
        </p:txBody>
      </p:sp>
      <p:sp>
        <p:nvSpPr>
          <p:cNvPr id="12" name="Rectangle 11"/>
          <p:cNvSpPr/>
          <p:nvPr/>
        </p:nvSpPr>
        <p:spPr>
          <a:xfrm>
            <a:off x="6053328" y="4023360"/>
            <a:ext cx="5422392" cy="2176272"/>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291072" y="4160520"/>
            <a:ext cx="5029200" cy="274320"/>
          </a:xfrm>
          <a:prstGeom prst="rect">
            <a:avLst/>
          </a:prstGeom>
          <a:noFill/>
        </p:spPr>
        <p:txBody>
          <a:bodyPr wrap="square" anchor="t" lIns="0" rIns="0" tIns="0" bIns="0">
            <a:spAutoFit/>
          </a:bodyPr>
          <a:lstStyle/>
          <a:p>
            <a:pPr algn="l">
              <a:lnSpc>
                <a:spcPct val="115000"/>
              </a:lnSpc>
              <a:spcAft>
                <a:spcPts val="400"/>
              </a:spcAft>
            </a:pPr>
            <a:r>
              <a:rPr sz="1250" b="1">
                <a:solidFill>
                  <a:srgbClr val="F0A870"/>
                </a:solidFill>
                <a:latin typeface="맑은 고딕"/>
              </a:rPr>
              <a:t>예산 내 추천 조합</a:t>
            </a:r>
          </a:p>
        </p:txBody>
      </p:sp>
      <p:sp>
        <p:nvSpPr>
          <p:cNvPr id="14" name="TextBox 13"/>
          <p:cNvSpPr txBox="1"/>
          <p:nvPr/>
        </p:nvSpPr>
        <p:spPr>
          <a:xfrm>
            <a:off x="6291072" y="4517136"/>
            <a:ext cx="5029200" cy="1627632"/>
          </a:xfrm>
          <a:prstGeom prst="rect">
            <a:avLst/>
          </a:prstGeom>
          <a:noFill/>
        </p:spPr>
        <p:txBody>
          <a:bodyPr wrap="square" anchor="t" lIns="0" rIns="0" tIns="0" bIns="0">
            <a:spAutoFit/>
          </a:bodyPr>
          <a:lstStyle/>
          <a:p>
            <a:pPr algn="l">
              <a:lnSpc>
                <a:spcPct val="138000"/>
              </a:lnSpc>
              <a:spcAft>
                <a:spcPts val="0"/>
              </a:spcAft>
            </a:pPr>
            <a:r>
              <a:rPr sz="1100" b="0">
                <a:solidFill>
                  <a:srgbClr val="FFFFFF"/>
                </a:solidFill>
                <a:latin typeface="맑은 고딕"/>
              </a:rPr>
              <a:t>■ 연비 우선 — HEV 프레스티지 + 12.3 클러스터</a:t>
            </a:r>
          </a:p>
          <a:p>
            <a:pPr algn="l">
              <a:lnSpc>
                <a:spcPct val="138000"/>
              </a:lnSpc>
              <a:spcAft>
                <a:spcPts val="0"/>
              </a:spcAft>
            </a:pPr>
            <a:r>
              <a:rPr sz="1100" b="0">
                <a:solidFill>
                  <a:srgbClr val="FFFFFF"/>
                </a:solidFill>
                <a:latin typeface="맑은 고딕"/>
              </a:rPr>
              <a:t>   + 빌트인캠2</a:t>
            </a:r>
          </a:p>
          <a:p>
            <a:pPr algn="l">
              <a:lnSpc>
                <a:spcPct val="138000"/>
              </a:lnSpc>
              <a:spcAft>
                <a:spcPts val="0"/>
              </a:spcAft>
            </a:pPr>
            <a:r>
              <a:rPr sz="1100" b="0">
                <a:solidFill>
                  <a:srgbClr val="FFFFFF"/>
                </a:solidFill>
                <a:latin typeface="맑은 고딕"/>
              </a:rPr>
              <a:t>   3,255 + 40 + 45 = 3,340만 → 실구매 3,583만</a:t>
            </a:r>
          </a:p>
          <a:p>
            <a:pPr algn="l">
              <a:lnSpc>
                <a:spcPct val="138000"/>
              </a:lnSpc>
              <a:spcAft>
                <a:spcPts val="0"/>
              </a:spcAft>
            </a:pPr>
            <a:r>
              <a:rPr sz="1100" b="0">
                <a:solidFill>
                  <a:srgbClr val="FFFFFF"/>
                </a:solidFill>
                <a:latin typeface="맑은 고딕"/>
              </a:rPr>
              <a:t/>
            </a:r>
          </a:p>
          <a:p>
            <a:pPr algn="l">
              <a:lnSpc>
                <a:spcPct val="138000"/>
              </a:lnSpc>
              <a:spcAft>
                <a:spcPts val="0"/>
              </a:spcAft>
            </a:pPr>
            <a:r>
              <a:rPr sz="1100" b="0">
                <a:solidFill>
                  <a:srgbClr val="FFFFFF"/>
                </a:solidFill>
                <a:latin typeface="맑은 고딕"/>
              </a:rPr>
              <a:t>■ 옵션 우선 — 가솔린 시그니처 + 드라이브와이즈</a:t>
            </a:r>
          </a:p>
          <a:p>
            <a:pPr algn="l">
              <a:lnSpc>
                <a:spcPct val="138000"/>
              </a:lnSpc>
              <a:spcAft>
                <a:spcPts val="0"/>
              </a:spcAft>
            </a:pPr>
            <a:r>
              <a:rPr sz="1100" b="0">
                <a:solidFill>
                  <a:srgbClr val="FFFFFF"/>
                </a:solidFill>
                <a:latin typeface="맑은 고딕"/>
              </a:rPr>
              <a:t>   + 파노라마 선루프 + 빌트인캠2</a:t>
            </a:r>
          </a:p>
          <a:p>
            <a:pPr algn="l">
              <a:lnSpc>
                <a:spcPct val="138000"/>
              </a:lnSpc>
              <a:spcAft>
                <a:spcPts val="0"/>
              </a:spcAft>
            </a:pPr>
            <a:r>
              <a:rPr sz="1100" b="0">
                <a:solidFill>
                  <a:srgbClr val="FFFFFF"/>
                </a:solidFill>
                <a:latin typeface="맑은 고딕"/>
              </a:rPr>
              <a:t>   3,145 + 79 + 109 + 45 = 3,378만 → 실구매 3,623만</a:t>
            </a:r>
          </a:p>
        </p:txBody>
      </p:sp>
      <p:sp>
        <p:nvSpPr>
          <p:cNvPr id="15" name="TextBox 14"/>
          <p:cNvSpPr txBox="1"/>
          <p:nvPr/>
        </p:nvSpPr>
        <p:spPr>
          <a:xfrm>
            <a:off x="713232" y="6327648"/>
            <a:ext cx="10881360" cy="365760"/>
          </a:xfrm>
          <a:prstGeom prst="rect">
            <a:avLst/>
          </a:prstGeom>
          <a:noFill/>
        </p:spPr>
        <p:txBody>
          <a:bodyPr wrap="square" anchor="t" lIns="0" rIns="0" tIns="0" bIns="0">
            <a:spAutoFit/>
          </a:bodyPr>
          <a:lstStyle/>
          <a:p>
            <a:pPr algn="l">
              <a:lnSpc>
                <a:spcPct val="120000"/>
              </a:lnSpc>
              <a:spcAft>
                <a:spcPts val="400"/>
              </a:spcAft>
            </a:pPr>
            <a:r>
              <a:rPr sz="950" b="0">
                <a:solidFill>
                  <a:srgbClr val="6E7884"/>
                </a:solidFill>
                <a:latin typeface="맑은 고딕"/>
              </a:rPr>
              <a:t>가솔린 시그니처 12.5km/ℓ, 하이브리드 19.5km/ℓ(16인치). 하이브리드는 프레스티지까지, 가솔린은 최상위 X-Line까지 예산 내. 출처: 기아 공식 가격표(셀토스, 2026.08).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02920" y="274320"/>
            <a:ext cx="50292" cy="384048"/>
          </a:xfrm>
          <a:prstGeom prst="rect">
            <a:avLst/>
          </a:prstGeom>
          <a:solidFill>
            <a:srgbClr val="E26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13232" y="219456"/>
            <a:ext cx="8778240" cy="457200"/>
          </a:xfrm>
          <a:prstGeom prst="rect">
            <a:avLst/>
          </a:prstGeom>
          <a:noFill/>
        </p:spPr>
        <p:txBody>
          <a:bodyPr wrap="square" anchor="t" lIns="0" rIns="0" tIns="0" bIns="0">
            <a:spAutoFit/>
          </a:bodyPr>
          <a:lstStyle/>
          <a:p>
            <a:pPr algn="l">
              <a:lnSpc>
                <a:spcPct val="115000"/>
              </a:lnSpc>
              <a:spcAft>
                <a:spcPts val="400"/>
              </a:spcAft>
            </a:pPr>
            <a:r>
              <a:rPr sz="2300" b="1">
                <a:solidFill>
                  <a:srgbClr val="FFFFFF"/>
                </a:solidFill>
                <a:latin typeface="맑은 고딕"/>
              </a:rPr>
              <a:t>현대 코나</a:t>
            </a:r>
          </a:p>
        </p:txBody>
      </p:sp>
      <p:sp>
        <p:nvSpPr>
          <p:cNvPr id="5" name="TextBox 4"/>
          <p:cNvSpPr txBox="1"/>
          <p:nvPr/>
        </p:nvSpPr>
        <p:spPr>
          <a:xfrm>
            <a:off x="9509760" y="329184"/>
            <a:ext cx="2194560" cy="365760"/>
          </a:xfrm>
          <a:prstGeom prst="rect">
            <a:avLst/>
          </a:prstGeom>
          <a:noFill/>
        </p:spPr>
        <p:txBody>
          <a:bodyPr wrap="square" anchor="t" lIns="0" rIns="0" tIns="0" bIns="0">
            <a:spAutoFit/>
          </a:bodyPr>
          <a:lstStyle/>
          <a:p>
            <a:pPr algn="r">
              <a:lnSpc>
                <a:spcPct val="115000"/>
              </a:lnSpc>
              <a:spcAft>
                <a:spcPts val="400"/>
              </a:spcAft>
            </a:pPr>
            <a:r>
              <a:rPr sz="1100" b="0">
                <a:solidFill>
                  <a:srgbClr val="A9BED2"/>
                </a:solidFill>
                <a:latin typeface="맑은 고딕"/>
              </a:rPr>
              <a:t>06 / 소형</a:t>
            </a:r>
          </a:p>
        </p:txBody>
      </p:sp>
      <p:sp>
        <p:nvSpPr>
          <p:cNvPr id="6" name="TextBox 5"/>
          <p:cNvSpPr txBox="1"/>
          <p:nvPr/>
        </p:nvSpPr>
        <p:spPr>
          <a:xfrm>
            <a:off x="713232" y="1060704"/>
            <a:ext cx="10881360" cy="310896"/>
          </a:xfrm>
          <a:prstGeom prst="rect">
            <a:avLst/>
          </a:prstGeom>
          <a:noFill/>
        </p:spPr>
        <p:txBody>
          <a:bodyPr wrap="square" anchor="t" lIns="0" rIns="0" tIns="0" bIns="0">
            <a:spAutoFit/>
          </a:bodyPr>
          <a:lstStyle/>
          <a:p>
            <a:pPr algn="l">
              <a:lnSpc>
                <a:spcPct val="115000"/>
              </a:lnSpc>
              <a:spcAft>
                <a:spcPts val="400"/>
              </a:spcAft>
            </a:pPr>
            <a:r>
              <a:rPr sz="1250" b="0">
                <a:solidFill>
                  <a:srgbClr val="6E7884"/>
                </a:solidFill>
                <a:latin typeface="맑은 고딕"/>
              </a:rPr>
              <a:t>5종 중 시작가가 가장 낮다. 예산 안에서 최상위 트림 + 풀옵션에 가장 가깝게 갈 수 있다.</a:t>
            </a:r>
          </a:p>
        </p:txBody>
      </p:sp>
      <p:graphicFrame>
        <p:nvGraphicFramePr>
          <p:cNvPr id="7" name="Table 6"/>
          <p:cNvGraphicFramePr>
            <a:graphicFrameLocks noGrp="1"/>
          </p:cNvGraphicFramePr>
          <p:nvPr/>
        </p:nvGraphicFramePr>
        <p:xfrm>
          <a:off x="713232" y="1627632"/>
          <a:ext cx="5029198" cy="2958084"/>
        </p:xfrm>
        <a:graphic>
          <a:graphicData uri="http://schemas.openxmlformats.org/drawingml/2006/table">
            <a:tbl>
              <a:tblPr firstRow="1">
                <a:tableStyleId>{5C22544A-7EE6-4342-B048-85BDC9FD1C3A}</a:tableStyleId>
              </a:tblPr>
              <a:tblGrid>
                <a:gridCol w="2143593"/>
                <a:gridCol w="1071796"/>
                <a:gridCol w="1071796"/>
                <a:gridCol w="742013"/>
              </a:tblGrid>
              <a:tr h="365760">
                <a:tc>
                  <a:txBody>
                    <a:bodyPr/>
                    <a:lstStyle/>
                    <a:p>
                      <a:pPr algn="l"/>
                      <a:r>
                        <a:rPr sz="1100" b="1">
                          <a:solidFill>
                            <a:srgbClr val="FFFFFF"/>
                          </a:solidFill>
                          <a:latin typeface="맑은 고딕"/>
                        </a:rPr>
                        <a:t>트림</a:t>
                      </a:r>
                    </a:p>
                  </a:txBody>
                  <a:tcPr marL="64008" marR="64008" marT="18288" marB="18288" anchor="ctr">
                    <a:solidFill>
                      <a:srgbClr val="102A43"/>
                    </a:solidFill>
                  </a:tcPr>
                </a:tc>
                <a:tc>
                  <a:txBody>
                    <a:bodyPr/>
                    <a:lstStyle/>
                    <a:p>
                      <a:pPr algn="ctr"/>
                      <a:r>
                        <a:rPr sz="1100" b="1">
                          <a:solidFill>
                            <a:srgbClr val="FFFFFF"/>
                          </a:solidFill>
                          <a:latin typeface="맑은 고딕"/>
                        </a:rPr>
                        <a:t>차량가</a:t>
                      </a:r>
                    </a:p>
                  </a:txBody>
                  <a:tcPr marL="64008" marR="64008" marT="18288" marB="18288" anchor="ctr">
                    <a:solidFill>
                      <a:srgbClr val="102A43"/>
                    </a:solidFill>
                  </a:tcPr>
                </a:tc>
                <a:tc>
                  <a:txBody>
                    <a:bodyPr/>
                    <a:lstStyle/>
                    <a:p>
                      <a:pPr algn="ctr"/>
                      <a:r>
                        <a:rPr sz="1100" b="1">
                          <a:solidFill>
                            <a:srgbClr val="FFFFFF"/>
                          </a:solidFill>
                          <a:latin typeface="맑은 고딕"/>
                        </a:rPr>
                        <a:t>실구매가</a:t>
                      </a:r>
                    </a:p>
                  </a:txBody>
                  <a:tcPr marL="64008" marR="64008" marT="18288" marB="18288" anchor="ctr">
                    <a:solidFill>
                      <a:srgbClr val="102A43"/>
                    </a:solidFill>
                  </a:tcPr>
                </a:tc>
                <a:tc>
                  <a:txBody>
                    <a:bodyPr/>
                    <a:lstStyle/>
                    <a:p>
                      <a:pPr algn="ctr"/>
                      <a:r>
                        <a:rPr sz="1100" b="1">
                          <a:solidFill>
                            <a:srgbClr val="FFFFFF"/>
                          </a:solidFill>
                          <a:latin typeface="맑은 고딕"/>
                        </a:rPr>
                        <a:t>판정</a:t>
                      </a:r>
                    </a:p>
                  </a:txBody>
                  <a:tcPr marL="64008" marR="64008" marT="18288" marB="18288" anchor="ctr">
                    <a:solidFill>
                      <a:srgbClr val="102A43"/>
                    </a:solidFill>
                  </a:tcPr>
                </a:tc>
              </a:tr>
              <a:tr h="288036">
                <a:tc>
                  <a:txBody>
                    <a:bodyPr/>
                    <a:lstStyle/>
                    <a:p>
                      <a:pPr algn="l"/>
                      <a:r>
                        <a:rPr sz="1100" b="0">
                          <a:solidFill>
                            <a:srgbClr val="242D38"/>
                          </a:solidFill>
                          <a:latin typeface="맑은 고딕"/>
                        </a:rPr>
                        <a:t>가솔린 모던</a:t>
                      </a:r>
                    </a:p>
                  </a:txBody>
                  <a:tcPr marL="64008" marR="64008" marT="18288" marB="18288" anchor="ctr">
                    <a:solidFill>
                      <a:srgbClr val="E9F4EE"/>
                    </a:solidFill>
                  </a:tcPr>
                </a:tc>
                <a:tc>
                  <a:txBody>
                    <a:bodyPr/>
                    <a:lstStyle/>
                    <a:p>
                      <a:pPr algn="ctr"/>
                      <a:r>
                        <a:rPr sz="1100" b="0">
                          <a:solidFill>
                            <a:srgbClr val="242D38"/>
                          </a:solidFill>
                          <a:latin typeface="맑은 고딕"/>
                        </a:rPr>
                        <a:t>2,463만</a:t>
                      </a:r>
                    </a:p>
                  </a:txBody>
                  <a:tcPr marL="64008" marR="64008" marT="18288" marB="18288" anchor="ctr">
                    <a:solidFill>
                      <a:srgbClr val="E9F4EE"/>
                    </a:solidFill>
                  </a:tcPr>
                </a:tc>
                <a:tc>
                  <a:txBody>
                    <a:bodyPr/>
                    <a:lstStyle/>
                    <a:p>
                      <a:pPr algn="ctr"/>
                      <a:r>
                        <a:rPr sz="1100" b="0">
                          <a:solidFill>
                            <a:srgbClr val="242D38"/>
                          </a:solidFill>
                          <a:latin typeface="맑은 고딕"/>
                        </a:rPr>
                        <a:t>2,650만</a:t>
                      </a:r>
                    </a:p>
                  </a:txBody>
                  <a:tcPr marL="64008" marR="64008" marT="18288" marB="18288" anchor="ctr">
                    <a:solidFill>
                      <a:srgbClr val="E9F4EE"/>
                    </a:solidFill>
                  </a:tcPr>
                </a:tc>
                <a:tc>
                  <a:txBody>
                    <a:bodyPr/>
                    <a:lstStyle/>
                    <a:p>
                      <a:pPr algn="ctr"/>
                      <a:r>
                        <a:rPr sz="1100" b="0">
                          <a:solidFill>
                            <a:srgbClr val="242D38"/>
                          </a:solidFill>
                          <a:latin typeface="맑은 고딕"/>
                        </a:rPr>
                        <a:t>가능</a:t>
                      </a:r>
                    </a:p>
                  </a:txBody>
                  <a:tcPr marL="64008" marR="64008" marT="18288" marB="18288" anchor="ctr">
                    <a:solidFill>
                      <a:srgbClr val="E9F4EE"/>
                    </a:solidFill>
                  </a:tcPr>
                </a:tc>
              </a:tr>
              <a:tr h="288036">
                <a:tc>
                  <a:txBody>
                    <a:bodyPr/>
                    <a:lstStyle/>
                    <a:p>
                      <a:pPr algn="l"/>
                      <a:r>
                        <a:rPr sz="1100" b="0">
                          <a:solidFill>
                            <a:srgbClr val="242D38"/>
                          </a:solidFill>
                          <a:latin typeface="맑은 고딕"/>
                        </a:rPr>
                        <a:t>가솔린 H-Pick</a:t>
                      </a:r>
                    </a:p>
                  </a:txBody>
                  <a:tcPr marL="64008" marR="64008" marT="18288" marB="18288" anchor="ctr">
                    <a:solidFill>
                      <a:srgbClr val="E9F4EE"/>
                    </a:solidFill>
                  </a:tcPr>
                </a:tc>
                <a:tc>
                  <a:txBody>
                    <a:bodyPr/>
                    <a:lstStyle/>
                    <a:p>
                      <a:pPr algn="ctr"/>
                      <a:r>
                        <a:rPr sz="1100" b="0">
                          <a:solidFill>
                            <a:srgbClr val="242D38"/>
                          </a:solidFill>
                          <a:latin typeface="맑은 고딕"/>
                        </a:rPr>
                        <a:t>2,685만</a:t>
                      </a:r>
                    </a:p>
                  </a:txBody>
                  <a:tcPr marL="64008" marR="64008" marT="18288" marB="18288" anchor="ctr">
                    <a:solidFill>
                      <a:srgbClr val="E9F4EE"/>
                    </a:solidFill>
                  </a:tcPr>
                </a:tc>
                <a:tc>
                  <a:txBody>
                    <a:bodyPr/>
                    <a:lstStyle/>
                    <a:p>
                      <a:pPr algn="ctr"/>
                      <a:r>
                        <a:rPr sz="1100" b="0">
                          <a:solidFill>
                            <a:srgbClr val="242D38"/>
                          </a:solidFill>
                          <a:latin typeface="맑은 고딕"/>
                        </a:rPr>
                        <a:t>2,886만</a:t>
                      </a:r>
                    </a:p>
                  </a:txBody>
                  <a:tcPr marL="64008" marR="64008" marT="18288" marB="18288" anchor="ctr">
                    <a:solidFill>
                      <a:srgbClr val="E9F4EE"/>
                    </a:solidFill>
                  </a:tcPr>
                </a:tc>
                <a:tc>
                  <a:txBody>
                    <a:bodyPr/>
                    <a:lstStyle/>
                    <a:p>
                      <a:pPr algn="ctr"/>
                      <a:r>
                        <a:rPr sz="1100" b="0">
                          <a:solidFill>
                            <a:srgbClr val="242D38"/>
                          </a:solidFill>
                          <a:latin typeface="맑은 고딕"/>
                        </a:rPr>
                        <a:t>가능</a:t>
                      </a:r>
                    </a:p>
                  </a:txBody>
                  <a:tcPr marL="64008" marR="64008" marT="18288" marB="18288" anchor="ctr">
                    <a:solidFill>
                      <a:srgbClr val="E9F4EE"/>
                    </a:solidFill>
                  </a:tcPr>
                </a:tc>
              </a:tr>
              <a:tr h="288036">
                <a:tc>
                  <a:txBody>
                    <a:bodyPr/>
                    <a:lstStyle/>
                    <a:p>
                      <a:pPr algn="l"/>
                      <a:r>
                        <a:rPr sz="1100" b="0">
                          <a:solidFill>
                            <a:srgbClr val="242D38"/>
                          </a:solidFill>
                          <a:latin typeface="맑은 고딕"/>
                        </a:rPr>
                        <a:t>가솔린 프리미엄</a:t>
                      </a:r>
                    </a:p>
                  </a:txBody>
                  <a:tcPr marL="64008" marR="64008" marT="18288" marB="18288" anchor="ctr">
                    <a:solidFill>
                      <a:srgbClr val="E9F4EE"/>
                    </a:solidFill>
                  </a:tcPr>
                </a:tc>
                <a:tc>
                  <a:txBody>
                    <a:bodyPr/>
                    <a:lstStyle/>
                    <a:p>
                      <a:pPr algn="ctr"/>
                      <a:r>
                        <a:rPr sz="1100" b="0">
                          <a:solidFill>
                            <a:srgbClr val="242D38"/>
                          </a:solidFill>
                          <a:latin typeface="맑은 고딕"/>
                        </a:rPr>
                        <a:t>2,915만</a:t>
                      </a:r>
                    </a:p>
                  </a:txBody>
                  <a:tcPr marL="64008" marR="64008" marT="18288" marB="18288" anchor="ctr">
                    <a:solidFill>
                      <a:srgbClr val="E9F4EE"/>
                    </a:solidFill>
                  </a:tcPr>
                </a:tc>
                <a:tc>
                  <a:txBody>
                    <a:bodyPr/>
                    <a:lstStyle/>
                    <a:p>
                      <a:pPr algn="ctr"/>
                      <a:r>
                        <a:rPr sz="1100" b="0">
                          <a:solidFill>
                            <a:srgbClr val="242D38"/>
                          </a:solidFill>
                          <a:latin typeface="맑은 고딕"/>
                        </a:rPr>
                        <a:t>3,130만</a:t>
                      </a:r>
                    </a:p>
                  </a:txBody>
                  <a:tcPr marL="64008" marR="64008" marT="18288" marB="18288" anchor="ctr">
                    <a:solidFill>
                      <a:srgbClr val="E9F4EE"/>
                    </a:solidFill>
                  </a:tcPr>
                </a:tc>
                <a:tc>
                  <a:txBody>
                    <a:bodyPr/>
                    <a:lstStyle/>
                    <a:p>
                      <a:pPr algn="ctr"/>
                      <a:r>
                        <a:rPr sz="1100" b="0">
                          <a:solidFill>
                            <a:srgbClr val="242D38"/>
                          </a:solidFill>
                          <a:latin typeface="맑은 고딕"/>
                        </a:rPr>
                        <a:t>가능</a:t>
                      </a:r>
                    </a:p>
                  </a:txBody>
                  <a:tcPr marL="64008" marR="64008" marT="18288" marB="18288" anchor="ctr">
                    <a:solidFill>
                      <a:srgbClr val="E9F4EE"/>
                    </a:solidFill>
                  </a:tcPr>
                </a:tc>
              </a:tr>
              <a:tr h="288036">
                <a:tc>
                  <a:txBody>
                    <a:bodyPr/>
                    <a:lstStyle/>
                    <a:p>
                      <a:pPr algn="l"/>
                      <a:r>
                        <a:rPr sz="1100" b="0">
                          <a:solidFill>
                            <a:srgbClr val="242D38"/>
                          </a:solidFill>
                          <a:latin typeface="맑은 고딕"/>
                        </a:rPr>
                        <a:t>가솔린 인스퍼레이션</a:t>
                      </a:r>
                    </a:p>
                  </a:txBody>
                  <a:tcPr marL="64008" marR="64008" marT="18288" marB="18288" anchor="ctr">
                    <a:solidFill>
                      <a:srgbClr val="E9F4EE"/>
                    </a:solidFill>
                  </a:tcPr>
                </a:tc>
                <a:tc>
                  <a:txBody>
                    <a:bodyPr/>
                    <a:lstStyle/>
                    <a:p>
                      <a:pPr algn="ctr"/>
                      <a:r>
                        <a:rPr sz="1100" b="0">
                          <a:solidFill>
                            <a:srgbClr val="242D38"/>
                          </a:solidFill>
                          <a:latin typeface="맑은 고딕"/>
                        </a:rPr>
                        <a:t>3,146만</a:t>
                      </a:r>
                    </a:p>
                  </a:txBody>
                  <a:tcPr marL="64008" marR="64008" marT="18288" marB="18288" anchor="ctr">
                    <a:solidFill>
                      <a:srgbClr val="E9F4EE"/>
                    </a:solidFill>
                  </a:tcPr>
                </a:tc>
                <a:tc>
                  <a:txBody>
                    <a:bodyPr/>
                    <a:lstStyle/>
                    <a:p>
                      <a:pPr algn="ctr"/>
                      <a:r>
                        <a:rPr sz="1100" b="0">
                          <a:solidFill>
                            <a:srgbClr val="242D38"/>
                          </a:solidFill>
                          <a:latin typeface="맑은 고딕"/>
                        </a:rPr>
                        <a:t>3,376만</a:t>
                      </a:r>
                    </a:p>
                  </a:txBody>
                  <a:tcPr marL="64008" marR="64008" marT="18288" marB="18288" anchor="ctr">
                    <a:solidFill>
                      <a:srgbClr val="E9F4EE"/>
                    </a:solidFill>
                  </a:tcPr>
                </a:tc>
                <a:tc>
                  <a:txBody>
                    <a:bodyPr/>
                    <a:lstStyle/>
                    <a:p>
                      <a:pPr algn="ctr"/>
                      <a:r>
                        <a:rPr sz="1100" b="0">
                          <a:solidFill>
                            <a:srgbClr val="242D38"/>
                          </a:solidFill>
                          <a:latin typeface="맑은 고딕"/>
                        </a:rPr>
                        <a:t>가능</a:t>
                      </a:r>
                    </a:p>
                  </a:txBody>
                  <a:tcPr marL="64008" marR="64008" marT="18288" marB="18288" anchor="ctr">
                    <a:solidFill>
                      <a:srgbClr val="E9F4EE"/>
                    </a:solidFill>
                  </a:tcPr>
                </a:tc>
              </a:tr>
              <a:tr h="288036">
                <a:tc>
                  <a:txBody>
                    <a:bodyPr/>
                    <a:lstStyle/>
                    <a:p>
                      <a:pPr algn="l"/>
                      <a:r>
                        <a:rPr sz="1100" b="0">
                          <a:solidFill>
                            <a:srgbClr val="242D38"/>
                          </a:solidFill>
                          <a:latin typeface="맑은 고딕"/>
                        </a:rPr>
                        <a:t>가솔린 N Line</a:t>
                      </a:r>
                    </a:p>
                  </a:txBody>
                  <a:tcPr marL="64008" marR="64008" marT="18288" marB="18288" anchor="ctr">
                    <a:solidFill>
                      <a:srgbClr val="E9F4EE"/>
                    </a:solidFill>
                  </a:tcPr>
                </a:tc>
                <a:tc>
                  <a:txBody>
                    <a:bodyPr/>
                    <a:lstStyle/>
                    <a:p>
                      <a:pPr algn="ctr"/>
                      <a:r>
                        <a:rPr sz="1100" b="0">
                          <a:solidFill>
                            <a:srgbClr val="242D38"/>
                          </a:solidFill>
                          <a:latin typeface="맑은 고딕"/>
                        </a:rPr>
                        <a:t>3,245만</a:t>
                      </a:r>
                    </a:p>
                  </a:txBody>
                  <a:tcPr marL="64008" marR="64008" marT="18288" marB="18288" anchor="ctr">
                    <a:solidFill>
                      <a:srgbClr val="E9F4EE"/>
                    </a:solidFill>
                  </a:tcPr>
                </a:tc>
                <a:tc>
                  <a:txBody>
                    <a:bodyPr/>
                    <a:lstStyle/>
                    <a:p>
                      <a:pPr algn="ctr"/>
                      <a:r>
                        <a:rPr sz="1100" b="0">
                          <a:solidFill>
                            <a:srgbClr val="242D38"/>
                          </a:solidFill>
                          <a:latin typeface="맑은 고딕"/>
                        </a:rPr>
                        <a:t>3,482만</a:t>
                      </a:r>
                    </a:p>
                  </a:txBody>
                  <a:tcPr marL="64008" marR="64008" marT="18288" marB="18288" anchor="ctr">
                    <a:solidFill>
                      <a:srgbClr val="E9F4EE"/>
                    </a:solidFill>
                  </a:tcPr>
                </a:tc>
                <a:tc>
                  <a:txBody>
                    <a:bodyPr/>
                    <a:lstStyle/>
                    <a:p>
                      <a:pPr algn="ctr"/>
                      <a:r>
                        <a:rPr sz="1100" b="0">
                          <a:solidFill>
                            <a:srgbClr val="242D38"/>
                          </a:solidFill>
                          <a:latin typeface="맑은 고딕"/>
                        </a:rPr>
                        <a:t>가능</a:t>
                      </a:r>
                    </a:p>
                  </a:txBody>
                  <a:tcPr marL="64008" marR="64008" marT="18288" marB="18288" anchor="ctr">
                    <a:solidFill>
                      <a:srgbClr val="E9F4EE"/>
                    </a:solidFill>
                  </a:tcPr>
                </a:tc>
              </a:tr>
              <a:tr h="288036">
                <a:tc>
                  <a:txBody>
                    <a:bodyPr/>
                    <a:lstStyle/>
                    <a:p>
                      <a:pPr algn="l"/>
                      <a:r>
                        <a:rPr sz="1100" b="0">
                          <a:solidFill>
                            <a:srgbClr val="242D38"/>
                          </a:solidFill>
                          <a:latin typeface="맑은 고딕"/>
                        </a:rPr>
                        <a:t>HEV 모던</a:t>
                      </a:r>
                    </a:p>
                  </a:txBody>
                  <a:tcPr marL="64008" marR="64008" marT="18288" marB="18288" anchor="ctr">
                    <a:solidFill>
                      <a:srgbClr val="E9F4EE"/>
                    </a:solidFill>
                  </a:tcPr>
                </a:tc>
                <a:tc>
                  <a:txBody>
                    <a:bodyPr/>
                    <a:lstStyle/>
                    <a:p>
                      <a:pPr algn="ctr"/>
                      <a:r>
                        <a:rPr sz="1100" b="0">
                          <a:solidFill>
                            <a:srgbClr val="242D38"/>
                          </a:solidFill>
                          <a:latin typeface="맑은 고딕"/>
                        </a:rPr>
                        <a:t>2,938만</a:t>
                      </a:r>
                    </a:p>
                  </a:txBody>
                  <a:tcPr marL="64008" marR="64008" marT="18288" marB="18288" anchor="ctr">
                    <a:solidFill>
                      <a:srgbClr val="E9F4EE"/>
                    </a:solidFill>
                  </a:tcPr>
                </a:tc>
                <a:tc>
                  <a:txBody>
                    <a:bodyPr/>
                    <a:lstStyle/>
                    <a:p>
                      <a:pPr algn="ctr"/>
                      <a:r>
                        <a:rPr sz="1100" b="0">
                          <a:solidFill>
                            <a:srgbClr val="242D38"/>
                          </a:solidFill>
                          <a:latin typeface="맑은 고딕"/>
                        </a:rPr>
                        <a:t>3,155만</a:t>
                      </a:r>
                    </a:p>
                  </a:txBody>
                  <a:tcPr marL="64008" marR="64008" marT="18288" marB="18288" anchor="ctr">
                    <a:solidFill>
                      <a:srgbClr val="E9F4EE"/>
                    </a:solidFill>
                  </a:tcPr>
                </a:tc>
                <a:tc>
                  <a:txBody>
                    <a:bodyPr/>
                    <a:lstStyle/>
                    <a:p>
                      <a:pPr algn="ctr"/>
                      <a:r>
                        <a:rPr sz="1100" b="0">
                          <a:solidFill>
                            <a:srgbClr val="242D38"/>
                          </a:solidFill>
                          <a:latin typeface="맑은 고딕"/>
                        </a:rPr>
                        <a:t>가능</a:t>
                      </a:r>
                    </a:p>
                  </a:txBody>
                  <a:tcPr marL="64008" marR="64008" marT="18288" marB="18288" anchor="ctr">
                    <a:solidFill>
                      <a:srgbClr val="E9F4EE"/>
                    </a:solidFill>
                  </a:tcPr>
                </a:tc>
              </a:tr>
              <a:tr h="288036">
                <a:tc>
                  <a:txBody>
                    <a:bodyPr/>
                    <a:lstStyle/>
                    <a:p>
                      <a:pPr algn="l"/>
                      <a:r>
                        <a:rPr sz="1100" b="0">
                          <a:solidFill>
                            <a:srgbClr val="242D38"/>
                          </a:solidFill>
                          <a:latin typeface="맑은 고딕"/>
                        </a:rPr>
                        <a:t>HEV H-Pick</a:t>
                      </a:r>
                    </a:p>
                  </a:txBody>
                  <a:tcPr marL="64008" marR="64008" marT="18288" marB="18288" anchor="ctr">
                    <a:solidFill>
                      <a:srgbClr val="E9F4EE"/>
                    </a:solidFill>
                  </a:tcPr>
                </a:tc>
                <a:tc>
                  <a:txBody>
                    <a:bodyPr/>
                    <a:lstStyle/>
                    <a:p>
                      <a:pPr algn="ctr"/>
                      <a:r>
                        <a:rPr sz="1100" b="0">
                          <a:solidFill>
                            <a:srgbClr val="242D38"/>
                          </a:solidFill>
                          <a:latin typeface="맑은 고딕"/>
                        </a:rPr>
                        <a:t>3,120만</a:t>
                      </a:r>
                    </a:p>
                  </a:txBody>
                  <a:tcPr marL="64008" marR="64008" marT="18288" marB="18288" anchor="ctr">
                    <a:solidFill>
                      <a:srgbClr val="E9F4EE"/>
                    </a:solidFill>
                  </a:tcPr>
                </a:tc>
                <a:tc>
                  <a:txBody>
                    <a:bodyPr/>
                    <a:lstStyle/>
                    <a:p>
                      <a:pPr algn="ctr"/>
                      <a:r>
                        <a:rPr sz="1100" b="0">
                          <a:solidFill>
                            <a:srgbClr val="242D38"/>
                          </a:solidFill>
                          <a:latin typeface="맑은 고딕"/>
                        </a:rPr>
                        <a:t>3,349만</a:t>
                      </a:r>
                    </a:p>
                  </a:txBody>
                  <a:tcPr marL="64008" marR="64008" marT="18288" marB="18288" anchor="ctr">
                    <a:solidFill>
                      <a:srgbClr val="E9F4EE"/>
                    </a:solidFill>
                  </a:tcPr>
                </a:tc>
                <a:tc>
                  <a:txBody>
                    <a:bodyPr/>
                    <a:lstStyle/>
                    <a:p>
                      <a:pPr algn="ctr"/>
                      <a:r>
                        <a:rPr sz="1100" b="0">
                          <a:solidFill>
                            <a:srgbClr val="242D38"/>
                          </a:solidFill>
                          <a:latin typeface="맑은 고딕"/>
                        </a:rPr>
                        <a:t>가능</a:t>
                      </a:r>
                    </a:p>
                  </a:txBody>
                  <a:tcPr marL="64008" marR="64008" marT="18288" marB="18288" anchor="ctr">
                    <a:solidFill>
                      <a:srgbClr val="E9F4EE"/>
                    </a:solidFill>
                  </a:tcPr>
                </a:tc>
              </a:tr>
              <a:tr h="288036">
                <a:tc>
                  <a:txBody>
                    <a:bodyPr/>
                    <a:lstStyle/>
                    <a:p>
                      <a:pPr algn="l"/>
                      <a:r>
                        <a:rPr sz="1100" b="0">
                          <a:solidFill>
                            <a:srgbClr val="242D38"/>
                          </a:solidFill>
                          <a:latin typeface="맑은 고딕"/>
                        </a:rPr>
                        <a:t>HEV 프리미엄</a:t>
                      </a:r>
                    </a:p>
                  </a:txBody>
                  <a:tcPr marL="64008" marR="64008" marT="18288" marB="18288" anchor="ctr">
                    <a:solidFill>
                      <a:srgbClr val="E9F4EE"/>
                    </a:solidFill>
                  </a:tcPr>
                </a:tc>
                <a:tc>
                  <a:txBody>
                    <a:bodyPr/>
                    <a:lstStyle/>
                    <a:p>
                      <a:pPr algn="ctr"/>
                      <a:r>
                        <a:rPr sz="1100" b="0">
                          <a:solidFill>
                            <a:srgbClr val="242D38"/>
                          </a:solidFill>
                          <a:latin typeface="맑은 고딕"/>
                        </a:rPr>
                        <a:t>3,367만</a:t>
                      </a:r>
                    </a:p>
                  </a:txBody>
                  <a:tcPr marL="64008" marR="64008" marT="18288" marB="18288" anchor="ctr">
                    <a:solidFill>
                      <a:srgbClr val="E9F4EE"/>
                    </a:solidFill>
                  </a:tcPr>
                </a:tc>
                <a:tc>
                  <a:txBody>
                    <a:bodyPr/>
                    <a:lstStyle/>
                    <a:p>
                      <a:pPr algn="ctr"/>
                      <a:r>
                        <a:rPr sz="1100" b="0">
                          <a:solidFill>
                            <a:srgbClr val="242D38"/>
                          </a:solidFill>
                          <a:latin typeface="맑은 고딕"/>
                        </a:rPr>
                        <a:t>3,611만</a:t>
                      </a:r>
                    </a:p>
                  </a:txBody>
                  <a:tcPr marL="64008" marR="64008" marT="18288" marB="18288" anchor="ctr">
                    <a:solidFill>
                      <a:srgbClr val="E9F4EE"/>
                    </a:solidFill>
                  </a:tcPr>
                </a:tc>
                <a:tc>
                  <a:txBody>
                    <a:bodyPr/>
                    <a:lstStyle/>
                    <a:p>
                      <a:pPr algn="ctr"/>
                      <a:r>
                        <a:rPr sz="1100" b="0">
                          <a:solidFill>
                            <a:srgbClr val="242D38"/>
                          </a:solidFill>
                          <a:latin typeface="맑은 고딕"/>
                        </a:rPr>
                        <a:t>가능</a:t>
                      </a:r>
                    </a:p>
                  </a:txBody>
                  <a:tcPr marL="64008" marR="64008" marT="18288" marB="18288" anchor="ctr">
                    <a:solidFill>
                      <a:srgbClr val="E9F4EE"/>
                    </a:solidFill>
                  </a:tcPr>
                </a:tc>
              </a:tr>
              <a:tr h="288036">
                <a:tc>
                  <a:txBody>
                    <a:bodyPr/>
                    <a:lstStyle/>
                    <a:p>
                      <a:pPr algn="l"/>
                      <a:r>
                        <a:rPr sz="1100" b="0">
                          <a:solidFill>
                            <a:srgbClr val="242D38"/>
                          </a:solidFill>
                          <a:latin typeface="맑은 고딕"/>
                        </a:rPr>
                        <a:t>HEV 인스퍼레이션</a:t>
                      </a:r>
                    </a:p>
                  </a:txBody>
                  <a:tcPr marL="64008" marR="64008" marT="18288" marB="18288" anchor="ctr">
                    <a:solidFill>
                      <a:srgbClr val="FDECE8"/>
                    </a:solidFill>
                  </a:tcPr>
                </a:tc>
                <a:tc>
                  <a:txBody>
                    <a:bodyPr/>
                    <a:lstStyle/>
                    <a:p>
                      <a:pPr algn="ctr"/>
                      <a:r>
                        <a:rPr sz="1100" b="0">
                          <a:solidFill>
                            <a:srgbClr val="242D38"/>
                          </a:solidFill>
                          <a:latin typeface="맑은 고딕"/>
                        </a:rPr>
                        <a:t>3,563만</a:t>
                      </a:r>
                    </a:p>
                  </a:txBody>
                  <a:tcPr marL="64008" marR="64008" marT="18288" marB="18288" anchor="ctr">
                    <a:solidFill>
                      <a:srgbClr val="FDECE8"/>
                    </a:solidFill>
                  </a:tcPr>
                </a:tc>
                <a:tc>
                  <a:txBody>
                    <a:bodyPr/>
                    <a:lstStyle/>
                    <a:p>
                      <a:pPr algn="ctr"/>
                      <a:r>
                        <a:rPr sz="1100" b="0">
                          <a:solidFill>
                            <a:srgbClr val="242D38"/>
                          </a:solidFill>
                          <a:latin typeface="맑은 고딕"/>
                        </a:rPr>
                        <a:t>3,820만</a:t>
                      </a:r>
                    </a:p>
                  </a:txBody>
                  <a:tcPr marL="64008" marR="64008" marT="18288" marB="18288" anchor="ctr">
                    <a:solidFill>
                      <a:srgbClr val="FDECE8"/>
                    </a:solidFill>
                  </a:tcPr>
                </a:tc>
                <a:tc>
                  <a:txBody>
                    <a:bodyPr/>
                    <a:lstStyle/>
                    <a:p>
                      <a:pPr algn="ctr"/>
                      <a:r>
                        <a:rPr sz="1100" b="0">
                          <a:solidFill>
                            <a:srgbClr val="242D38"/>
                          </a:solidFill>
                          <a:latin typeface="맑은 고딕"/>
                        </a:rPr>
                        <a:t>초과</a:t>
                      </a:r>
                    </a:p>
                  </a:txBody>
                  <a:tcPr marL="64008" marR="64008" marT="18288" marB="18288" anchor="ctr">
                    <a:solidFill>
                      <a:srgbClr val="FDECE8"/>
                    </a:solidFill>
                  </a:tcPr>
                </a:tc>
              </a:tr>
            </a:tbl>
          </a:graphicData>
        </a:graphic>
      </p:graphicFrame>
      <p:sp>
        <p:nvSpPr>
          <p:cNvPr id="8" name="Rectangle 7"/>
          <p:cNvSpPr/>
          <p:nvPr/>
        </p:nvSpPr>
        <p:spPr>
          <a:xfrm>
            <a:off x="6053328" y="1627632"/>
            <a:ext cx="5422392" cy="228600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053328" y="1627632"/>
            <a:ext cx="45720" cy="2286000"/>
          </a:xfrm>
          <a:prstGeom prst="rect">
            <a:avLst/>
          </a:prstGeom>
          <a:solidFill>
            <a:srgbClr val="1B6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291072" y="1792224"/>
            <a:ext cx="5029200" cy="274320"/>
          </a:xfrm>
          <a:prstGeom prst="rect">
            <a:avLst/>
          </a:prstGeom>
          <a:noFill/>
        </p:spPr>
        <p:txBody>
          <a:bodyPr wrap="square" anchor="t" lIns="0" rIns="0" tIns="0" bIns="0">
            <a:spAutoFit/>
          </a:bodyPr>
          <a:lstStyle/>
          <a:p>
            <a:pPr algn="l">
              <a:lnSpc>
                <a:spcPct val="115000"/>
              </a:lnSpc>
              <a:spcAft>
                <a:spcPts val="400"/>
              </a:spcAft>
            </a:pPr>
            <a:r>
              <a:rPr sz="1250" b="1">
                <a:solidFill>
                  <a:srgbClr val="1B6CA8"/>
                </a:solidFill>
                <a:latin typeface="맑은 고딕"/>
              </a:rPr>
              <a:t>적용 가능한 주요 선택 옵션</a:t>
            </a:r>
          </a:p>
        </p:txBody>
      </p:sp>
      <p:sp>
        <p:nvSpPr>
          <p:cNvPr id="11" name="TextBox 10"/>
          <p:cNvSpPr txBox="1"/>
          <p:nvPr/>
        </p:nvSpPr>
        <p:spPr>
          <a:xfrm>
            <a:off x="6291072" y="2157984"/>
            <a:ext cx="5029200" cy="1691640"/>
          </a:xfrm>
          <a:prstGeom prst="rect">
            <a:avLst/>
          </a:prstGeom>
          <a:noFill/>
        </p:spPr>
        <p:txBody>
          <a:bodyPr wrap="square" anchor="t" lIns="0" rIns="0" tIns="0" bIns="0">
            <a:spAutoFit/>
          </a:bodyPr>
          <a:lstStyle/>
          <a:p>
            <a:pPr algn="l">
              <a:lnSpc>
                <a:spcPct val="142000"/>
              </a:lnSpc>
              <a:spcAft>
                <a:spcPts val="400"/>
              </a:spcAft>
            </a:pPr>
            <a:r>
              <a:rPr sz="1080" b="0">
                <a:solidFill>
                  <a:srgbClr val="242D38"/>
                </a:solidFill>
                <a:latin typeface="맑은 고딕"/>
              </a:rPr>
              <a:t>· 현대 스마트센스 Ⅰ(HDA·스마트크루즈 전체)  110만  (모던)</a:t>
            </a:r>
          </a:p>
          <a:p>
            <a:pPr algn="l">
              <a:lnSpc>
                <a:spcPct val="142000"/>
              </a:lnSpc>
              <a:spcAft>
                <a:spcPts val="400"/>
              </a:spcAft>
            </a:pPr>
            <a:r>
              <a:rPr sz="1080" b="0">
                <a:solidFill>
                  <a:srgbClr val="242D38"/>
                </a:solidFill>
                <a:latin typeface="맑은 고딕"/>
              </a:rPr>
              <a:t>· 베스트 셀렉션(스마트센스Ⅲ + 12.3 클러스터)  79만</a:t>
            </a:r>
          </a:p>
          <a:p>
            <a:pPr algn="l">
              <a:lnSpc>
                <a:spcPct val="142000"/>
              </a:lnSpc>
              <a:spcAft>
                <a:spcPts val="400"/>
              </a:spcAft>
            </a:pPr>
            <a:r>
              <a:rPr sz="1080" b="0">
                <a:solidFill>
                  <a:srgbClr val="242D38"/>
                </a:solidFill>
                <a:latin typeface="맑은 고딕"/>
              </a:rPr>
              <a:t>· 파킹어시스트(서라운드뷰·원격주차)  99만</a:t>
            </a:r>
          </a:p>
          <a:p>
            <a:pPr algn="l">
              <a:lnSpc>
                <a:spcPct val="142000"/>
              </a:lnSpc>
              <a:spcAft>
                <a:spcPts val="400"/>
              </a:spcAft>
            </a:pPr>
            <a:r>
              <a:rPr sz="1080" b="0">
                <a:solidFill>
                  <a:srgbClr val="242D38"/>
                </a:solidFill>
                <a:latin typeface="맑은 고딕"/>
              </a:rPr>
              <a:t>· 와이드 선루프  59만 / BOSE 사운드  59만</a:t>
            </a:r>
          </a:p>
          <a:p>
            <a:pPr algn="l">
              <a:lnSpc>
                <a:spcPct val="142000"/>
              </a:lnSpc>
              <a:spcAft>
                <a:spcPts val="400"/>
              </a:spcAft>
            </a:pPr>
            <a:r>
              <a:rPr sz="1080" b="0">
                <a:solidFill>
                  <a:srgbClr val="242D38"/>
                </a:solidFill>
                <a:latin typeface="맑은 고딕"/>
              </a:rPr>
              <a:t>· 시트플러스(릴랙션 컴포트·2열 열선)  49만</a:t>
            </a:r>
          </a:p>
          <a:p>
            <a:pPr algn="l">
              <a:lnSpc>
                <a:spcPct val="142000"/>
              </a:lnSpc>
              <a:spcAft>
                <a:spcPts val="400"/>
              </a:spcAft>
            </a:pPr>
            <a:r>
              <a:rPr sz="1080" b="0">
                <a:solidFill>
                  <a:srgbClr val="242D38"/>
                </a:solidFill>
                <a:latin typeface="맑은 고딕"/>
              </a:rPr>
              <a:t>· 빌트인 캠2 + AR 내비  45만 / 하이패스  20만</a:t>
            </a:r>
          </a:p>
          <a:p>
            <a:pPr algn="l">
              <a:lnSpc>
                <a:spcPct val="142000"/>
              </a:lnSpc>
              <a:spcAft>
                <a:spcPts val="400"/>
              </a:spcAft>
            </a:pPr>
            <a:r>
              <a:rPr sz="1080" b="0">
                <a:solidFill>
                  <a:srgbClr val="242D38"/>
                </a:solidFill>
                <a:latin typeface="맑은 고딕"/>
              </a:rPr>
              <a:t>· HTRAC 4WD  203만  (가솔린 프리미엄 이상)</a:t>
            </a:r>
          </a:p>
          <a:p>
            <a:pPr algn="l">
              <a:lnSpc>
                <a:spcPct val="142000"/>
              </a:lnSpc>
              <a:spcAft>
                <a:spcPts val="400"/>
              </a:spcAft>
            </a:pPr>
            <a:r>
              <a:rPr sz="1080" b="0">
                <a:solidFill>
                  <a:srgbClr val="242D38"/>
                </a:solidFill>
                <a:latin typeface="맑은 고딕"/>
              </a:rPr>
              <a:t>· 컨비니언스(파워테일게이트·무선충전)  40만</a:t>
            </a:r>
          </a:p>
        </p:txBody>
      </p:sp>
      <p:sp>
        <p:nvSpPr>
          <p:cNvPr id="12" name="Rectangle 11"/>
          <p:cNvSpPr/>
          <p:nvPr/>
        </p:nvSpPr>
        <p:spPr>
          <a:xfrm>
            <a:off x="6053328" y="4023360"/>
            <a:ext cx="5422392" cy="2176272"/>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291072" y="4160520"/>
            <a:ext cx="5029200" cy="274320"/>
          </a:xfrm>
          <a:prstGeom prst="rect">
            <a:avLst/>
          </a:prstGeom>
          <a:noFill/>
        </p:spPr>
        <p:txBody>
          <a:bodyPr wrap="square" anchor="t" lIns="0" rIns="0" tIns="0" bIns="0">
            <a:spAutoFit/>
          </a:bodyPr>
          <a:lstStyle/>
          <a:p>
            <a:pPr algn="l">
              <a:lnSpc>
                <a:spcPct val="115000"/>
              </a:lnSpc>
              <a:spcAft>
                <a:spcPts val="400"/>
              </a:spcAft>
            </a:pPr>
            <a:r>
              <a:rPr sz="1250" b="1">
                <a:solidFill>
                  <a:srgbClr val="F0A870"/>
                </a:solidFill>
                <a:latin typeface="맑은 고딕"/>
              </a:rPr>
              <a:t>예산 내 추천 조합</a:t>
            </a:r>
          </a:p>
        </p:txBody>
      </p:sp>
      <p:sp>
        <p:nvSpPr>
          <p:cNvPr id="14" name="TextBox 13"/>
          <p:cNvSpPr txBox="1"/>
          <p:nvPr/>
        </p:nvSpPr>
        <p:spPr>
          <a:xfrm>
            <a:off x="6291072" y="4517136"/>
            <a:ext cx="5029200" cy="1627632"/>
          </a:xfrm>
          <a:prstGeom prst="rect">
            <a:avLst/>
          </a:prstGeom>
          <a:noFill/>
        </p:spPr>
        <p:txBody>
          <a:bodyPr wrap="square" anchor="t" lIns="0" rIns="0" tIns="0" bIns="0">
            <a:spAutoFit/>
          </a:bodyPr>
          <a:lstStyle/>
          <a:p>
            <a:pPr algn="l">
              <a:lnSpc>
                <a:spcPct val="138000"/>
              </a:lnSpc>
              <a:spcAft>
                <a:spcPts val="0"/>
              </a:spcAft>
            </a:pPr>
            <a:r>
              <a:rPr sz="1050" b="0">
                <a:solidFill>
                  <a:srgbClr val="FFFFFF"/>
                </a:solidFill>
                <a:latin typeface="맑은 고딕"/>
              </a:rPr>
              <a:t>■ 연비 우선 — HEV H-Pick + 베스트셀렉션</a:t>
            </a:r>
          </a:p>
          <a:p>
            <a:pPr algn="l">
              <a:lnSpc>
                <a:spcPct val="138000"/>
              </a:lnSpc>
              <a:spcAft>
                <a:spcPts val="0"/>
              </a:spcAft>
            </a:pPr>
            <a:r>
              <a:rPr sz="1050" b="0">
                <a:solidFill>
                  <a:srgbClr val="FFFFFF"/>
                </a:solidFill>
                <a:latin typeface="맑은 고딕"/>
              </a:rPr>
              <a:t>   + 파킹어시스트 + 빌트인캠2 + 컨비니언스</a:t>
            </a:r>
          </a:p>
          <a:p>
            <a:pPr algn="l">
              <a:lnSpc>
                <a:spcPct val="138000"/>
              </a:lnSpc>
              <a:spcAft>
                <a:spcPts val="0"/>
              </a:spcAft>
            </a:pPr>
            <a:r>
              <a:rPr sz="1050" b="0">
                <a:solidFill>
                  <a:srgbClr val="FFFFFF"/>
                </a:solidFill>
                <a:latin typeface="맑은 고딕"/>
              </a:rPr>
              <a:t>   3,120 + 79 + 99 + 45 + 40 = 3,383만 → 실구매 3,628만</a:t>
            </a:r>
          </a:p>
          <a:p>
            <a:pPr algn="l">
              <a:lnSpc>
                <a:spcPct val="138000"/>
              </a:lnSpc>
              <a:spcAft>
                <a:spcPts val="0"/>
              </a:spcAft>
            </a:pPr>
            <a:r>
              <a:rPr sz="1050" b="0">
                <a:solidFill>
                  <a:srgbClr val="FFFFFF"/>
                </a:solidFill>
                <a:latin typeface="맑은 고딕"/>
              </a:rPr>
              <a:t>   (대안: HEV 프리미엄 단독 3,367만 → 3,611만)</a:t>
            </a:r>
          </a:p>
          <a:p>
            <a:pPr algn="l">
              <a:lnSpc>
                <a:spcPct val="138000"/>
              </a:lnSpc>
              <a:spcAft>
                <a:spcPts val="0"/>
              </a:spcAft>
            </a:pPr>
            <a:r>
              <a:rPr sz="1050" b="0">
                <a:solidFill>
                  <a:srgbClr val="FFFFFF"/>
                </a:solidFill>
                <a:latin typeface="맑은 고딕"/>
              </a:rPr>
              <a:t/>
            </a:r>
          </a:p>
          <a:p>
            <a:pPr algn="l">
              <a:lnSpc>
                <a:spcPct val="138000"/>
              </a:lnSpc>
              <a:spcAft>
                <a:spcPts val="0"/>
              </a:spcAft>
            </a:pPr>
            <a:r>
              <a:rPr sz="1050" b="0">
                <a:solidFill>
                  <a:srgbClr val="FFFFFF"/>
                </a:solidFill>
                <a:latin typeface="맑은 고딕"/>
              </a:rPr>
              <a:t>■ 사양 우선 — 가솔린 인스퍼레이션 + 파킹어시스트</a:t>
            </a:r>
          </a:p>
          <a:p>
            <a:pPr algn="l">
              <a:lnSpc>
                <a:spcPct val="138000"/>
              </a:lnSpc>
              <a:spcAft>
                <a:spcPts val="0"/>
              </a:spcAft>
            </a:pPr>
            <a:r>
              <a:rPr sz="1050" b="0">
                <a:solidFill>
                  <a:srgbClr val="FFFFFF"/>
                </a:solidFill>
                <a:latin typeface="맑은 고딕"/>
              </a:rPr>
              <a:t>   + 와이드선루프 + BOSE + 빌트인캠2</a:t>
            </a:r>
          </a:p>
          <a:p>
            <a:pPr algn="l">
              <a:lnSpc>
                <a:spcPct val="138000"/>
              </a:lnSpc>
              <a:spcAft>
                <a:spcPts val="0"/>
              </a:spcAft>
            </a:pPr>
            <a:r>
              <a:rPr sz="1050" b="0">
                <a:solidFill>
                  <a:srgbClr val="FFFFFF"/>
                </a:solidFill>
                <a:latin typeface="맑은 고딕"/>
              </a:rPr>
              <a:t>   3,146 + 99 + 59 + 59 + 45 = 3,408만 → 실구매 3,655만</a:t>
            </a:r>
          </a:p>
        </p:txBody>
      </p:sp>
      <p:sp>
        <p:nvSpPr>
          <p:cNvPr id="15" name="TextBox 14"/>
          <p:cNvSpPr txBox="1"/>
          <p:nvPr/>
        </p:nvSpPr>
        <p:spPr>
          <a:xfrm>
            <a:off x="713232" y="6327648"/>
            <a:ext cx="10881360" cy="365760"/>
          </a:xfrm>
          <a:prstGeom prst="rect">
            <a:avLst/>
          </a:prstGeom>
          <a:noFill/>
        </p:spPr>
        <p:txBody>
          <a:bodyPr wrap="square" anchor="t" lIns="0" rIns="0" tIns="0" bIns="0">
            <a:spAutoFit/>
          </a:bodyPr>
          <a:lstStyle/>
          <a:p>
            <a:pPr algn="l">
              <a:lnSpc>
                <a:spcPct val="120000"/>
              </a:lnSpc>
              <a:spcAft>
                <a:spcPts val="400"/>
              </a:spcAft>
            </a:pPr>
            <a:r>
              <a:rPr sz="950" b="0">
                <a:solidFill>
                  <a:srgbClr val="6E7884"/>
                </a:solidFill>
                <a:latin typeface="맑은 고딕"/>
              </a:rPr>
              <a:t>가솔린 1.6T 13.0km/ℓ, 하이브리드 19.8km/ℓ(17인치) — 5종 중 연비 1위. 출처: 현대 공식 가격표(2027 코나 / 2027 코나 하이브리드, 26.4.7 출시).</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02920" y="274320"/>
            <a:ext cx="50292" cy="384048"/>
          </a:xfrm>
          <a:prstGeom prst="rect">
            <a:avLst/>
          </a:prstGeom>
          <a:solidFill>
            <a:srgbClr val="E26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13232" y="219456"/>
            <a:ext cx="8778240" cy="457200"/>
          </a:xfrm>
          <a:prstGeom prst="rect">
            <a:avLst/>
          </a:prstGeom>
          <a:noFill/>
        </p:spPr>
        <p:txBody>
          <a:bodyPr wrap="square" anchor="t" lIns="0" rIns="0" tIns="0" bIns="0">
            <a:spAutoFit/>
          </a:bodyPr>
          <a:lstStyle/>
          <a:p>
            <a:pPr algn="l">
              <a:lnSpc>
                <a:spcPct val="115000"/>
              </a:lnSpc>
              <a:spcAft>
                <a:spcPts val="400"/>
              </a:spcAft>
            </a:pPr>
            <a:r>
              <a:rPr sz="2300" b="1">
                <a:solidFill>
                  <a:srgbClr val="FFFFFF"/>
                </a:solidFill>
                <a:latin typeface="맑은 고딕"/>
              </a:rPr>
              <a:t>쉐보레 트레일블레이저</a:t>
            </a:r>
          </a:p>
        </p:txBody>
      </p:sp>
      <p:sp>
        <p:nvSpPr>
          <p:cNvPr id="5" name="TextBox 4"/>
          <p:cNvSpPr txBox="1"/>
          <p:nvPr/>
        </p:nvSpPr>
        <p:spPr>
          <a:xfrm>
            <a:off x="9509760" y="329184"/>
            <a:ext cx="2194560" cy="365760"/>
          </a:xfrm>
          <a:prstGeom prst="rect">
            <a:avLst/>
          </a:prstGeom>
          <a:noFill/>
        </p:spPr>
        <p:txBody>
          <a:bodyPr wrap="square" anchor="t" lIns="0" rIns="0" tIns="0" bIns="0">
            <a:spAutoFit/>
          </a:bodyPr>
          <a:lstStyle/>
          <a:p>
            <a:pPr algn="r">
              <a:lnSpc>
                <a:spcPct val="115000"/>
              </a:lnSpc>
              <a:spcAft>
                <a:spcPts val="400"/>
              </a:spcAft>
            </a:pPr>
            <a:r>
              <a:rPr sz="1100" b="0">
                <a:solidFill>
                  <a:srgbClr val="A9BED2"/>
                </a:solidFill>
                <a:latin typeface="맑은 고딕"/>
              </a:rPr>
              <a:t>07 / 소형</a:t>
            </a:r>
          </a:p>
        </p:txBody>
      </p:sp>
      <p:sp>
        <p:nvSpPr>
          <p:cNvPr id="6" name="TextBox 5"/>
          <p:cNvSpPr txBox="1"/>
          <p:nvPr/>
        </p:nvSpPr>
        <p:spPr>
          <a:xfrm>
            <a:off x="713232" y="1060704"/>
            <a:ext cx="10881360" cy="310896"/>
          </a:xfrm>
          <a:prstGeom prst="rect">
            <a:avLst/>
          </a:prstGeom>
          <a:noFill/>
        </p:spPr>
        <p:txBody>
          <a:bodyPr wrap="square" anchor="t" lIns="0" rIns="0" tIns="0" bIns="0">
            <a:spAutoFit/>
          </a:bodyPr>
          <a:lstStyle/>
          <a:p>
            <a:pPr algn="l">
              <a:lnSpc>
                <a:spcPct val="115000"/>
              </a:lnSpc>
              <a:spcAft>
                <a:spcPts val="400"/>
              </a:spcAft>
            </a:pPr>
            <a:r>
              <a:rPr sz="1250" b="0">
                <a:solidFill>
                  <a:srgbClr val="6E7884"/>
                </a:solidFill>
                <a:latin typeface="맑은 고딕"/>
              </a:rPr>
              <a:t>하이브리드가 없고 트림이 단순하다. 대신 최상위 RS에 옵션을 얹어도 예산이 남는다.</a:t>
            </a:r>
          </a:p>
        </p:txBody>
      </p:sp>
      <p:graphicFrame>
        <p:nvGraphicFramePr>
          <p:cNvPr id="7" name="Table 6"/>
          <p:cNvGraphicFramePr>
            <a:graphicFrameLocks noGrp="1"/>
          </p:cNvGraphicFramePr>
          <p:nvPr/>
        </p:nvGraphicFramePr>
        <p:xfrm>
          <a:off x="713232" y="1627632"/>
          <a:ext cx="5029198" cy="2093976"/>
        </p:xfrm>
        <a:graphic>
          <a:graphicData uri="http://schemas.openxmlformats.org/drawingml/2006/table">
            <a:tbl>
              <a:tblPr firstRow="1">
                <a:tableStyleId>{5C22544A-7EE6-4342-B048-85BDC9FD1C3A}</a:tableStyleId>
              </a:tblPr>
              <a:tblGrid>
                <a:gridCol w="2143593"/>
                <a:gridCol w="1071796"/>
                <a:gridCol w="1071796"/>
                <a:gridCol w="742013"/>
              </a:tblGrid>
              <a:tr h="365760">
                <a:tc>
                  <a:txBody>
                    <a:bodyPr/>
                    <a:lstStyle/>
                    <a:p>
                      <a:pPr algn="l"/>
                      <a:r>
                        <a:rPr sz="1100" b="1">
                          <a:solidFill>
                            <a:srgbClr val="FFFFFF"/>
                          </a:solidFill>
                          <a:latin typeface="맑은 고딕"/>
                        </a:rPr>
                        <a:t>트림</a:t>
                      </a:r>
                    </a:p>
                  </a:txBody>
                  <a:tcPr marL="64008" marR="64008" marT="18288" marB="18288" anchor="ctr">
                    <a:solidFill>
                      <a:srgbClr val="102A43"/>
                    </a:solidFill>
                  </a:tcPr>
                </a:tc>
                <a:tc>
                  <a:txBody>
                    <a:bodyPr/>
                    <a:lstStyle/>
                    <a:p>
                      <a:pPr algn="ctr"/>
                      <a:r>
                        <a:rPr sz="1100" b="1">
                          <a:solidFill>
                            <a:srgbClr val="FFFFFF"/>
                          </a:solidFill>
                          <a:latin typeface="맑은 고딕"/>
                        </a:rPr>
                        <a:t>차량가</a:t>
                      </a:r>
                    </a:p>
                  </a:txBody>
                  <a:tcPr marL="64008" marR="64008" marT="18288" marB="18288" anchor="ctr">
                    <a:solidFill>
                      <a:srgbClr val="102A43"/>
                    </a:solidFill>
                  </a:tcPr>
                </a:tc>
                <a:tc>
                  <a:txBody>
                    <a:bodyPr/>
                    <a:lstStyle/>
                    <a:p>
                      <a:pPr algn="ctr"/>
                      <a:r>
                        <a:rPr sz="1100" b="1">
                          <a:solidFill>
                            <a:srgbClr val="FFFFFF"/>
                          </a:solidFill>
                          <a:latin typeface="맑은 고딕"/>
                        </a:rPr>
                        <a:t>실구매가</a:t>
                      </a:r>
                    </a:p>
                  </a:txBody>
                  <a:tcPr marL="64008" marR="64008" marT="18288" marB="18288" anchor="ctr">
                    <a:solidFill>
                      <a:srgbClr val="102A43"/>
                    </a:solidFill>
                  </a:tcPr>
                </a:tc>
                <a:tc>
                  <a:txBody>
                    <a:bodyPr/>
                    <a:lstStyle/>
                    <a:p>
                      <a:pPr algn="ctr"/>
                      <a:r>
                        <a:rPr sz="1100" b="1">
                          <a:solidFill>
                            <a:srgbClr val="FFFFFF"/>
                          </a:solidFill>
                          <a:latin typeface="맑은 고딕"/>
                        </a:rPr>
                        <a:t>판정</a:t>
                      </a:r>
                    </a:p>
                  </a:txBody>
                  <a:tcPr marL="64008" marR="64008" marT="18288" marB="18288" anchor="ctr">
                    <a:solidFill>
                      <a:srgbClr val="102A43"/>
                    </a:solidFill>
                  </a:tcPr>
                </a:tc>
              </a:tr>
              <a:tr h="288036">
                <a:tc>
                  <a:txBody>
                    <a:bodyPr/>
                    <a:lstStyle/>
                    <a:p>
                      <a:pPr algn="l"/>
                      <a:r>
                        <a:rPr sz="1100" b="0">
                          <a:solidFill>
                            <a:srgbClr val="242D38"/>
                          </a:solidFill>
                          <a:latin typeface="맑은 고딕"/>
                        </a:rPr>
                        <a:t>Premier FWD</a:t>
                      </a:r>
                    </a:p>
                  </a:txBody>
                  <a:tcPr marL="64008" marR="64008" marT="18288" marB="18288" anchor="ctr">
                    <a:solidFill>
                      <a:srgbClr val="E9F4EE"/>
                    </a:solidFill>
                  </a:tcPr>
                </a:tc>
                <a:tc>
                  <a:txBody>
                    <a:bodyPr/>
                    <a:lstStyle/>
                    <a:p>
                      <a:pPr algn="ctr"/>
                      <a:r>
                        <a:rPr sz="1100" b="0">
                          <a:solidFill>
                            <a:srgbClr val="242D38"/>
                          </a:solidFill>
                          <a:latin typeface="맑은 고딕"/>
                        </a:rPr>
                        <a:t>2,796만</a:t>
                      </a:r>
                    </a:p>
                  </a:txBody>
                  <a:tcPr marL="64008" marR="64008" marT="18288" marB="18288" anchor="ctr">
                    <a:solidFill>
                      <a:srgbClr val="E9F4EE"/>
                    </a:solidFill>
                  </a:tcPr>
                </a:tc>
                <a:tc>
                  <a:txBody>
                    <a:bodyPr/>
                    <a:lstStyle/>
                    <a:p>
                      <a:pPr algn="ctr"/>
                      <a:r>
                        <a:rPr sz="1100" b="0">
                          <a:solidFill>
                            <a:srgbClr val="242D38"/>
                          </a:solidFill>
                          <a:latin typeface="맑은 고딕"/>
                        </a:rPr>
                        <a:t>3,004만</a:t>
                      </a:r>
                    </a:p>
                  </a:txBody>
                  <a:tcPr marL="64008" marR="64008" marT="18288" marB="18288" anchor="ctr">
                    <a:solidFill>
                      <a:srgbClr val="E9F4EE"/>
                    </a:solidFill>
                  </a:tcPr>
                </a:tc>
                <a:tc>
                  <a:txBody>
                    <a:bodyPr/>
                    <a:lstStyle/>
                    <a:p>
                      <a:pPr algn="ctr"/>
                      <a:r>
                        <a:rPr sz="1100" b="0">
                          <a:solidFill>
                            <a:srgbClr val="242D38"/>
                          </a:solidFill>
                          <a:latin typeface="맑은 고딕"/>
                        </a:rPr>
                        <a:t>가능</a:t>
                      </a:r>
                    </a:p>
                  </a:txBody>
                  <a:tcPr marL="64008" marR="64008" marT="18288" marB="18288" anchor="ctr">
                    <a:solidFill>
                      <a:srgbClr val="E9F4EE"/>
                    </a:solidFill>
                  </a:tcPr>
                </a:tc>
              </a:tr>
              <a:tr h="288036">
                <a:tc>
                  <a:txBody>
                    <a:bodyPr/>
                    <a:lstStyle/>
                    <a:p>
                      <a:pPr algn="l"/>
                      <a:r>
                        <a:rPr sz="1100" b="0">
                          <a:solidFill>
                            <a:srgbClr val="242D38"/>
                          </a:solidFill>
                          <a:latin typeface="맑은 고딕"/>
                        </a:rPr>
                        <a:t>RS FWD</a:t>
                      </a:r>
                    </a:p>
                  </a:txBody>
                  <a:tcPr marL="64008" marR="64008" marT="18288" marB="18288" anchor="ctr">
                    <a:solidFill>
                      <a:srgbClr val="E9F4EE"/>
                    </a:solidFill>
                  </a:tcPr>
                </a:tc>
                <a:tc>
                  <a:txBody>
                    <a:bodyPr/>
                    <a:lstStyle/>
                    <a:p>
                      <a:pPr algn="ctr"/>
                      <a:r>
                        <a:rPr sz="1100" b="0">
                          <a:solidFill>
                            <a:srgbClr val="242D38"/>
                          </a:solidFill>
                          <a:latin typeface="맑은 고딕"/>
                        </a:rPr>
                        <a:t>3,096만</a:t>
                      </a:r>
                    </a:p>
                  </a:txBody>
                  <a:tcPr marL="64008" marR="64008" marT="18288" marB="18288" anchor="ctr">
                    <a:solidFill>
                      <a:srgbClr val="E9F4EE"/>
                    </a:solidFill>
                  </a:tcPr>
                </a:tc>
                <a:tc>
                  <a:txBody>
                    <a:bodyPr/>
                    <a:lstStyle/>
                    <a:p>
                      <a:pPr algn="ctr"/>
                      <a:r>
                        <a:rPr sz="1100" b="0">
                          <a:solidFill>
                            <a:srgbClr val="242D38"/>
                          </a:solidFill>
                          <a:latin typeface="맑은 고딕"/>
                        </a:rPr>
                        <a:t>3,323만</a:t>
                      </a:r>
                    </a:p>
                  </a:txBody>
                  <a:tcPr marL="64008" marR="64008" marT="18288" marB="18288" anchor="ctr">
                    <a:solidFill>
                      <a:srgbClr val="E9F4EE"/>
                    </a:solidFill>
                  </a:tcPr>
                </a:tc>
                <a:tc>
                  <a:txBody>
                    <a:bodyPr/>
                    <a:lstStyle/>
                    <a:p>
                      <a:pPr algn="ctr"/>
                      <a:r>
                        <a:rPr sz="1100" b="0">
                          <a:solidFill>
                            <a:srgbClr val="242D38"/>
                          </a:solidFill>
                          <a:latin typeface="맑은 고딕"/>
                        </a:rPr>
                        <a:t>가능</a:t>
                      </a:r>
                    </a:p>
                  </a:txBody>
                  <a:tcPr marL="64008" marR="64008" marT="18288" marB="18288" anchor="ctr">
                    <a:solidFill>
                      <a:srgbClr val="E9F4EE"/>
                    </a:solidFill>
                  </a:tcPr>
                </a:tc>
              </a:tr>
              <a:tr h="288036">
                <a:tc>
                  <a:txBody>
                    <a:bodyPr/>
                    <a:lstStyle/>
                    <a:p>
                      <a:pPr algn="l"/>
                      <a:r>
                        <a:rPr sz="1100" b="0">
                          <a:solidFill>
                            <a:srgbClr val="242D38"/>
                          </a:solidFill>
                          <a:latin typeface="맑은 고딕"/>
                        </a:rPr>
                        <a:t>Premier + 컴포트 + 드라이브어시스트</a:t>
                      </a:r>
                    </a:p>
                  </a:txBody>
                  <a:tcPr marL="64008" marR="64008" marT="18288" marB="18288" anchor="ctr">
                    <a:solidFill>
                      <a:srgbClr val="E9F4EE"/>
                    </a:solidFill>
                  </a:tcPr>
                </a:tc>
                <a:tc>
                  <a:txBody>
                    <a:bodyPr/>
                    <a:lstStyle/>
                    <a:p>
                      <a:pPr algn="ctr"/>
                      <a:r>
                        <a:rPr sz="1100" b="0">
                          <a:solidFill>
                            <a:srgbClr val="242D38"/>
                          </a:solidFill>
                          <a:latin typeface="맑은 고딕"/>
                        </a:rPr>
                        <a:t>2,986만</a:t>
                      </a:r>
                    </a:p>
                  </a:txBody>
                  <a:tcPr marL="64008" marR="64008" marT="18288" marB="18288" anchor="ctr">
                    <a:solidFill>
                      <a:srgbClr val="E9F4EE"/>
                    </a:solidFill>
                  </a:tcPr>
                </a:tc>
                <a:tc>
                  <a:txBody>
                    <a:bodyPr/>
                    <a:lstStyle/>
                    <a:p>
                      <a:pPr algn="ctr"/>
                      <a:r>
                        <a:rPr sz="1100" b="0">
                          <a:solidFill>
                            <a:srgbClr val="242D38"/>
                          </a:solidFill>
                          <a:latin typeface="맑은 고딕"/>
                        </a:rPr>
                        <a:t>3,206만</a:t>
                      </a:r>
                    </a:p>
                  </a:txBody>
                  <a:tcPr marL="64008" marR="64008" marT="18288" marB="18288" anchor="ctr">
                    <a:solidFill>
                      <a:srgbClr val="E9F4EE"/>
                    </a:solidFill>
                  </a:tcPr>
                </a:tc>
                <a:tc>
                  <a:txBody>
                    <a:bodyPr/>
                    <a:lstStyle/>
                    <a:p>
                      <a:pPr algn="ctr"/>
                      <a:r>
                        <a:rPr sz="1100" b="0">
                          <a:solidFill>
                            <a:srgbClr val="242D38"/>
                          </a:solidFill>
                          <a:latin typeface="맑은 고딕"/>
                        </a:rPr>
                        <a:t>가능</a:t>
                      </a:r>
                    </a:p>
                  </a:txBody>
                  <a:tcPr marL="64008" marR="64008" marT="18288" marB="18288" anchor="ctr">
                    <a:solidFill>
                      <a:srgbClr val="E9F4EE"/>
                    </a:solidFill>
                  </a:tcPr>
                </a:tc>
              </a:tr>
              <a:tr h="288036">
                <a:tc>
                  <a:txBody>
                    <a:bodyPr/>
                    <a:lstStyle/>
                    <a:p>
                      <a:pPr algn="l"/>
                      <a:r>
                        <a:rPr sz="1100" b="0">
                          <a:solidFill>
                            <a:srgbClr val="242D38"/>
                          </a:solidFill>
                          <a:latin typeface="맑은 고딕"/>
                        </a:rPr>
                        <a:t>RS + 드라이브어시스트 + 프리미엄</a:t>
                      </a:r>
                    </a:p>
                  </a:txBody>
                  <a:tcPr marL="64008" marR="64008" marT="18288" marB="18288" anchor="ctr">
                    <a:solidFill>
                      <a:srgbClr val="E9F4EE"/>
                    </a:solidFill>
                  </a:tcPr>
                </a:tc>
                <a:tc>
                  <a:txBody>
                    <a:bodyPr/>
                    <a:lstStyle/>
                    <a:p>
                      <a:pPr algn="ctr"/>
                      <a:r>
                        <a:rPr sz="1100" b="0">
                          <a:solidFill>
                            <a:srgbClr val="242D38"/>
                          </a:solidFill>
                          <a:latin typeface="맑은 고딕"/>
                        </a:rPr>
                        <a:t>3,276만</a:t>
                      </a:r>
                    </a:p>
                  </a:txBody>
                  <a:tcPr marL="64008" marR="64008" marT="18288" marB="18288" anchor="ctr">
                    <a:solidFill>
                      <a:srgbClr val="E9F4EE"/>
                    </a:solidFill>
                  </a:tcPr>
                </a:tc>
                <a:tc>
                  <a:txBody>
                    <a:bodyPr/>
                    <a:lstStyle/>
                    <a:p>
                      <a:pPr algn="ctr"/>
                      <a:r>
                        <a:rPr sz="1100" b="0">
                          <a:solidFill>
                            <a:srgbClr val="242D38"/>
                          </a:solidFill>
                          <a:latin typeface="맑은 고딕"/>
                        </a:rPr>
                        <a:t>3,514만</a:t>
                      </a:r>
                    </a:p>
                  </a:txBody>
                  <a:tcPr marL="64008" marR="64008" marT="18288" marB="18288" anchor="ctr">
                    <a:solidFill>
                      <a:srgbClr val="E9F4EE"/>
                    </a:solidFill>
                  </a:tcPr>
                </a:tc>
                <a:tc>
                  <a:txBody>
                    <a:bodyPr/>
                    <a:lstStyle/>
                    <a:p>
                      <a:pPr algn="ctr"/>
                      <a:r>
                        <a:rPr sz="1100" b="0">
                          <a:solidFill>
                            <a:srgbClr val="242D38"/>
                          </a:solidFill>
                          <a:latin typeface="맑은 고딕"/>
                        </a:rPr>
                        <a:t>가능</a:t>
                      </a:r>
                    </a:p>
                  </a:txBody>
                  <a:tcPr marL="64008" marR="64008" marT="18288" marB="18288" anchor="ctr">
                    <a:solidFill>
                      <a:srgbClr val="E9F4EE"/>
                    </a:solidFill>
                  </a:tcPr>
                </a:tc>
              </a:tr>
              <a:tr h="288036">
                <a:tc>
                  <a:txBody>
                    <a:bodyPr/>
                    <a:lstStyle/>
                    <a:p>
                      <a:pPr algn="l"/>
                      <a:r>
                        <a:rPr sz="1100" b="0">
                          <a:solidFill>
                            <a:srgbClr val="242D38"/>
                          </a:solidFill>
                          <a:latin typeface="맑은 고딕"/>
                        </a:rPr>
                        <a:t>RS + 위 2종 + 파노라마 선루프</a:t>
                      </a:r>
                    </a:p>
                  </a:txBody>
                  <a:tcPr marL="64008" marR="64008" marT="18288" marB="18288" anchor="ctr">
                    <a:solidFill>
                      <a:srgbClr val="E9F4EE"/>
                    </a:solidFill>
                  </a:tcPr>
                </a:tc>
                <a:tc>
                  <a:txBody>
                    <a:bodyPr/>
                    <a:lstStyle/>
                    <a:p>
                      <a:pPr algn="ctr"/>
                      <a:r>
                        <a:rPr sz="1100" b="0">
                          <a:solidFill>
                            <a:srgbClr val="242D38"/>
                          </a:solidFill>
                          <a:latin typeface="맑은 고딕"/>
                        </a:rPr>
                        <a:t>3,396만</a:t>
                      </a:r>
                    </a:p>
                  </a:txBody>
                  <a:tcPr marL="64008" marR="64008" marT="18288" marB="18288" anchor="ctr">
                    <a:solidFill>
                      <a:srgbClr val="E9F4EE"/>
                    </a:solidFill>
                  </a:tcPr>
                </a:tc>
                <a:tc>
                  <a:txBody>
                    <a:bodyPr/>
                    <a:lstStyle/>
                    <a:p>
                      <a:pPr algn="ctr"/>
                      <a:r>
                        <a:rPr sz="1100" b="0">
                          <a:solidFill>
                            <a:srgbClr val="242D38"/>
                          </a:solidFill>
                          <a:latin typeface="맑은 고딕"/>
                        </a:rPr>
                        <a:t>3,642만</a:t>
                      </a:r>
                    </a:p>
                  </a:txBody>
                  <a:tcPr marL="64008" marR="64008" marT="18288" marB="18288" anchor="ctr">
                    <a:solidFill>
                      <a:srgbClr val="E9F4EE"/>
                    </a:solidFill>
                  </a:tcPr>
                </a:tc>
                <a:tc>
                  <a:txBody>
                    <a:bodyPr/>
                    <a:lstStyle/>
                    <a:p>
                      <a:pPr algn="ctr"/>
                      <a:r>
                        <a:rPr sz="1100" b="0">
                          <a:solidFill>
                            <a:srgbClr val="242D38"/>
                          </a:solidFill>
                          <a:latin typeface="맑은 고딕"/>
                        </a:rPr>
                        <a:t>가능</a:t>
                      </a:r>
                    </a:p>
                  </a:txBody>
                  <a:tcPr marL="64008" marR="64008" marT="18288" marB="18288" anchor="ctr">
                    <a:solidFill>
                      <a:srgbClr val="E9F4EE"/>
                    </a:solidFill>
                  </a:tcPr>
                </a:tc>
              </a:tr>
              <a:tr h="288036">
                <a:tc>
                  <a:txBody>
                    <a:bodyPr/>
                    <a:lstStyle/>
                    <a:p>
                      <a:pPr algn="l"/>
                      <a:r>
                        <a:rPr sz="1100" b="0">
                          <a:solidFill>
                            <a:srgbClr val="242D38"/>
                          </a:solidFill>
                          <a:latin typeface="맑은 고딕"/>
                        </a:rPr>
                        <a:t>RS + 스위처블 AWD + 드라이브어시스트</a:t>
                      </a:r>
                    </a:p>
                  </a:txBody>
                  <a:tcPr marL="64008" marR="64008" marT="18288" marB="18288" anchor="ctr">
                    <a:solidFill>
                      <a:srgbClr val="E9F4EE"/>
                    </a:solidFill>
                  </a:tcPr>
                </a:tc>
                <a:tc>
                  <a:txBody>
                    <a:bodyPr/>
                    <a:lstStyle/>
                    <a:p>
                      <a:pPr algn="ctr"/>
                      <a:r>
                        <a:rPr sz="1100" b="0">
                          <a:solidFill>
                            <a:srgbClr val="242D38"/>
                          </a:solidFill>
                          <a:latin typeface="맑은 고딕"/>
                        </a:rPr>
                        <a:t>3,416만</a:t>
                      </a:r>
                    </a:p>
                  </a:txBody>
                  <a:tcPr marL="64008" marR="64008" marT="18288" marB="18288" anchor="ctr">
                    <a:solidFill>
                      <a:srgbClr val="E9F4EE"/>
                    </a:solidFill>
                  </a:tcPr>
                </a:tc>
                <a:tc>
                  <a:txBody>
                    <a:bodyPr/>
                    <a:lstStyle/>
                    <a:p>
                      <a:pPr algn="ctr"/>
                      <a:r>
                        <a:rPr sz="1100" b="0">
                          <a:solidFill>
                            <a:srgbClr val="242D38"/>
                          </a:solidFill>
                          <a:latin typeface="맑은 고딕"/>
                        </a:rPr>
                        <a:t>3,663만</a:t>
                      </a:r>
                    </a:p>
                  </a:txBody>
                  <a:tcPr marL="64008" marR="64008" marT="18288" marB="18288" anchor="ctr">
                    <a:solidFill>
                      <a:srgbClr val="E9F4EE"/>
                    </a:solidFill>
                  </a:tcPr>
                </a:tc>
                <a:tc>
                  <a:txBody>
                    <a:bodyPr/>
                    <a:lstStyle/>
                    <a:p>
                      <a:pPr algn="ctr"/>
                      <a:r>
                        <a:rPr sz="1100" b="0">
                          <a:solidFill>
                            <a:srgbClr val="242D38"/>
                          </a:solidFill>
                          <a:latin typeface="맑은 고딕"/>
                        </a:rPr>
                        <a:t>가능</a:t>
                      </a:r>
                    </a:p>
                  </a:txBody>
                  <a:tcPr marL="64008" marR="64008" marT="18288" marB="18288" anchor="ctr">
                    <a:solidFill>
                      <a:srgbClr val="E9F4EE"/>
                    </a:solidFill>
                  </a:tcPr>
                </a:tc>
              </a:tr>
            </a:tbl>
          </a:graphicData>
        </a:graphic>
      </p:graphicFrame>
      <p:sp>
        <p:nvSpPr>
          <p:cNvPr id="8" name="Rectangle 7"/>
          <p:cNvSpPr/>
          <p:nvPr/>
        </p:nvSpPr>
        <p:spPr>
          <a:xfrm>
            <a:off x="6053328" y="1627632"/>
            <a:ext cx="5422392" cy="228600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053328" y="1627632"/>
            <a:ext cx="45720" cy="2286000"/>
          </a:xfrm>
          <a:prstGeom prst="rect">
            <a:avLst/>
          </a:prstGeom>
          <a:solidFill>
            <a:srgbClr val="1B6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291072" y="1792224"/>
            <a:ext cx="5029200" cy="274320"/>
          </a:xfrm>
          <a:prstGeom prst="rect">
            <a:avLst/>
          </a:prstGeom>
          <a:noFill/>
        </p:spPr>
        <p:txBody>
          <a:bodyPr wrap="square" anchor="t" lIns="0" rIns="0" tIns="0" bIns="0">
            <a:spAutoFit/>
          </a:bodyPr>
          <a:lstStyle/>
          <a:p>
            <a:pPr algn="l">
              <a:lnSpc>
                <a:spcPct val="115000"/>
              </a:lnSpc>
              <a:spcAft>
                <a:spcPts val="400"/>
              </a:spcAft>
            </a:pPr>
            <a:r>
              <a:rPr sz="1250" b="1">
                <a:solidFill>
                  <a:srgbClr val="1B6CA8"/>
                </a:solidFill>
                <a:latin typeface="맑은 고딕"/>
              </a:rPr>
              <a:t>적용 가능한 주요 선택 옵션</a:t>
            </a:r>
          </a:p>
        </p:txBody>
      </p:sp>
      <p:sp>
        <p:nvSpPr>
          <p:cNvPr id="11" name="TextBox 10"/>
          <p:cNvSpPr txBox="1"/>
          <p:nvPr/>
        </p:nvSpPr>
        <p:spPr>
          <a:xfrm>
            <a:off x="6291072" y="2157984"/>
            <a:ext cx="5029200" cy="1691640"/>
          </a:xfrm>
          <a:prstGeom prst="rect">
            <a:avLst/>
          </a:prstGeom>
          <a:noFill/>
        </p:spPr>
        <p:txBody>
          <a:bodyPr wrap="square" anchor="t" lIns="0" rIns="0" tIns="0" bIns="0">
            <a:spAutoFit/>
          </a:bodyPr>
          <a:lstStyle/>
          <a:p>
            <a:pPr algn="l">
              <a:lnSpc>
                <a:spcPct val="142000"/>
              </a:lnSpc>
              <a:spcAft>
                <a:spcPts val="400"/>
              </a:spcAft>
            </a:pPr>
            <a:r>
              <a:rPr sz="1080" b="0">
                <a:solidFill>
                  <a:srgbClr val="242D38"/>
                </a:solidFill>
                <a:latin typeface="맑은 고딕"/>
              </a:rPr>
              <a:t>· 드라이브 어시스트 패키지(ACC 등)  80만</a:t>
            </a:r>
          </a:p>
          <a:p>
            <a:pPr algn="l">
              <a:lnSpc>
                <a:spcPct val="142000"/>
              </a:lnSpc>
              <a:spcAft>
                <a:spcPts val="400"/>
              </a:spcAft>
            </a:pPr>
            <a:r>
              <a:rPr sz="1080" b="0">
                <a:solidFill>
                  <a:srgbClr val="242D38"/>
                </a:solidFill>
                <a:latin typeface="맑은 고딕"/>
              </a:rPr>
              <a:t>· 컴포트 패키지  110만  (Premier)</a:t>
            </a:r>
          </a:p>
          <a:p>
            <a:pPr algn="l">
              <a:lnSpc>
                <a:spcPct val="142000"/>
              </a:lnSpc>
              <a:spcAft>
                <a:spcPts val="400"/>
              </a:spcAft>
            </a:pPr>
            <a:r>
              <a:rPr sz="1080" b="0">
                <a:solidFill>
                  <a:srgbClr val="242D38"/>
                </a:solidFill>
                <a:latin typeface="맑은 고딕"/>
              </a:rPr>
              <a:t>· 프리미엄 패키지  100만  (RS)</a:t>
            </a:r>
          </a:p>
          <a:p>
            <a:pPr algn="l">
              <a:lnSpc>
                <a:spcPct val="142000"/>
              </a:lnSpc>
              <a:spcAft>
                <a:spcPts val="400"/>
              </a:spcAft>
            </a:pPr>
            <a:r>
              <a:rPr sz="1080" b="0">
                <a:solidFill>
                  <a:srgbClr val="242D38"/>
                </a:solidFill>
                <a:latin typeface="맑은 고딕"/>
              </a:rPr>
              <a:t>· 파노라마 선루프  120만  (RS)</a:t>
            </a:r>
          </a:p>
          <a:p>
            <a:pPr algn="l">
              <a:lnSpc>
                <a:spcPct val="142000"/>
              </a:lnSpc>
              <a:spcAft>
                <a:spcPts val="400"/>
              </a:spcAft>
            </a:pPr>
            <a:r>
              <a:rPr sz="1080" b="0">
                <a:solidFill>
                  <a:srgbClr val="242D38"/>
                </a:solidFill>
                <a:latin typeface="맑은 고딕"/>
              </a:rPr>
              <a:t>· 스위처블 AWD 패키지  240만  (RS)</a:t>
            </a:r>
          </a:p>
          <a:p>
            <a:pPr algn="l">
              <a:lnSpc>
                <a:spcPct val="142000"/>
              </a:lnSpc>
              <a:spcAft>
                <a:spcPts val="400"/>
              </a:spcAft>
            </a:pPr>
            <a:r>
              <a:rPr sz="1080" b="0">
                <a:solidFill>
                  <a:srgbClr val="242D38"/>
                </a:solidFill>
                <a:latin typeface="맑은 고딕"/>
              </a:rPr>
              <a:t>· 미드나잇 에디션(외장 블랙)  150만  (Premier)</a:t>
            </a:r>
          </a:p>
          <a:p>
            <a:pPr algn="l">
              <a:lnSpc>
                <a:spcPct val="142000"/>
              </a:lnSpc>
              <a:spcAft>
                <a:spcPts val="400"/>
              </a:spcAft>
            </a:pPr>
            <a:r>
              <a:rPr sz="1080" b="0">
                <a:solidFill>
                  <a:srgbClr val="242D38"/>
                </a:solidFill>
                <a:latin typeface="맑은 고딕"/>
              </a:rPr>
              <a:t/>
            </a:r>
          </a:p>
          <a:p>
            <a:pPr algn="l">
              <a:lnSpc>
                <a:spcPct val="142000"/>
              </a:lnSpc>
              <a:spcAft>
                <a:spcPts val="400"/>
              </a:spcAft>
            </a:pPr>
            <a:r>
              <a:rPr sz="1080" b="0">
                <a:solidFill>
                  <a:srgbClr val="242D38"/>
                </a:solidFill>
                <a:latin typeface="맑은 고딕"/>
              </a:rPr>
              <a:t>※ ACTIV는 한정판 트림으로 재고에 따라 선택 불가</a:t>
            </a:r>
          </a:p>
        </p:txBody>
      </p:sp>
      <p:sp>
        <p:nvSpPr>
          <p:cNvPr id="12" name="Rectangle 11"/>
          <p:cNvSpPr/>
          <p:nvPr/>
        </p:nvSpPr>
        <p:spPr>
          <a:xfrm>
            <a:off x="6053328" y="4023360"/>
            <a:ext cx="5422392" cy="2176272"/>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291072" y="4160520"/>
            <a:ext cx="5029200" cy="274320"/>
          </a:xfrm>
          <a:prstGeom prst="rect">
            <a:avLst/>
          </a:prstGeom>
          <a:noFill/>
        </p:spPr>
        <p:txBody>
          <a:bodyPr wrap="square" anchor="t" lIns="0" rIns="0" tIns="0" bIns="0">
            <a:spAutoFit/>
          </a:bodyPr>
          <a:lstStyle/>
          <a:p>
            <a:pPr algn="l">
              <a:lnSpc>
                <a:spcPct val="115000"/>
              </a:lnSpc>
              <a:spcAft>
                <a:spcPts val="400"/>
              </a:spcAft>
            </a:pPr>
            <a:r>
              <a:rPr sz="1250" b="1">
                <a:solidFill>
                  <a:srgbClr val="F0A870"/>
                </a:solidFill>
                <a:latin typeface="맑은 고딕"/>
              </a:rPr>
              <a:t>예산 내 추천 조합</a:t>
            </a:r>
          </a:p>
        </p:txBody>
      </p:sp>
      <p:sp>
        <p:nvSpPr>
          <p:cNvPr id="14" name="TextBox 13"/>
          <p:cNvSpPr txBox="1"/>
          <p:nvPr/>
        </p:nvSpPr>
        <p:spPr>
          <a:xfrm>
            <a:off x="6291072" y="4517136"/>
            <a:ext cx="5029200" cy="1627632"/>
          </a:xfrm>
          <a:prstGeom prst="rect">
            <a:avLst/>
          </a:prstGeom>
          <a:noFill/>
        </p:spPr>
        <p:txBody>
          <a:bodyPr wrap="square" anchor="t" lIns="0" rIns="0" tIns="0" bIns="0">
            <a:spAutoFit/>
          </a:bodyPr>
          <a:lstStyle/>
          <a:p>
            <a:pPr algn="l">
              <a:lnSpc>
                <a:spcPct val="138000"/>
              </a:lnSpc>
              <a:spcAft>
                <a:spcPts val="0"/>
              </a:spcAft>
            </a:pPr>
            <a:r>
              <a:rPr sz="1050" b="0">
                <a:solidFill>
                  <a:srgbClr val="FFFFFF"/>
                </a:solidFill>
                <a:latin typeface="맑은 고딕"/>
              </a:rPr>
              <a:t>■ 풀옵션 — RS + 드라이브어시스트 + 프리미엄</a:t>
            </a:r>
          </a:p>
          <a:p>
            <a:pPr algn="l">
              <a:lnSpc>
                <a:spcPct val="138000"/>
              </a:lnSpc>
              <a:spcAft>
                <a:spcPts val="0"/>
              </a:spcAft>
            </a:pPr>
            <a:r>
              <a:rPr sz="1050" b="0">
                <a:solidFill>
                  <a:srgbClr val="FFFFFF"/>
                </a:solidFill>
                <a:latin typeface="맑은 고딕"/>
              </a:rPr>
              <a:t>   + 파노라마 선루프</a:t>
            </a:r>
          </a:p>
          <a:p>
            <a:pPr algn="l">
              <a:lnSpc>
                <a:spcPct val="138000"/>
              </a:lnSpc>
              <a:spcAft>
                <a:spcPts val="0"/>
              </a:spcAft>
            </a:pPr>
            <a:r>
              <a:rPr sz="1050" b="0">
                <a:solidFill>
                  <a:srgbClr val="FFFFFF"/>
                </a:solidFill>
                <a:latin typeface="맑은 고딕"/>
              </a:rPr>
              <a:t>   3,096 + 80 + 100 + 120 = 3,396만 → 실구매 3,642만</a:t>
            </a:r>
          </a:p>
          <a:p>
            <a:pPr algn="l">
              <a:lnSpc>
                <a:spcPct val="138000"/>
              </a:lnSpc>
              <a:spcAft>
                <a:spcPts val="0"/>
              </a:spcAft>
            </a:pPr>
            <a:r>
              <a:rPr sz="1050" b="0">
                <a:solidFill>
                  <a:srgbClr val="FFFFFF"/>
                </a:solidFill>
                <a:latin typeface="맑은 고딕"/>
              </a:rPr>
              <a:t/>
            </a:r>
          </a:p>
          <a:p>
            <a:pPr algn="l">
              <a:lnSpc>
                <a:spcPct val="138000"/>
              </a:lnSpc>
              <a:spcAft>
                <a:spcPts val="0"/>
              </a:spcAft>
            </a:pPr>
            <a:r>
              <a:rPr sz="1050" b="0">
                <a:solidFill>
                  <a:srgbClr val="FFFFFF"/>
                </a:solidFill>
                <a:latin typeface="맑은 고딕"/>
              </a:rPr>
              <a:t>■ 사륜 필요 — RS + 스위처블 AWD + 드라이브어시스트</a:t>
            </a:r>
          </a:p>
          <a:p>
            <a:pPr algn="l">
              <a:lnSpc>
                <a:spcPct val="138000"/>
              </a:lnSpc>
              <a:spcAft>
                <a:spcPts val="0"/>
              </a:spcAft>
            </a:pPr>
            <a:r>
              <a:rPr sz="1050" b="0">
                <a:solidFill>
                  <a:srgbClr val="FFFFFF"/>
                </a:solidFill>
                <a:latin typeface="맑은 고딕"/>
              </a:rPr>
              <a:t>   3,096 + 240 + 80 = 3,416만 → 실구매 3,663만</a:t>
            </a:r>
          </a:p>
          <a:p>
            <a:pPr algn="l">
              <a:lnSpc>
                <a:spcPct val="138000"/>
              </a:lnSpc>
              <a:spcAft>
                <a:spcPts val="0"/>
              </a:spcAft>
            </a:pPr>
            <a:r>
              <a:rPr sz="1050" b="0">
                <a:solidFill>
                  <a:srgbClr val="FFFFFF"/>
                </a:solidFill>
                <a:latin typeface="맑은 고딕"/>
              </a:rPr>
              <a:t/>
            </a:r>
          </a:p>
          <a:p>
            <a:pPr algn="l">
              <a:lnSpc>
                <a:spcPct val="138000"/>
              </a:lnSpc>
              <a:spcAft>
                <a:spcPts val="0"/>
              </a:spcAft>
            </a:pPr>
            <a:r>
              <a:rPr sz="1050" b="0">
                <a:solidFill>
                  <a:srgbClr val="FFFFFF"/>
                </a:solidFill>
                <a:latin typeface="맑은 고딕"/>
              </a:rPr>
              <a:t>■ 절약 — Premier + 컴포트 + 드라이브어시스트</a:t>
            </a:r>
          </a:p>
          <a:p>
            <a:pPr algn="l">
              <a:lnSpc>
                <a:spcPct val="138000"/>
              </a:lnSpc>
              <a:spcAft>
                <a:spcPts val="0"/>
              </a:spcAft>
            </a:pPr>
            <a:r>
              <a:rPr sz="1050" b="0">
                <a:solidFill>
                  <a:srgbClr val="FFFFFF"/>
                </a:solidFill>
                <a:latin typeface="맑은 고딕"/>
              </a:rPr>
              <a:t>   2,796 + 110 + 80 = 2,986만 → 실구매 3,206만</a:t>
            </a:r>
          </a:p>
        </p:txBody>
      </p:sp>
      <p:sp>
        <p:nvSpPr>
          <p:cNvPr id="15" name="TextBox 14"/>
          <p:cNvSpPr txBox="1"/>
          <p:nvPr/>
        </p:nvSpPr>
        <p:spPr>
          <a:xfrm>
            <a:off x="713232" y="6327648"/>
            <a:ext cx="10881360" cy="365760"/>
          </a:xfrm>
          <a:prstGeom prst="rect">
            <a:avLst/>
          </a:prstGeom>
          <a:noFill/>
        </p:spPr>
        <p:txBody>
          <a:bodyPr wrap="square" anchor="t" lIns="0" rIns="0" tIns="0" bIns="0">
            <a:spAutoFit/>
          </a:bodyPr>
          <a:lstStyle/>
          <a:p>
            <a:pPr algn="l">
              <a:lnSpc>
                <a:spcPct val="120000"/>
              </a:lnSpc>
              <a:spcAft>
                <a:spcPts val="400"/>
              </a:spcAft>
            </a:pPr>
            <a:r>
              <a:rPr sz="950" b="0">
                <a:solidFill>
                  <a:srgbClr val="6E7884"/>
                </a:solidFill>
                <a:latin typeface="맑은 고딕"/>
              </a:rPr>
              <a:t>1.35L 3기통 터보 156마력 / 24.1kg·m, CVT(AWD는 9단 자동). 복합연비 FWD 12.9km/ℓ(17인치). 5종 중 유일하게 예산에서 700만원 이상 남길 수 있는 선택지이기도 하다.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02920" y="274320"/>
            <a:ext cx="50292" cy="384048"/>
          </a:xfrm>
          <a:prstGeom prst="rect">
            <a:avLst/>
          </a:prstGeom>
          <a:solidFill>
            <a:srgbClr val="E26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13232" y="219456"/>
            <a:ext cx="8778240" cy="457200"/>
          </a:xfrm>
          <a:prstGeom prst="rect">
            <a:avLst/>
          </a:prstGeom>
          <a:noFill/>
        </p:spPr>
        <p:txBody>
          <a:bodyPr wrap="square" anchor="t" lIns="0" rIns="0" tIns="0" bIns="0">
            <a:spAutoFit/>
          </a:bodyPr>
          <a:lstStyle/>
          <a:p>
            <a:pPr algn="l">
              <a:lnSpc>
                <a:spcPct val="115000"/>
              </a:lnSpc>
              <a:spcAft>
                <a:spcPts val="400"/>
              </a:spcAft>
            </a:pPr>
            <a:r>
              <a:rPr sz="2300" b="1">
                <a:solidFill>
                  <a:srgbClr val="FFFFFF"/>
                </a:solidFill>
                <a:latin typeface="맑은 고딕"/>
              </a:rPr>
              <a:t>현대 투싼</a:t>
            </a:r>
          </a:p>
        </p:txBody>
      </p:sp>
      <p:sp>
        <p:nvSpPr>
          <p:cNvPr id="5" name="TextBox 4"/>
          <p:cNvSpPr txBox="1"/>
          <p:nvPr/>
        </p:nvSpPr>
        <p:spPr>
          <a:xfrm>
            <a:off x="9509760" y="329184"/>
            <a:ext cx="2194560" cy="365760"/>
          </a:xfrm>
          <a:prstGeom prst="rect">
            <a:avLst/>
          </a:prstGeom>
          <a:noFill/>
        </p:spPr>
        <p:txBody>
          <a:bodyPr wrap="square" anchor="t" lIns="0" rIns="0" tIns="0" bIns="0">
            <a:spAutoFit/>
          </a:bodyPr>
          <a:lstStyle/>
          <a:p>
            <a:pPr algn="r">
              <a:lnSpc>
                <a:spcPct val="115000"/>
              </a:lnSpc>
              <a:spcAft>
                <a:spcPts val="400"/>
              </a:spcAft>
            </a:pPr>
            <a:r>
              <a:rPr sz="1100" b="0">
                <a:solidFill>
                  <a:srgbClr val="A9BED2"/>
                </a:solidFill>
                <a:latin typeface="맑은 고딕"/>
              </a:rPr>
              <a:t>08 / 준중형</a:t>
            </a:r>
          </a:p>
        </p:txBody>
      </p:sp>
      <p:sp>
        <p:nvSpPr>
          <p:cNvPr id="6" name="TextBox 5"/>
          <p:cNvSpPr txBox="1"/>
          <p:nvPr/>
        </p:nvSpPr>
        <p:spPr>
          <a:xfrm>
            <a:off x="713232" y="1060704"/>
            <a:ext cx="10881360" cy="310896"/>
          </a:xfrm>
          <a:prstGeom prst="rect">
            <a:avLst/>
          </a:prstGeom>
          <a:noFill/>
        </p:spPr>
        <p:txBody>
          <a:bodyPr wrap="square" anchor="t" lIns="0" rIns="0" tIns="0" bIns="0">
            <a:spAutoFit/>
          </a:bodyPr>
          <a:lstStyle/>
          <a:p>
            <a:pPr algn="l">
              <a:lnSpc>
                <a:spcPct val="115000"/>
              </a:lnSpc>
              <a:spcAft>
                <a:spcPts val="400"/>
              </a:spcAft>
            </a:pPr>
            <a:r>
              <a:rPr sz="1250" b="0">
                <a:solidFill>
                  <a:srgbClr val="6E7884"/>
                </a:solidFill>
                <a:latin typeface="맑은 고딕"/>
              </a:rPr>
              <a:t>차급이 한 단계 위. 대신 예산 안에서는 중간 트림까지, 하이브리드는 최하위 트림만 가능하다.</a:t>
            </a:r>
          </a:p>
        </p:txBody>
      </p:sp>
      <p:graphicFrame>
        <p:nvGraphicFramePr>
          <p:cNvPr id="7" name="Table 6"/>
          <p:cNvGraphicFramePr>
            <a:graphicFrameLocks noGrp="1"/>
          </p:cNvGraphicFramePr>
          <p:nvPr/>
        </p:nvGraphicFramePr>
        <p:xfrm>
          <a:off x="713232" y="1627632"/>
          <a:ext cx="5029198" cy="2382012"/>
        </p:xfrm>
        <a:graphic>
          <a:graphicData uri="http://schemas.openxmlformats.org/drawingml/2006/table">
            <a:tbl>
              <a:tblPr firstRow="1">
                <a:tableStyleId>{5C22544A-7EE6-4342-B048-85BDC9FD1C3A}</a:tableStyleId>
              </a:tblPr>
              <a:tblGrid>
                <a:gridCol w="2143593"/>
                <a:gridCol w="1071796"/>
                <a:gridCol w="1071796"/>
                <a:gridCol w="742013"/>
              </a:tblGrid>
              <a:tr h="365760">
                <a:tc>
                  <a:txBody>
                    <a:bodyPr/>
                    <a:lstStyle/>
                    <a:p>
                      <a:pPr algn="l"/>
                      <a:r>
                        <a:rPr sz="1100" b="1">
                          <a:solidFill>
                            <a:srgbClr val="FFFFFF"/>
                          </a:solidFill>
                          <a:latin typeface="맑은 고딕"/>
                        </a:rPr>
                        <a:t>트림</a:t>
                      </a:r>
                    </a:p>
                  </a:txBody>
                  <a:tcPr marL="64008" marR="64008" marT="18288" marB="18288" anchor="ctr">
                    <a:solidFill>
                      <a:srgbClr val="102A43"/>
                    </a:solidFill>
                  </a:tcPr>
                </a:tc>
                <a:tc>
                  <a:txBody>
                    <a:bodyPr/>
                    <a:lstStyle/>
                    <a:p>
                      <a:pPr algn="ctr"/>
                      <a:r>
                        <a:rPr sz="1100" b="1">
                          <a:solidFill>
                            <a:srgbClr val="FFFFFF"/>
                          </a:solidFill>
                          <a:latin typeface="맑은 고딕"/>
                        </a:rPr>
                        <a:t>차량가</a:t>
                      </a:r>
                    </a:p>
                  </a:txBody>
                  <a:tcPr marL="64008" marR="64008" marT="18288" marB="18288" anchor="ctr">
                    <a:solidFill>
                      <a:srgbClr val="102A43"/>
                    </a:solidFill>
                  </a:tcPr>
                </a:tc>
                <a:tc>
                  <a:txBody>
                    <a:bodyPr/>
                    <a:lstStyle/>
                    <a:p>
                      <a:pPr algn="ctr"/>
                      <a:r>
                        <a:rPr sz="1100" b="1">
                          <a:solidFill>
                            <a:srgbClr val="FFFFFF"/>
                          </a:solidFill>
                          <a:latin typeface="맑은 고딕"/>
                        </a:rPr>
                        <a:t>실구매가</a:t>
                      </a:r>
                    </a:p>
                  </a:txBody>
                  <a:tcPr marL="64008" marR="64008" marT="18288" marB="18288" anchor="ctr">
                    <a:solidFill>
                      <a:srgbClr val="102A43"/>
                    </a:solidFill>
                  </a:tcPr>
                </a:tc>
                <a:tc>
                  <a:txBody>
                    <a:bodyPr/>
                    <a:lstStyle/>
                    <a:p>
                      <a:pPr algn="ctr"/>
                      <a:r>
                        <a:rPr sz="1100" b="1">
                          <a:solidFill>
                            <a:srgbClr val="FFFFFF"/>
                          </a:solidFill>
                          <a:latin typeface="맑은 고딕"/>
                        </a:rPr>
                        <a:t>판정</a:t>
                      </a:r>
                    </a:p>
                  </a:txBody>
                  <a:tcPr marL="64008" marR="64008" marT="18288" marB="18288" anchor="ctr">
                    <a:solidFill>
                      <a:srgbClr val="102A43"/>
                    </a:solidFill>
                  </a:tcPr>
                </a:tc>
              </a:tr>
              <a:tr h="288036">
                <a:tc>
                  <a:txBody>
                    <a:bodyPr/>
                    <a:lstStyle/>
                    <a:p>
                      <a:pPr algn="l"/>
                      <a:r>
                        <a:rPr sz="1100" b="0">
                          <a:solidFill>
                            <a:srgbClr val="242D38"/>
                          </a:solidFill>
                          <a:latin typeface="맑은 고딕"/>
                        </a:rPr>
                        <a:t>가솔린 모던</a:t>
                      </a:r>
                    </a:p>
                  </a:txBody>
                  <a:tcPr marL="64008" marR="64008" marT="18288" marB="18288" anchor="ctr">
                    <a:solidFill>
                      <a:srgbClr val="E9F4EE"/>
                    </a:solidFill>
                  </a:tcPr>
                </a:tc>
                <a:tc>
                  <a:txBody>
                    <a:bodyPr/>
                    <a:lstStyle/>
                    <a:p>
                      <a:pPr algn="ctr"/>
                      <a:r>
                        <a:rPr sz="1100" b="0">
                          <a:solidFill>
                            <a:srgbClr val="242D38"/>
                          </a:solidFill>
                          <a:latin typeface="맑은 고딕"/>
                        </a:rPr>
                        <a:t>2,844만</a:t>
                      </a:r>
                    </a:p>
                  </a:txBody>
                  <a:tcPr marL="64008" marR="64008" marT="18288" marB="18288" anchor="ctr">
                    <a:solidFill>
                      <a:srgbClr val="E9F4EE"/>
                    </a:solidFill>
                  </a:tcPr>
                </a:tc>
                <a:tc>
                  <a:txBody>
                    <a:bodyPr/>
                    <a:lstStyle/>
                    <a:p>
                      <a:pPr algn="ctr"/>
                      <a:r>
                        <a:rPr sz="1100" b="0">
                          <a:solidFill>
                            <a:srgbClr val="242D38"/>
                          </a:solidFill>
                          <a:latin typeface="맑은 고딕"/>
                        </a:rPr>
                        <a:t>3,055만</a:t>
                      </a:r>
                    </a:p>
                  </a:txBody>
                  <a:tcPr marL="64008" marR="64008" marT="18288" marB="18288" anchor="ctr">
                    <a:solidFill>
                      <a:srgbClr val="E9F4EE"/>
                    </a:solidFill>
                  </a:tcPr>
                </a:tc>
                <a:tc>
                  <a:txBody>
                    <a:bodyPr/>
                    <a:lstStyle/>
                    <a:p>
                      <a:pPr algn="ctr"/>
                      <a:r>
                        <a:rPr sz="1100" b="0">
                          <a:solidFill>
                            <a:srgbClr val="242D38"/>
                          </a:solidFill>
                          <a:latin typeface="맑은 고딕"/>
                        </a:rPr>
                        <a:t>가능</a:t>
                      </a:r>
                    </a:p>
                  </a:txBody>
                  <a:tcPr marL="64008" marR="64008" marT="18288" marB="18288" anchor="ctr">
                    <a:solidFill>
                      <a:srgbClr val="E9F4EE"/>
                    </a:solidFill>
                  </a:tcPr>
                </a:tc>
              </a:tr>
              <a:tr h="288036">
                <a:tc>
                  <a:txBody>
                    <a:bodyPr/>
                    <a:lstStyle/>
                    <a:p>
                      <a:pPr algn="l"/>
                      <a:r>
                        <a:rPr sz="1100" b="0">
                          <a:solidFill>
                            <a:srgbClr val="242D38"/>
                          </a:solidFill>
                          <a:latin typeface="맑은 고딕"/>
                        </a:rPr>
                        <a:t>가솔린 프리미엄</a:t>
                      </a:r>
                    </a:p>
                  </a:txBody>
                  <a:tcPr marL="64008" marR="64008" marT="18288" marB="18288" anchor="ctr">
                    <a:solidFill>
                      <a:srgbClr val="E9F4EE"/>
                    </a:solidFill>
                  </a:tcPr>
                </a:tc>
                <a:tc>
                  <a:txBody>
                    <a:bodyPr/>
                    <a:lstStyle/>
                    <a:p>
                      <a:pPr algn="ctr"/>
                      <a:r>
                        <a:rPr sz="1100" b="0">
                          <a:solidFill>
                            <a:srgbClr val="242D38"/>
                          </a:solidFill>
                          <a:latin typeface="맑은 고딕"/>
                        </a:rPr>
                        <a:t>3,112만</a:t>
                      </a:r>
                    </a:p>
                  </a:txBody>
                  <a:tcPr marL="64008" marR="64008" marT="18288" marB="18288" anchor="ctr">
                    <a:solidFill>
                      <a:srgbClr val="E9F4EE"/>
                    </a:solidFill>
                  </a:tcPr>
                </a:tc>
                <a:tc>
                  <a:txBody>
                    <a:bodyPr/>
                    <a:lstStyle/>
                    <a:p>
                      <a:pPr algn="ctr"/>
                      <a:r>
                        <a:rPr sz="1100" b="0">
                          <a:solidFill>
                            <a:srgbClr val="242D38"/>
                          </a:solidFill>
                          <a:latin typeface="맑은 고딕"/>
                        </a:rPr>
                        <a:t>3,340만</a:t>
                      </a:r>
                    </a:p>
                  </a:txBody>
                  <a:tcPr marL="64008" marR="64008" marT="18288" marB="18288" anchor="ctr">
                    <a:solidFill>
                      <a:srgbClr val="E9F4EE"/>
                    </a:solidFill>
                  </a:tcPr>
                </a:tc>
                <a:tc>
                  <a:txBody>
                    <a:bodyPr/>
                    <a:lstStyle/>
                    <a:p>
                      <a:pPr algn="ctr"/>
                      <a:r>
                        <a:rPr sz="1100" b="0">
                          <a:solidFill>
                            <a:srgbClr val="242D38"/>
                          </a:solidFill>
                          <a:latin typeface="맑은 고딕"/>
                        </a:rPr>
                        <a:t>가능</a:t>
                      </a:r>
                    </a:p>
                  </a:txBody>
                  <a:tcPr marL="64008" marR="64008" marT="18288" marB="18288" anchor="ctr">
                    <a:solidFill>
                      <a:srgbClr val="E9F4EE"/>
                    </a:solidFill>
                  </a:tcPr>
                </a:tc>
              </a:tr>
              <a:tr h="288036">
                <a:tc>
                  <a:txBody>
                    <a:bodyPr/>
                    <a:lstStyle/>
                    <a:p>
                      <a:pPr algn="l"/>
                      <a:r>
                        <a:rPr sz="1100" b="0">
                          <a:solidFill>
                            <a:srgbClr val="242D38"/>
                          </a:solidFill>
                          <a:latin typeface="맑은 고딕"/>
                        </a:rPr>
                        <a:t>가솔린 H-Pick</a:t>
                      </a:r>
                    </a:p>
                  </a:txBody>
                  <a:tcPr marL="64008" marR="64008" marT="18288" marB="18288" anchor="ctr">
                    <a:solidFill>
                      <a:srgbClr val="E9F4EE"/>
                    </a:solidFill>
                  </a:tcPr>
                </a:tc>
                <a:tc>
                  <a:txBody>
                    <a:bodyPr/>
                    <a:lstStyle/>
                    <a:p>
                      <a:pPr algn="ctr"/>
                      <a:r>
                        <a:rPr sz="1100" b="0">
                          <a:solidFill>
                            <a:srgbClr val="242D38"/>
                          </a:solidFill>
                          <a:latin typeface="맑은 고딕"/>
                        </a:rPr>
                        <a:t>3,201만</a:t>
                      </a:r>
                    </a:p>
                  </a:txBody>
                  <a:tcPr marL="64008" marR="64008" marT="18288" marB="18288" anchor="ctr">
                    <a:solidFill>
                      <a:srgbClr val="E9F4EE"/>
                    </a:solidFill>
                  </a:tcPr>
                </a:tc>
                <a:tc>
                  <a:txBody>
                    <a:bodyPr/>
                    <a:lstStyle/>
                    <a:p>
                      <a:pPr algn="ctr"/>
                      <a:r>
                        <a:rPr sz="1100" b="0">
                          <a:solidFill>
                            <a:srgbClr val="242D38"/>
                          </a:solidFill>
                          <a:latin typeface="맑은 고딕"/>
                        </a:rPr>
                        <a:t>3,435만</a:t>
                      </a:r>
                    </a:p>
                  </a:txBody>
                  <a:tcPr marL="64008" marR="64008" marT="18288" marB="18288" anchor="ctr">
                    <a:solidFill>
                      <a:srgbClr val="E9F4EE"/>
                    </a:solidFill>
                  </a:tcPr>
                </a:tc>
                <a:tc>
                  <a:txBody>
                    <a:bodyPr/>
                    <a:lstStyle/>
                    <a:p>
                      <a:pPr algn="ctr"/>
                      <a:r>
                        <a:rPr sz="1100" b="0">
                          <a:solidFill>
                            <a:srgbClr val="242D38"/>
                          </a:solidFill>
                          <a:latin typeface="맑은 고딕"/>
                        </a:rPr>
                        <a:t>가능</a:t>
                      </a:r>
                    </a:p>
                  </a:txBody>
                  <a:tcPr marL="64008" marR="64008" marT="18288" marB="18288" anchor="ctr">
                    <a:solidFill>
                      <a:srgbClr val="E9F4EE"/>
                    </a:solidFill>
                  </a:tcPr>
                </a:tc>
              </a:tr>
              <a:tr h="288036">
                <a:tc>
                  <a:txBody>
                    <a:bodyPr/>
                    <a:lstStyle/>
                    <a:p>
                      <a:pPr algn="l"/>
                      <a:r>
                        <a:rPr sz="1100" b="0">
                          <a:solidFill>
                            <a:srgbClr val="242D38"/>
                          </a:solidFill>
                          <a:latin typeface="맑은 고딕"/>
                        </a:rPr>
                        <a:t>가솔린 인스퍼레이션</a:t>
                      </a:r>
                    </a:p>
                  </a:txBody>
                  <a:tcPr marL="64008" marR="64008" marT="18288" marB="18288" anchor="ctr">
                    <a:solidFill>
                      <a:srgbClr val="FDECE8"/>
                    </a:solidFill>
                  </a:tcPr>
                </a:tc>
                <a:tc>
                  <a:txBody>
                    <a:bodyPr/>
                    <a:lstStyle/>
                    <a:p>
                      <a:pPr algn="ctr"/>
                      <a:r>
                        <a:rPr sz="1100" b="0">
                          <a:solidFill>
                            <a:srgbClr val="242D38"/>
                          </a:solidFill>
                          <a:latin typeface="맑은 고딕"/>
                        </a:rPr>
                        <a:t>3,456만</a:t>
                      </a:r>
                    </a:p>
                  </a:txBody>
                  <a:tcPr marL="64008" marR="64008" marT="18288" marB="18288" anchor="ctr">
                    <a:solidFill>
                      <a:srgbClr val="FDECE8"/>
                    </a:solidFill>
                  </a:tcPr>
                </a:tc>
                <a:tc>
                  <a:txBody>
                    <a:bodyPr/>
                    <a:lstStyle/>
                    <a:p>
                      <a:pPr algn="ctr"/>
                      <a:r>
                        <a:rPr sz="1100" b="0">
                          <a:solidFill>
                            <a:srgbClr val="242D38"/>
                          </a:solidFill>
                          <a:latin typeface="맑은 고딕"/>
                        </a:rPr>
                        <a:t>3,706만</a:t>
                      </a:r>
                    </a:p>
                  </a:txBody>
                  <a:tcPr marL="64008" marR="64008" marT="18288" marB="18288" anchor="ctr">
                    <a:solidFill>
                      <a:srgbClr val="FDECE8"/>
                    </a:solidFill>
                  </a:tcPr>
                </a:tc>
                <a:tc>
                  <a:txBody>
                    <a:bodyPr/>
                    <a:lstStyle/>
                    <a:p>
                      <a:pPr algn="ctr"/>
                      <a:r>
                        <a:rPr sz="1100" b="0">
                          <a:solidFill>
                            <a:srgbClr val="242D38"/>
                          </a:solidFill>
                          <a:latin typeface="맑은 고딕"/>
                        </a:rPr>
                        <a:t>초과</a:t>
                      </a:r>
                    </a:p>
                  </a:txBody>
                  <a:tcPr marL="64008" marR="64008" marT="18288" marB="18288" anchor="ctr">
                    <a:solidFill>
                      <a:srgbClr val="FDECE8"/>
                    </a:solidFill>
                  </a:tcPr>
                </a:tc>
              </a:tr>
              <a:tr h="288036">
                <a:tc>
                  <a:txBody>
                    <a:bodyPr/>
                    <a:lstStyle/>
                    <a:p>
                      <a:pPr algn="l"/>
                      <a:r>
                        <a:rPr sz="1100" b="0">
                          <a:solidFill>
                            <a:srgbClr val="242D38"/>
                          </a:solidFill>
                          <a:latin typeface="맑은 고딕"/>
                        </a:rPr>
                        <a:t>HEV 모던</a:t>
                      </a:r>
                    </a:p>
                  </a:txBody>
                  <a:tcPr marL="64008" marR="64008" marT="18288" marB="18288" anchor="ctr">
                    <a:solidFill>
                      <a:srgbClr val="E9F4EE"/>
                    </a:solidFill>
                  </a:tcPr>
                </a:tc>
                <a:tc>
                  <a:txBody>
                    <a:bodyPr/>
                    <a:lstStyle/>
                    <a:p>
                      <a:pPr algn="ctr"/>
                      <a:r>
                        <a:rPr sz="1100" b="0">
                          <a:solidFill>
                            <a:srgbClr val="242D38"/>
                          </a:solidFill>
                          <a:latin typeface="맑은 고딕"/>
                        </a:rPr>
                        <a:t>3,318만</a:t>
                      </a:r>
                    </a:p>
                  </a:txBody>
                  <a:tcPr marL="64008" marR="64008" marT="18288" marB="18288" anchor="ctr">
                    <a:solidFill>
                      <a:srgbClr val="E9F4EE"/>
                    </a:solidFill>
                  </a:tcPr>
                </a:tc>
                <a:tc>
                  <a:txBody>
                    <a:bodyPr/>
                    <a:lstStyle/>
                    <a:p>
                      <a:pPr algn="ctr"/>
                      <a:r>
                        <a:rPr sz="1100" b="0">
                          <a:solidFill>
                            <a:srgbClr val="242D38"/>
                          </a:solidFill>
                          <a:latin typeface="맑은 고딕"/>
                        </a:rPr>
                        <a:t>3,559만</a:t>
                      </a:r>
                    </a:p>
                  </a:txBody>
                  <a:tcPr marL="64008" marR="64008" marT="18288" marB="18288" anchor="ctr">
                    <a:solidFill>
                      <a:srgbClr val="E9F4EE"/>
                    </a:solidFill>
                  </a:tcPr>
                </a:tc>
                <a:tc>
                  <a:txBody>
                    <a:bodyPr/>
                    <a:lstStyle/>
                    <a:p>
                      <a:pPr algn="ctr"/>
                      <a:r>
                        <a:rPr sz="1100" b="0">
                          <a:solidFill>
                            <a:srgbClr val="242D38"/>
                          </a:solidFill>
                          <a:latin typeface="맑은 고딕"/>
                        </a:rPr>
                        <a:t>가능</a:t>
                      </a:r>
                    </a:p>
                  </a:txBody>
                  <a:tcPr marL="64008" marR="64008" marT="18288" marB="18288" anchor="ctr">
                    <a:solidFill>
                      <a:srgbClr val="E9F4EE"/>
                    </a:solidFill>
                  </a:tcPr>
                </a:tc>
              </a:tr>
              <a:tr h="288036">
                <a:tc>
                  <a:txBody>
                    <a:bodyPr/>
                    <a:lstStyle/>
                    <a:p>
                      <a:pPr algn="l"/>
                      <a:r>
                        <a:rPr sz="1100" b="0">
                          <a:solidFill>
                            <a:srgbClr val="242D38"/>
                          </a:solidFill>
                          <a:latin typeface="맑은 고딕"/>
                        </a:rPr>
                        <a:t>HEV 프리미엄</a:t>
                      </a:r>
                    </a:p>
                  </a:txBody>
                  <a:tcPr marL="64008" marR="64008" marT="18288" marB="18288" anchor="ctr">
                    <a:solidFill>
                      <a:srgbClr val="FDECE8"/>
                    </a:solidFill>
                  </a:tcPr>
                </a:tc>
                <a:tc>
                  <a:txBody>
                    <a:bodyPr/>
                    <a:lstStyle/>
                    <a:p>
                      <a:pPr algn="ctr"/>
                      <a:r>
                        <a:rPr sz="1100" b="0">
                          <a:solidFill>
                            <a:srgbClr val="242D38"/>
                          </a:solidFill>
                          <a:latin typeface="맑은 고딕"/>
                        </a:rPr>
                        <a:t>3,565만</a:t>
                      </a:r>
                    </a:p>
                  </a:txBody>
                  <a:tcPr marL="64008" marR="64008" marT="18288" marB="18288" anchor="ctr">
                    <a:solidFill>
                      <a:srgbClr val="FDECE8"/>
                    </a:solidFill>
                  </a:tcPr>
                </a:tc>
                <a:tc>
                  <a:txBody>
                    <a:bodyPr/>
                    <a:lstStyle/>
                    <a:p>
                      <a:pPr algn="ctr"/>
                      <a:r>
                        <a:rPr sz="1100" b="0">
                          <a:solidFill>
                            <a:srgbClr val="242D38"/>
                          </a:solidFill>
                          <a:latin typeface="맑은 고딕"/>
                        </a:rPr>
                        <a:t>3,822만</a:t>
                      </a:r>
                    </a:p>
                  </a:txBody>
                  <a:tcPr marL="64008" marR="64008" marT="18288" marB="18288" anchor="ctr">
                    <a:solidFill>
                      <a:srgbClr val="FDECE8"/>
                    </a:solidFill>
                  </a:tcPr>
                </a:tc>
                <a:tc>
                  <a:txBody>
                    <a:bodyPr/>
                    <a:lstStyle/>
                    <a:p>
                      <a:pPr algn="ctr"/>
                      <a:r>
                        <a:rPr sz="1100" b="0">
                          <a:solidFill>
                            <a:srgbClr val="242D38"/>
                          </a:solidFill>
                          <a:latin typeface="맑은 고딕"/>
                        </a:rPr>
                        <a:t>초과</a:t>
                      </a:r>
                    </a:p>
                  </a:txBody>
                  <a:tcPr marL="64008" marR="64008" marT="18288" marB="18288" anchor="ctr">
                    <a:solidFill>
                      <a:srgbClr val="FDECE8"/>
                    </a:solidFill>
                  </a:tcPr>
                </a:tc>
              </a:tr>
              <a:tr h="288036">
                <a:tc>
                  <a:txBody>
                    <a:bodyPr/>
                    <a:lstStyle/>
                    <a:p>
                      <a:pPr algn="l"/>
                      <a:r>
                        <a:rPr sz="1100" b="0">
                          <a:solidFill>
                            <a:srgbClr val="242D38"/>
                          </a:solidFill>
                          <a:latin typeface="맑은 고딕"/>
                        </a:rPr>
                        <a:t>HEV H-Pick</a:t>
                      </a:r>
                    </a:p>
                  </a:txBody>
                  <a:tcPr marL="64008" marR="64008" marT="18288" marB="18288" anchor="ctr">
                    <a:solidFill>
                      <a:srgbClr val="FDECE8"/>
                    </a:solidFill>
                  </a:tcPr>
                </a:tc>
                <a:tc>
                  <a:txBody>
                    <a:bodyPr/>
                    <a:lstStyle/>
                    <a:p>
                      <a:pPr algn="ctr"/>
                      <a:r>
                        <a:rPr sz="1100" b="0">
                          <a:solidFill>
                            <a:srgbClr val="242D38"/>
                          </a:solidFill>
                          <a:latin typeface="맑은 고딕"/>
                        </a:rPr>
                        <a:t>3,649만</a:t>
                      </a:r>
                    </a:p>
                  </a:txBody>
                  <a:tcPr marL="64008" marR="64008" marT="18288" marB="18288" anchor="ctr">
                    <a:solidFill>
                      <a:srgbClr val="FDECE8"/>
                    </a:solidFill>
                  </a:tcPr>
                </a:tc>
                <a:tc>
                  <a:txBody>
                    <a:bodyPr/>
                    <a:lstStyle/>
                    <a:p>
                      <a:pPr algn="ctr"/>
                      <a:r>
                        <a:rPr sz="1100" b="0">
                          <a:solidFill>
                            <a:srgbClr val="242D38"/>
                          </a:solidFill>
                          <a:latin typeface="맑은 고딕"/>
                        </a:rPr>
                        <a:t>3,911만</a:t>
                      </a:r>
                    </a:p>
                  </a:txBody>
                  <a:tcPr marL="64008" marR="64008" marT="18288" marB="18288" anchor="ctr">
                    <a:solidFill>
                      <a:srgbClr val="FDECE8"/>
                    </a:solidFill>
                  </a:tcPr>
                </a:tc>
                <a:tc>
                  <a:txBody>
                    <a:bodyPr/>
                    <a:lstStyle/>
                    <a:p>
                      <a:pPr algn="ctr"/>
                      <a:r>
                        <a:rPr sz="1100" b="0">
                          <a:solidFill>
                            <a:srgbClr val="242D38"/>
                          </a:solidFill>
                          <a:latin typeface="맑은 고딕"/>
                        </a:rPr>
                        <a:t>초과</a:t>
                      </a:r>
                    </a:p>
                  </a:txBody>
                  <a:tcPr marL="64008" marR="64008" marT="18288" marB="18288" anchor="ctr">
                    <a:solidFill>
                      <a:srgbClr val="FDECE8"/>
                    </a:solidFill>
                  </a:tcPr>
                </a:tc>
              </a:tr>
            </a:tbl>
          </a:graphicData>
        </a:graphic>
      </p:graphicFrame>
      <p:sp>
        <p:nvSpPr>
          <p:cNvPr id="8" name="Rectangle 7"/>
          <p:cNvSpPr/>
          <p:nvPr/>
        </p:nvSpPr>
        <p:spPr>
          <a:xfrm>
            <a:off x="6053328" y="1627632"/>
            <a:ext cx="5422392" cy="228600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053328" y="1627632"/>
            <a:ext cx="45720" cy="2286000"/>
          </a:xfrm>
          <a:prstGeom prst="rect">
            <a:avLst/>
          </a:prstGeom>
          <a:solidFill>
            <a:srgbClr val="1B6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291072" y="1792224"/>
            <a:ext cx="5029200" cy="274320"/>
          </a:xfrm>
          <a:prstGeom prst="rect">
            <a:avLst/>
          </a:prstGeom>
          <a:noFill/>
        </p:spPr>
        <p:txBody>
          <a:bodyPr wrap="square" anchor="t" lIns="0" rIns="0" tIns="0" bIns="0">
            <a:spAutoFit/>
          </a:bodyPr>
          <a:lstStyle/>
          <a:p>
            <a:pPr algn="l">
              <a:lnSpc>
                <a:spcPct val="115000"/>
              </a:lnSpc>
              <a:spcAft>
                <a:spcPts val="400"/>
              </a:spcAft>
            </a:pPr>
            <a:r>
              <a:rPr sz="1250" b="1">
                <a:solidFill>
                  <a:srgbClr val="1B6CA8"/>
                </a:solidFill>
                <a:latin typeface="맑은 고딕"/>
              </a:rPr>
              <a:t>적용 가능한 주요 선택 옵션</a:t>
            </a:r>
          </a:p>
        </p:txBody>
      </p:sp>
      <p:sp>
        <p:nvSpPr>
          <p:cNvPr id="11" name="TextBox 10"/>
          <p:cNvSpPr txBox="1"/>
          <p:nvPr/>
        </p:nvSpPr>
        <p:spPr>
          <a:xfrm>
            <a:off x="6291072" y="2157984"/>
            <a:ext cx="5029200" cy="1691640"/>
          </a:xfrm>
          <a:prstGeom prst="rect">
            <a:avLst/>
          </a:prstGeom>
          <a:noFill/>
        </p:spPr>
        <p:txBody>
          <a:bodyPr wrap="square" anchor="t" lIns="0" rIns="0" tIns="0" bIns="0">
            <a:spAutoFit/>
          </a:bodyPr>
          <a:lstStyle/>
          <a:p>
            <a:pPr algn="l">
              <a:lnSpc>
                <a:spcPct val="142000"/>
              </a:lnSpc>
              <a:spcAft>
                <a:spcPts val="400"/>
              </a:spcAft>
            </a:pPr>
            <a:r>
              <a:rPr sz="1080" b="0">
                <a:solidFill>
                  <a:srgbClr val="242D38"/>
                </a:solidFill>
                <a:latin typeface="맑은 고딕"/>
              </a:rPr>
              <a:t>· 인포테인먼트 내비(12.3인치)  89만  (가솔린 모던)</a:t>
            </a:r>
          </a:p>
          <a:p>
            <a:pPr algn="l">
              <a:lnSpc>
                <a:spcPct val="142000"/>
              </a:lnSpc>
              <a:spcAft>
                <a:spcPts val="400"/>
              </a:spcAft>
            </a:pPr>
            <a:r>
              <a:rPr sz="1080" b="0">
                <a:solidFill>
                  <a:srgbClr val="242D38"/>
                </a:solidFill>
                <a:latin typeface="맑은 고딕"/>
              </a:rPr>
              <a:t>· 현대 스마트센스(HDA·스마트크루즈)  40만</a:t>
            </a:r>
          </a:p>
          <a:p>
            <a:pPr algn="l">
              <a:lnSpc>
                <a:spcPct val="142000"/>
              </a:lnSpc>
              <a:spcAft>
                <a:spcPts val="400"/>
              </a:spcAft>
            </a:pPr>
            <a:r>
              <a:rPr sz="1080" b="0">
                <a:solidFill>
                  <a:srgbClr val="242D38"/>
                </a:solidFill>
                <a:latin typeface="맑은 고딕"/>
              </a:rPr>
              <a:t>· 컴포트 Ⅰ / Ⅱ (통풍·전동시트·2열 열선)  69 / 74만</a:t>
            </a:r>
          </a:p>
          <a:p>
            <a:pPr algn="l">
              <a:lnSpc>
                <a:spcPct val="142000"/>
              </a:lnSpc>
              <a:spcAft>
                <a:spcPts val="400"/>
              </a:spcAft>
            </a:pPr>
            <a:r>
              <a:rPr sz="1080" b="0">
                <a:solidFill>
                  <a:srgbClr val="242D38"/>
                </a:solidFill>
                <a:latin typeface="맑은 고딕"/>
              </a:rPr>
              <a:t>· 파노라마 선루프  109만 (+루프랙 시 116만)</a:t>
            </a:r>
          </a:p>
          <a:p>
            <a:pPr algn="l">
              <a:lnSpc>
                <a:spcPct val="142000"/>
              </a:lnSpc>
              <a:spcAft>
                <a:spcPts val="400"/>
              </a:spcAft>
            </a:pPr>
            <a:r>
              <a:rPr sz="1080" b="0">
                <a:solidFill>
                  <a:srgbClr val="242D38"/>
                </a:solidFill>
                <a:latin typeface="맑은 고딕"/>
              </a:rPr>
              <a:t>· 파킹어시스트 Ⅰ  123만 / 빌트인 캠2  45만</a:t>
            </a:r>
          </a:p>
          <a:p>
            <a:pPr algn="l">
              <a:lnSpc>
                <a:spcPct val="142000"/>
              </a:lnSpc>
              <a:spcAft>
                <a:spcPts val="400"/>
              </a:spcAft>
            </a:pPr>
            <a:r>
              <a:rPr sz="1080" b="0">
                <a:solidFill>
                  <a:srgbClr val="242D38"/>
                </a:solidFill>
                <a:latin typeface="맑은 고딕"/>
              </a:rPr>
              <a:t>· 플래티넘  109만 / 익스테리어 디자인 Ⅱ  69만</a:t>
            </a:r>
          </a:p>
          <a:p>
            <a:pPr algn="l">
              <a:lnSpc>
                <a:spcPct val="142000"/>
              </a:lnSpc>
              <a:spcAft>
                <a:spcPts val="400"/>
              </a:spcAft>
            </a:pPr>
            <a:r>
              <a:rPr sz="1080" b="0">
                <a:solidFill>
                  <a:srgbClr val="242D38"/>
                </a:solidFill>
                <a:latin typeface="맑은 고딕"/>
              </a:rPr>
              <a:t>· HTRAC 4WD  198만</a:t>
            </a:r>
          </a:p>
          <a:p>
            <a:pPr algn="l">
              <a:lnSpc>
                <a:spcPct val="142000"/>
              </a:lnSpc>
              <a:spcAft>
                <a:spcPts val="400"/>
              </a:spcAft>
            </a:pPr>
            <a:r>
              <a:rPr sz="1080" b="0">
                <a:solidFill>
                  <a:srgbClr val="242D38"/>
                </a:solidFill>
                <a:latin typeface="맑은 고딕"/>
              </a:rPr>
              <a:t/>
            </a:r>
          </a:p>
        </p:txBody>
      </p:sp>
      <p:sp>
        <p:nvSpPr>
          <p:cNvPr id="12" name="Rectangle 11"/>
          <p:cNvSpPr/>
          <p:nvPr/>
        </p:nvSpPr>
        <p:spPr>
          <a:xfrm>
            <a:off x="6053328" y="4023360"/>
            <a:ext cx="5422392" cy="2176272"/>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291072" y="4160520"/>
            <a:ext cx="5029200" cy="274320"/>
          </a:xfrm>
          <a:prstGeom prst="rect">
            <a:avLst/>
          </a:prstGeom>
          <a:noFill/>
        </p:spPr>
        <p:txBody>
          <a:bodyPr wrap="square" anchor="t" lIns="0" rIns="0" tIns="0" bIns="0">
            <a:spAutoFit/>
          </a:bodyPr>
          <a:lstStyle/>
          <a:p>
            <a:pPr algn="l">
              <a:lnSpc>
                <a:spcPct val="115000"/>
              </a:lnSpc>
              <a:spcAft>
                <a:spcPts val="400"/>
              </a:spcAft>
            </a:pPr>
            <a:r>
              <a:rPr sz="1250" b="1">
                <a:solidFill>
                  <a:srgbClr val="F0A870"/>
                </a:solidFill>
                <a:latin typeface="맑은 고딕"/>
              </a:rPr>
              <a:t>예산 내 추천 조합</a:t>
            </a:r>
          </a:p>
        </p:txBody>
      </p:sp>
      <p:sp>
        <p:nvSpPr>
          <p:cNvPr id="14" name="TextBox 13"/>
          <p:cNvSpPr txBox="1"/>
          <p:nvPr/>
        </p:nvSpPr>
        <p:spPr>
          <a:xfrm>
            <a:off x="6291072" y="4517136"/>
            <a:ext cx="5029200" cy="1627632"/>
          </a:xfrm>
          <a:prstGeom prst="rect">
            <a:avLst/>
          </a:prstGeom>
          <a:noFill/>
        </p:spPr>
        <p:txBody>
          <a:bodyPr wrap="square" anchor="t" lIns="0" rIns="0" tIns="0" bIns="0">
            <a:spAutoFit/>
          </a:bodyPr>
          <a:lstStyle/>
          <a:p>
            <a:pPr algn="l">
              <a:lnSpc>
                <a:spcPct val="138000"/>
              </a:lnSpc>
              <a:spcAft>
                <a:spcPts val="0"/>
              </a:spcAft>
            </a:pPr>
            <a:r>
              <a:rPr sz="1050" b="0">
                <a:solidFill>
                  <a:srgbClr val="FFFFFF"/>
                </a:solidFill>
                <a:latin typeface="맑은 고딕"/>
              </a:rPr>
              <a:t>■ 공간 우선 — 가솔린 H-Pick + 파노라마 선루프</a:t>
            </a:r>
          </a:p>
          <a:p>
            <a:pPr algn="l">
              <a:lnSpc>
                <a:spcPct val="138000"/>
              </a:lnSpc>
              <a:spcAft>
                <a:spcPts val="0"/>
              </a:spcAft>
            </a:pPr>
            <a:r>
              <a:rPr sz="1050" b="0">
                <a:solidFill>
                  <a:srgbClr val="FFFFFF"/>
                </a:solidFill>
                <a:latin typeface="맑은 고딕"/>
              </a:rPr>
              <a:t>   + 빌트인캠2</a:t>
            </a:r>
          </a:p>
          <a:p>
            <a:pPr algn="l">
              <a:lnSpc>
                <a:spcPct val="138000"/>
              </a:lnSpc>
              <a:spcAft>
                <a:spcPts val="0"/>
              </a:spcAft>
            </a:pPr>
            <a:r>
              <a:rPr sz="1050" b="0">
                <a:solidFill>
                  <a:srgbClr val="FFFFFF"/>
                </a:solidFill>
                <a:latin typeface="맑은 고딕"/>
              </a:rPr>
              <a:t>   3,201 + 109 + 45 = 3,355만 → 실구매 3,598만</a:t>
            </a:r>
          </a:p>
          <a:p>
            <a:pPr algn="l">
              <a:lnSpc>
                <a:spcPct val="138000"/>
              </a:lnSpc>
              <a:spcAft>
                <a:spcPts val="0"/>
              </a:spcAft>
            </a:pPr>
            <a:r>
              <a:rPr sz="1050" b="0">
                <a:solidFill>
                  <a:srgbClr val="FFFFFF"/>
                </a:solidFill>
                <a:latin typeface="맑은 고딕"/>
              </a:rPr>
              <a:t>   (전동시트·2열 열선·HDA 기본 포함)</a:t>
            </a:r>
          </a:p>
          <a:p>
            <a:pPr algn="l">
              <a:lnSpc>
                <a:spcPct val="138000"/>
              </a:lnSpc>
              <a:spcAft>
                <a:spcPts val="0"/>
              </a:spcAft>
            </a:pPr>
            <a:r>
              <a:rPr sz="1050" b="0">
                <a:solidFill>
                  <a:srgbClr val="FFFFFF"/>
                </a:solidFill>
                <a:latin typeface="맑은 고딕"/>
              </a:rPr>
              <a:t/>
            </a:r>
          </a:p>
          <a:p>
            <a:pPr algn="l">
              <a:lnSpc>
                <a:spcPct val="138000"/>
              </a:lnSpc>
              <a:spcAft>
                <a:spcPts val="0"/>
              </a:spcAft>
            </a:pPr>
            <a:r>
              <a:rPr sz="1050" b="0">
                <a:solidFill>
                  <a:srgbClr val="FFFFFF"/>
                </a:solidFill>
                <a:latin typeface="맑은 고딕"/>
              </a:rPr>
              <a:t>■ 하이브리드 — HEV 모던 + 인포테인먼트 내비</a:t>
            </a:r>
          </a:p>
          <a:p>
            <a:pPr algn="l">
              <a:lnSpc>
                <a:spcPct val="138000"/>
              </a:lnSpc>
              <a:spcAft>
                <a:spcPts val="0"/>
              </a:spcAft>
            </a:pPr>
            <a:r>
              <a:rPr sz="1050" b="0">
                <a:solidFill>
                  <a:srgbClr val="FFFFFF"/>
                </a:solidFill>
                <a:latin typeface="맑은 고딕"/>
              </a:rPr>
              <a:t>   + 현대 스마트센스</a:t>
            </a:r>
          </a:p>
          <a:p>
            <a:pPr algn="l">
              <a:lnSpc>
                <a:spcPct val="138000"/>
              </a:lnSpc>
              <a:spcAft>
                <a:spcPts val="0"/>
              </a:spcAft>
            </a:pPr>
            <a:r>
              <a:rPr sz="1050" b="0">
                <a:solidFill>
                  <a:srgbClr val="FFFFFF"/>
                </a:solidFill>
                <a:latin typeface="맑은 고딕"/>
              </a:rPr>
              <a:t>   3,318 + 59 + 40 = 3,417만 → 실구매 3,664만</a:t>
            </a:r>
          </a:p>
          <a:p>
            <a:pPr algn="l">
              <a:lnSpc>
                <a:spcPct val="138000"/>
              </a:lnSpc>
              <a:spcAft>
                <a:spcPts val="0"/>
              </a:spcAft>
            </a:pPr>
            <a:r>
              <a:rPr sz="1050" b="0">
                <a:solidFill>
                  <a:srgbClr val="FFFFFF"/>
                </a:solidFill>
                <a:latin typeface="맑은 고딕"/>
              </a:rPr>
              <a:t>   ※ 12.3 내비 + HDA는 확보, 그 이상은 어려움</a:t>
            </a:r>
          </a:p>
        </p:txBody>
      </p:sp>
      <p:sp>
        <p:nvSpPr>
          <p:cNvPr id="15" name="TextBox 14"/>
          <p:cNvSpPr txBox="1"/>
          <p:nvPr/>
        </p:nvSpPr>
        <p:spPr>
          <a:xfrm>
            <a:off x="713232" y="6327648"/>
            <a:ext cx="10881360" cy="365760"/>
          </a:xfrm>
          <a:prstGeom prst="rect">
            <a:avLst/>
          </a:prstGeom>
          <a:noFill/>
        </p:spPr>
        <p:txBody>
          <a:bodyPr wrap="square" anchor="t" lIns="0" rIns="0" tIns="0" bIns="0">
            <a:spAutoFit/>
          </a:bodyPr>
          <a:lstStyle/>
          <a:p>
            <a:pPr algn="l">
              <a:lnSpc>
                <a:spcPct val="120000"/>
              </a:lnSpc>
              <a:spcAft>
                <a:spcPts val="400"/>
              </a:spcAft>
            </a:pPr>
            <a:r>
              <a:rPr sz="950" b="0">
                <a:solidFill>
                  <a:srgbClr val="6E7884"/>
                </a:solidFill>
                <a:latin typeface="맑은 고딕"/>
              </a:rPr>
              <a:t>가솔린 12.5km/ℓ(17인치), 하이브리드 16.2km/ℓ. H-Pick은 고속도로 주행보조·전동시트·2열 열선이 기본이라 예산 내 가성비가 가장 좋은 트림이다. 출처: 현대 공식 가격표(2026 투싼 / 투싼 하이브리드).</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02920" y="274320"/>
            <a:ext cx="50292" cy="384048"/>
          </a:xfrm>
          <a:prstGeom prst="rect">
            <a:avLst/>
          </a:prstGeom>
          <a:solidFill>
            <a:srgbClr val="E26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13232" y="219456"/>
            <a:ext cx="8778240" cy="457200"/>
          </a:xfrm>
          <a:prstGeom prst="rect">
            <a:avLst/>
          </a:prstGeom>
          <a:noFill/>
        </p:spPr>
        <p:txBody>
          <a:bodyPr wrap="square" anchor="t" lIns="0" rIns="0" tIns="0" bIns="0">
            <a:spAutoFit/>
          </a:bodyPr>
          <a:lstStyle/>
          <a:p>
            <a:pPr algn="l">
              <a:lnSpc>
                <a:spcPct val="115000"/>
              </a:lnSpc>
              <a:spcAft>
                <a:spcPts val="400"/>
              </a:spcAft>
            </a:pPr>
            <a:r>
              <a:rPr sz="2300" b="1">
                <a:solidFill>
                  <a:srgbClr val="FFFFFF"/>
                </a:solidFill>
                <a:latin typeface="맑은 고딕"/>
              </a:rPr>
              <a:t>기아 스포티지</a:t>
            </a:r>
          </a:p>
        </p:txBody>
      </p:sp>
      <p:sp>
        <p:nvSpPr>
          <p:cNvPr id="5" name="TextBox 4"/>
          <p:cNvSpPr txBox="1"/>
          <p:nvPr/>
        </p:nvSpPr>
        <p:spPr>
          <a:xfrm>
            <a:off x="9509760" y="329184"/>
            <a:ext cx="2194560" cy="365760"/>
          </a:xfrm>
          <a:prstGeom prst="rect">
            <a:avLst/>
          </a:prstGeom>
          <a:noFill/>
        </p:spPr>
        <p:txBody>
          <a:bodyPr wrap="square" anchor="t" lIns="0" rIns="0" tIns="0" bIns="0">
            <a:spAutoFit/>
          </a:bodyPr>
          <a:lstStyle/>
          <a:p>
            <a:pPr algn="r">
              <a:lnSpc>
                <a:spcPct val="115000"/>
              </a:lnSpc>
              <a:spcAft>
                <a:spcPts val="400"/>
              </a:spcAft>
            </a:pPr>
            <a:r>
              <a:rPr sz="1100" b="0">
                <a:solidFill>
                  <a:srgbClr val="A9BED2"/>
                </a:solidFill>
                <a:latin typeface="맑은 고딕"/>
              </a:rPr>
              <a:t>09 / 준중형</a:t>
            </a:r>
          </a:p>
        </p:txBody>
      </p:sp>
      <p:sp>
        <p:nvSpPr>
          <p:cNvPr id="6" name="TextBox 5"/>
          <p:cNvSpPr txBox="1"/>
          <p:nvPr/>
        </p:nvSpPr>
        <p:spPr>
          <a:xfrm>
            <a:off x="713232" y="1060704"/>
            <a:ext cx="10881360" cy="310896"/>
          </a:xfrm>
          <a:prstGeom prst="rect">
            <a:avLst/>
          </a:prstGeom>
          <a:noFill/>
        </p:spPr>
        <p:txBody>
          <a:bodyPr wrap="square" anchor="t" lIns="0" rIns="0" tIns="0" bIns="0">
            <a:spAutoFit/>
          </a:bodyPr>
          <a:lstStyle/>
          <a:p>
            <a:pPr algn="l">
              <a:lnSpc>
                <a:spcPct val="115000"/>
              </a:lnSpc>
              <a:spcAft>
                <a:spcPts val="400"/>
              </a:spcAft>
            </a:pPr>
            <a:r>
              <a:rPr sz="1250" b="0">
                <a:solidFill>
                  <a:srgbClr val="6E7884"/>
                </a:solidFill>
                <a:latin typeface="맑은 고딕"/>
              </a:rPr>
              <a:t>2027년형으로 넘어오며 가격이 올랐다. 하이브리드는 최하위 트림도 예산을 넘긴다.</a:t>
            </a:r>
          </a:p>
        </p:txBody>
      </p:sp>
      <p:graphicFrame>
        <p:nvGraphicFramePr>
          <p:cNvPr id="7" name="Table 6"/>
          <p:cNvGraphicFramePr>
            <a:graphicFrameLocks noGrp="1"/>
          </p:cNvGraphicFramePr>
          <p:nvPr/>
        </p:nvGraphicFramePr>
        <p:xfrm>
          <a:off x="713232" y="1627632"/>
          <a:ext cx="5029198" cy="2093976"/>
        </p:xfrm>
        <a:graphic>
          <a:graphicData uri="http://schemas.openxmlformats.org/drawingml/2006/table">
            <a:tbl>
              <a:tblPr firstRow="1">
                <a:tableStyleId>{5C22544A-7EE6-4342-B048-85BDC9FD1C3A}</a:tableStyleId>
              </a:tblPr>
              <a:tblGrid>
                <a:gridCol w="2143593"/>
                <a:gridCol w="1071796"/>
                <a:gridCol w="1071796"/>
                <a:gridCol w="742013"/>
              </a:tblGrid>
              <a:tr h="365760">
                <a:tc>
                  <a:txBody>
                    <a:bodyPr/>
                    <a:lstStyle/>
                    <a:p>
                      <a:pPr algn="l"/>
                      <a:r>
                        <a:rPr sz="1100" b="1">
                          <a:solidFill>
                            <a:srgbClr val="FFFFFF"/>
                          </a:solidFill>
                          <a:latin typeface="맑은 고딕"/>
                        </a:rPr>
                        <a:t>트림</a:t>
                      </a:r>
                    </a:p>
                  </a:txBody>
                  <a:tcPr marL="64008" marR="64008" marT="18288" marB="18288" anchor="ctr">
                    <a:solidFill>
                      <a:srgbClr val="102A43"/>
                    </a:solidFill>
                  </a:tcPr>
                </a:tc>
                <a:tc>
                  <a:txBody>
                    <a:bodyPr/>
                    <a:lstStyle/>
                    <a:p>
                      <a:pPr algn="ctr"/>
                      <a:r>
                        <a:rPr sz="1100" b="1">
                          <a:solidFill>
                            <a:srgbClr val="FFFFFF"/>
                          </a:solidFill>
                          <a:latin typeface="맑은 고딕"/>
                        </a:rPr>
                        <a:t>차량가</a:t>
                      </a:r>
                    </a:p>
                  </a:txBody>
                  <a:tcPr marL="64008" marR="64008" marT="18288" marB="18288" anchor="ctr">
                    <a:solidFill>
                      <a:srgbClr val="102A43"/>
                    </a:solidFill>
                  </a:tcPr>
                </a:tc>
                <a:tc>
                  <a:txBody>
                    <a:bodyPr/>
                    <a:lstStyle/>
                    <a:p>
                      <a:pPr algn="ctr"/>
                      <a:r>
                        <a:rPr sz="1100" b="1">
                          <a:solidFill>
                            <a:srgbClr val="FFFFFF"/>
                          </a:solidFill>
                          <a:latin typeface="맑은 고딕"/>
                        </a:rPr>
                        <a:t>실구매가</a:t>
                      </a:r>
                    </a:p>
                  </a:txBody>
                  <a:tcPr marL="64008" marR="64008" marT="18288" marB="18288" anchor="ctr">
                    <a:solidFill>
                      <a:srgbClr val="102A43"/>
                    </a:solidFill>
                  </a:tcPr>
                </a:tc>
                <a:tc>
                  <a:txBody>
                    <a:bodyPr/>
                    <a:lstStyle/>
                    <a:p>
                      <a:pPr algn="ctr"/>
                      <a:r>
                        <a:rPr sz="1100" b="1">
                          <a:solidFill>
                            <a:srgbClr val="FFFFFF"/>
                          </a:solidFill>
                          <a:latin typeface="맑은 고딕"/>
                        </a:rPr>
                        <a:t>판정</a:t>
                      </a:r>
                    </a:p>
                  </a:txBody>
                  <a:tcPr marL="64008" marR="64008" marT="18288" marB="18288" anchor="ctr">
                    <a:solidFill>
                      <a:srgbClr val="102A43"/>
                    </a:solidFill>
                  </a:tcPr>
                </a:tc>
              </a:tr>
              <a:tr h="288036">
                <a:tc>
                  <a:txBody>
                    <a:bodyPr/>
                    <a:lstStyle/>
                    <a:p>
                      <a:pPr algn="l"/>
                      <a:r>
                        <a:rPr sz="1100" b="0">
                          <a:solidFill>
                            <a:srgbClr val="242D38"/>
                          </a:solidFill>
                          <a:latin typeface="맑은 고딕"/>
                        </a:rPr>
                        <a:t>가솔린 프레스티지</a:t>
                      </a:r>
                    </a:p>
                  </a:txBody>
                  <a:tcPr marL="64008" marR="64008" marT="18288" marB="18288" anchor="ctr">
                    <a:solidFill>
                      <a:srgbClr val="E9F4EE"/>
                    </a:solidFill>
                  </a:tcPr>
                </a:tc>
                <a:tc>
                  <a:txBody>
                    <a:bodyPr/>
                    <a:lstStyle/>
                    <a:p>
                      <a:pPr algn="ctr"/>
                      <a:r>
                        <a:rPr sz="1100" b="0">
                          <a:solidFill>
                            <a:srgbClr val="242D38"/>
                          </a:solidFill>
                          <a:latin typeface="맑은 고딕"/>
                        </a:rPr>
                        <a:t>2,944만</a:t>
                      </a:r>
                    </a:p>
                  </a:txBody>
                  <a:tcPr marL="64008" marR="64008" marT="18288" marB="18288" anchor="ctr">
                    <a:solidFill>
                      <a:srgbClr val="E9F4EE"/>
                    </a:solidFill>
                  </a:tcPr>
                </a:tc>
                <a:tc>
                  <a:txBody>
                    <a:bodyPr/>
                    <a:lstStyle/>
                    <a:p>
                      <a:pPr algn="ctr"/>
                      <a:r>
                        <a:rPr sz="1100" b="0">
                          <a:solidFill>
                            <a:srgbClr val="242D38"/>
                          </a:solidFill>
                          <a:latin typeface="맑은 고딕"/>
                        </a:rPr>
                        <a:t>3,161만</a:t>
                      </a:r>
                    </a:p>
                  </a:txBody>
                  <a:tcPr marL="64008" marR="64008" marT="18288" marB="18288" anchor="ctr">
                    <a:solidFill>
                      <a:srgbClr val="E9F4EE"/>
                    </a:solidFill>
                  </a:tcPr>
                </a:tc>
                <a:tc>
                  <a:txBody>
                    <a:bodyPr/>
                    <a:lstStyle/>
                    <a:p>
                      <a:pPr algn="ctr"/>
                      <a:r>
                        <a:rPr sz="1100" b="0">
                          <a:solidFill>
                            <a:srgbClr val="242D38"/>
                          </a:solidFill>
                          <a:latin typeface="맑은 고딕"/>
                        </a:rPr>
                        <a:t>가능</a:t>
                      </a:r>
                    </a:p>
                  </a:txBody>
                  <a:tcPr marL="64008" marR="64008" marT="18288" marB="18288" anchor="ctr">
                    <a:solidFill>
                      <a:srgbClr val="E9F4EE"/>
                    </a:solidFill>
                  </a:tcPr>
                </a:tc>
              </a:tr>
              <a:tr h="288036">
                <a:tc>
                  <a:txBody>
                    <a:bodyPr/>
                    <a:lstStyle/>
                    <a:p>
                      <a:pPr algn="l"/>
                      <a:r>
                        <a:rPr sz="1100" b="0">
                          <a:solidFill>
                            <a:srgbClr val="242D38"/>
                          </a:solidFill>
                          <a:latin typeface="맑은 고딕"/>
                        </a:rPr>
                        <a:t>가솔린 노블레스</a:t>
                      </a:r>
                    </a:p>
                  </a:txBody>
                  <a:tcPr marL="64008" marR="64008" marT="18288" marB="18288" anchor="ctr">
                    <a:solidFill>
                      <a:srgbClr val="E9F4EE"/>
                    </a:solidFill>
                  </a:tcPr>
                </a:tc>
                <a:tc>
                  <a:txBody>
                    <a:bodyPr/>
                    <a:lstStyle/>
                    <a:p>
                      <a:pPr algn="ctr"/>
                      <a:r>
                        <a:rPr sz="1100" b="0">
                          <a:solidFill>
                            <a:srgbClr val="242D38"/>
                          </a:solidFill>
                          <a:latin typeface="맑은 고딕"/>
                        </a:rPr>
                        <a:t>3,322만</a:t>
                      </a:r>
                    </a:p>
                  </a:txBody>
                  <a:tcPr marL="64008" marR="64008" marT="18288" marB="18288" anchor="ctr">
                    <a:solidFill>
                      <a:srgbClr val="E9F4EE"/>
                    </a:solidFill>
                  </a:tcPr>
                </a:tc>
                <a:tc>
                  <a:txBody>
                    <a:bodyPr/>
                    <a:lstStyle/>
                    <a:p>
                      <a:pPr algn="ctr"/>
                      <a:r>
                        <a:rPr sz="1100" b="0">
                          <a:solidFill>
                            <a:srgbClr val="242D38"/>
                          </a:solidFill>
                          <a:latin typeface="맑은 고딕"/>
                        </a:rPr>
                        <a:t>3,563만</a:t>
                      </a:r>
                    </a:p>
                  </a:txBody>
                  <a:tcPr marL="64008" marR="64008" marT="18288" marB="18288" anchor="ctr">
                    <a:solidFill>
                      <a:srgbClr val="E9F4EE"/>
                    </a:solidFill>
                  </a:tcPr>
                </a:tc>
                <a:tc>
                  <a:txBody>
                    <a:bodyPr/>
                    <a:lstStyle/>
                    <a:p>
                      <a:pPr algn="ctr"/>
                      <a:r>
                        <a:rPr sz="1100" b="0">
                          <a:solidFill>
                            <a:srgbClr val="242D38"/>
                          </a:solidFill>
                          <a:latin typeface="맑은 고딕"/>
                        </a:rPr>
                        <a:t>가능</a:t>
                      </a:r>
                    </a:p>
                  </a:txBody>
                  <a:tcPr marL="64008" marR="64008" marT="18288" marB="18288" anchor="ctr">
                    <a:solidFill>
                      <a:srgbClr val="E9F4EE"/>
                    </a:solidFill>
                  </a:tcPr>
                </a:tc>
              </a:tr>
              <a:tr h="288036">
                <a:tc>
                  <a:txBody>
                    <a:bodyPr/>
                    <a:lstStyle/>
                    <a:p>
                      <a:pPr algn="l"/>
                      <a:r>
                        <a:rPr sz="1100" b="0">
                          <a:solidFill>
                            <a:srgbClr val="242D38"/>
                          </a:solidFill>
                          <a:latin typeface="맑은 고딕"/>
                        </a:rPr>
                        <a:t>가솔린 시그니처</a:t>
                      </a:r>
                    </a:p>
                  </a:txBody>
                  <a:tcPr marL="64008" marR="64008" marT="18288" marB="18288" anchor="ctr">
                    <a:solidFill>
                      <a:srgbClr val="FDECE8"/>
                    </a:solidFill>
                  </a:tcPr>
                </a:tc>
                <a:tc>
                  <a:txBody>
                    <a:bodyPr/>
                    <a:lstStyle/>
                    <a:p>
                      <a:pPr algn="ctr"/>
                      <a:r>
                        <a:rPr sz="1100" b="0">
                          <a:solidFill>
                            <a:srgbClr val="242D38"/>
                          </a:solidFill>
                          <a:latin typeface="맑은 고딕"/>
                        </a:rPr>
                        <a:t>3,557만</a:t>
                      </a:r>
                    </a:p>
                  </a:txBody>
                  <a:tcPr marL="64008" marR="64008" marT="18288" marB="18288" anchor="ctr">
                    <a:solidFill>
                      <a:srgbClr val="FDECE8"/>
                    </a:solidFill>
                  </a:tcPr>
                </a:tc>
                <a:tc>
                  <a:txBody>
                    <a:bodyPr/>
                    <a:lstStyle/>
                    <a:p>
                      <a:pPr algn="ctr"/>
                      <a:r>
                        <a:rPr sz="1100" b="0">
                          <a:solidFill>
                            <a:srgbClr val="242D38"/>
                          </a:solidFill>
                          <a:latin typeface="맑은 고딕"/>
                        </a:rPr>
                        <a:t>3,813만</a:t>
                      </a:r>
                    </a:p>
                  </a:txBody>
                  <a:tcPr marL="64008" marR="64008" marT="18288" marB="18288" anchor="ctr">
                    <a:solidFill>
                      <a:srgbClr val="FDECE8"/>
                    </a:solidFill>
                  </a:tcPr>
                </a:tc>
                <a:tc>
                  <a:txBody>
                    <a:bodyPr/>
                    <a:lstStyle/>
                    <a:p>
                      <a:pPr algn="ctr"/>
                      <a:r>
                        <a:rPr sz="1100" b="0">
                          <a:solidFill>
                            <a:srgbClr val="242D38"/>
                          </a:solidFill>
                          <a:latin typeface="맑은 고딕"/>
                        </a:rPr>
                        <a:t>초과</a:t>
                      </a:r>
                    </a:p>
                  </a:txBody>
                  <a:tcPr marL="64008" marR="64008" marT="18288" marB="18288" anchor="ctr">
                    <a:solidFill>
                      <a:srgbClr val="FDECE8"/>
                    </a:solidFill>
                  </a:tcPr>
                </a:tc>
              </a:tr>
              <a:tr h="288036">
                <a:tc>
                  <a:txBody>
                    <a:bodyPr/>
                    <a:lstStyle/>
                    <a:p>
                      <a:pPr algn="l"/>
                      <a:r>
                        <a:rPr sz="1100" b="0">
                          <a:solidFill>
                            <a:srgbClr val="242D38"/>
                          </a:solidFill>
                          <a:latin typeface="맑은 고딕"/>
                        </a:rPr>
                        <a:t>LPG 프레스티지</a:t>
                      </a:r>
                    </a:p>
                  </a:txBody>
                  <a:tcPr marL="64008" marR="64008" marT="18288" marB="18288" anchor="ctr">
                    <a:solidFill>
                      <a:srgbClr val="E9F4EE"/>
                    </a:solidFill>
                  </a:tcPr>
                </a:tc>
                <a:tc>
                  <a:txBody>
                    <a:bodyPr/>
                    <a:lstStyle/>
                    <a:p>
                      <a:pPr algn="ctr"/>
                      <a:r>
                        <a:rPr sz="1100" b="0">
                          <a:solidFill>
                            <a:srgbClr val="242D38"/>
                          </a:solidFill>
                          <a:latin typeface="맑은 고딕"/>
                        </a:rPr>
                        <a:t>3,009만</a:t>
                      </a:r>
                    </a:p>
                  </a:txBody>
                  <a:tcPr marL="64008" marR="64008" marT="18288" marB="18288" anchor="ctr">
                    <a:solidFill>
                      <a:srgbClr val="E9F4EE"/>
                    </a:solidFill>
                  </a:tcPr>
                </a:tc>
                <a:tc>
                  <a:txBody>
                    <a:bodyPr/>
                    <a:lstStyle/>
                    <a:p>
                      <a:pPr algn="ctr"/>
                      <a:r>
                        <a:rPr sz="1100" b="0">
                          <a:solidFill>
                            <a:srgbClr val="242D38"/>
                          </a:solidFill>
                          <a:latin typeface="맑은 고딕"/>
                        </a:rPr>
                        <a:t>3,230만</a:t>
                      </a:r>
                    </a:p>
                  </a:txBody>
                  <a:tcPr marL="64008" marR="64008" marT="18288" marB="18288" anchor="ctr">
                    <a:solidFill>
                      <a:srgbClr val="E9F4EE"/>
                    </a:solidFill>
                  </a:tcPr>
                </a:tc>
                <a:tc>
                  <a:txBody>
                    <a:bodyPr/>
                    <a:lstStyle/>
                    <a:p>
                      <a:pPr algn="ctr"/>
                      <a:r>
                        <a:rPr sz="1100" b="0">
                          <a:solidFill>
                            <a:srgbClr val="242D38"/>
                          </a:solidFill>
                          <a:latin typeface="맑은 고딕"/>
                        </a:rPr>
                        <a:t>가능</a:t>
                      </a:r>
                    </a:p>
                  </a:txBody>
                  <a:tcPr marL="64008" marR="64008" marT="18288" marB="18288" anchor="ctr">
                    <a:solidFill>
                      <a:srgbClr val="E9F4EE"/>
                    </a:solidFill>
                  </a:tcPr>
                </a:tc>
              </a:tr>
              <a:tr h="288036">
                <a:tc>
                  <a:txBody>
                    <a:bodyPr/>
                    <a:lstStyle/>
                    <a:p>
                      <a:pPr algn="l"/>
                      <a:r>
                        <a:rPr sz="1100" b="0">
                          <a:solidFill>
                            <a:srgbClr val="242D38"/>
                          </a:solidFill>
                          <a:latin typeface="맑은 고딕"/>
                        </a:rPr>
                        <a:t>HEV 프레스티지</a:t>
                      </a:r>
                    </a:p>
                  </a:txBody>
                  <a:tcPr marL="64008" marR="64008" marT="18288" marB="18288" anchor="ctr">
                    <a:solidFill>
                      <a:srgbClr val="E9F4EE"/>
                    </a:solidFill>
                  </a:tcPr>
                </a:tc>
                <a:tc>
                  <a:txBody>
                    <a:bodyPr/>
                    <a:lstStyle/>
                    <a:p>
                      <a:pPr algn="ctr"/>
                      <a:r>
                        <a:rPr sz="1100" b="0">
                          <a:solidFill>
                            <a:srgbClr val="242D38"/>
                          </a:solidFill>
                          <a:latin typeface="맑은 고딕"/>
                        </a:rPr>
                        <a:t>3,436만</a:t>
                      </a:r>
                    </a:p>
                  </a:txBody>
                  <a:tcPr marL="64008" marR="64008" marT="18288" marB="18288" anchor="ctr">
                    <a:solidFill>
                      <a:srgbClr val="E9F4EE"/>
                    </a:solidFill>
                  </a:tcPr>
                </a:tc>
                <a:tc>
                  <a:txBody>
                    <a:bodyPr/>
                    <a:lstStyle/>
                    <a:p>
                      <a:pPr algn="ctr"/>
                      <a:r>
                        <a:rPr sz="1100" b="0">
                          <a:solidFill>
                            <a:srgbClr val="242D38"/>
                          </a:solidFill>
                          <a:latin typeface="맑은 고딕"/>
                        </a:rPr>
                        <a:t>3,685만</a:t>
                      </a:r>
                    </a:p>
                  </a:txBody>
                  <a:tcPr marL="64008" marR="64008" marT="18288" marB="18288" anchor="ctr">
                    <a:solidFill>
                      <a:srgbClr val="E9F4EE"/>
                    </a:solidFill>
                  </a:tcPr>
                </a:tc>
                <a:tc>
                  <a:txBody>
                    <a:bodyPr/>
                    <a:lstStyle/>
                    <a:p>
                      <a:pPr algn="ctr"/>
                      <a:r>
                        <a:rPr sz="1100" b="0">
                          <a:solidFill>
                            <a:srgbClr val="242D38"/>
                          </a:solidFill>
                          <a:latin typeface="맑은 고딕"/>
                        </a:rPr>
                        <a:t>가능</a:t>
                      </a:r>
                    </a:p>
                  </a:txBody>
                  <a:tcPr marL="64008" marR="64008" marT="18288" marB="18288" anchor="ctr">
                    <a:solidFill>
                      <a:srgbClr val="E9F4EE"/>
                    </a:solidFill>
                  </a:tcPr>
                </a:tc>
              </a:tr>
              <a:tr h="288036">
                <a:tc>
                  <a:txBody>
                    <a:bodyPr/>
                    <a:lstStyle/>
                    <a:p>
                      <a:pPr algn="l"/>
                      <a:r>
                        <a:rPr sz="1100" b="0">
                          <a:solidFill>
                            <a:srgbClr val="242D38"/>
                          </a:solidFill>
                          <a:latin typeface="맑은 고딕"/>
                        </a:rPr>
                        <a:t>HEV 노블레스</a:t>
                      </a:r>
                    </a:p>
                  </a:txBody>
                  <a:tcPr marL="64008" marR="64008" marT="18288" marB="18288" anchor="ctr">
                    <a:solidFill>
                      <a:srgbClr val="FDECE8"/>
                    </a:solidFill>
                  </a:tcPr>
                </a:tc>
                <a:tc>
                  <a:txBody>
                    <a:bodyPr/>
                    <a:lstStyle/>
                    <a:p>
                      <a:pPr algn="ctr"/>
                      <a:r>
                        <a:rPr sz="1100" b="0">
                          <a:solidFill>
                            <a:srgbClr val="242D38"/>
                          </a:solidFill>
                          <a:latin typeface="맑은 고딕"/>
                        </a:rPr>
                        <a:t>3,803만</a:t>
                      </a:r>
                    </a:p>
                  </a:txBody>
                  <a:tcPr marL="64008" marR="64008" marT="18288" marB="18288" anchor="ctr">
                    <a:solidFill>
                      <a:srgbClr val="FDECE8"/>
                    </a:solidFill>
                  </a:tcPr>
                </a:tc>
                <a:tc>
                  <a:txBody>
                    <a:bodyPr/>
                    <a:lstStyle/>
                    <a:p>
                      <a:pPr algn="ctr"/>
                      <a:r>
                        <a:rPr sz="1100" b="0">
                          <a:solidFill>
                            <a:srgbClr val="242D38"/>
                          </a:solidFill>
                          <a:latin typeface="맑은 고딕"/>
                        </a:rPr>
                        <a:t>4,075만</a:t>
                      </a:r>
                    </a:p>
                  </a:txBody>
                  <a:tcPr marL="64008" marR="64008" marT="18288" marB="18288" anchor="ctr">
                    <a:solidFill>
                      <a:srgbClr val="FDECE8"/>
                    </a:solidFill>
                  </a:tcPr>
                </a:tc>
                <a:tc>
                  <a:txBody>
                    <a:bodyPr/>
                    <a:lstStyle/>
                    <a:p>
                      <a:pPr algn="ctr"/>
                      <a:r>
                        <a:rPr sz="1100" b="0">
                          <a:solidFill>
                            <a:srgbClr val="242D38"/>
                          </a:solidFill>
                          <a:latin typeface="맑은 고딕"/>
                        </a:rPr>
                        <a:t>초과</a:t>
                      </a:r>
                    </a:p>
                  </a:txBody>
                  <a:tcPr marL="64008" marR="64008" marT="18288" marB="18288" anchor="ctr">
                    <a:solidFill>
                      <a:srgbClr val="FDECE8"/>
                    </a:solidFill>
                  </a:tcPr>
                </a:tc>
              </a:tr>
            </a:tbl>
          </a:graphicData>
        </a:graphic>
      </p:graphicFrame>
      <p:sp>
        <p:nvSpPr>
          <p:cNvPr id="8" name="Rectangle 7"/>
          <p:cNvSpPr/>
          <p:nvPr/>
        </p:nvSpPr>
        <p:spPr>
          <a:xfrm>
            <a:off x="6053328" y="1627632"/>
            <a:ext cx="5422392" cy="228600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053328" y="1627632"/>
            <a:ext cx="45720" cy="2286000"/>
          </a:xfrm>
          <a:prstGeom prst="rect">
            <a:avLst/>
          </a:prstGeom>
          <a:solidFill>
            <a:srgbClr val="1B6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291072" y="1792224"/>
            <a:ext cx="5029200" cy="274320"/>
          </a:xfrm>
          <a:prstGeom prst="rect">
            <a:avLst/>
          </a:prstGeom>
          <a:noFill/>
        </p:spPr>
        <p:txBody>
          <a:bodyPr wrap="square" anchor="t" lIns="0" rIns="0" tIns="0" bIns="0">
            <a:spAutoFit/>
          </a:bodyPr>
          <a:lstStyle/>
          <a:p>
            <a:pPr algn="l">
              <a:lnSpc>
                <a:spcPct val="115000"/>
              </a:lnSpc>
              <a:spcAft>
                <a:spcPts val="400"/>
              </a:spcAft>
            </a:pPr>
            <a:r>
              <a:rPr sz="1250" b="1">
                <a:solidFill>
                  <a:srgbClr val="1B6CA8"/>
                </a:solidFill>
                <a:latin typeface="맑은 고딕"/>
              </a:rPr>
              <a:t>적용 가능한 주요 선택 옵션</a:t>
            </a:r>
          </a:p>
        </p:txBody>
      </p:sp>
      <p:sp>
        <p:nvSpPr>
          <p:cNvPr id="11" name="TextBox 10"/>
          <p:cNvSpPr txBox="1"/>
          <p:nvPr/>
        </p:nvSpPr>
        <p:spPr>
          <a:xfrm>
            <a:off x="6291072" y="2157984"/>
            <a:ext cx="5029200" cy="1691640"/>
          </a:xfrm>
          <a:prstGeom prst="rect">
            <a:avLst/>
          </a:prstGeom>
          <a:noFill/>
        </p:spPr>
        <p:txBody>
          <a:bodyPr wrap="square" anchor="t" lIns="0" rIns="0" tIns="0" bIns="0">
            <a:spAutoFit/>
          </a:bodyPr>
          <a:lstStyle/>
          <a:p>
            <a:pPr algn="l">
              <a:lnSpc>
                <a:spcPct val="142000"/>
              </a:lnSpc>
              <a:spcAft>
                <a:spcPts val="400"/>
              </a:spcAft>
            </a:pPr>
            <a:r>
              <a:rPr sz="1080" b="0">
                <a:solidFill>
                  <a:srgbClr val="242D38"/>
                </a:solidFill>
                <a:latin typeface="맑은 고딕"/>
              </a:rPr>
              <a:t>· 컴포트 Ⅰ(파워시트·통풍·하이패스)  104만  (프레스티지)</a:t>
            </a:r>
          </a:p>
          <a:p>
            <a:pPr algn="l">
              <a:lnSpc>
                <a:spcPct val="142000"/>
              </a:lnSpc>
              <a:spcAft>
                <a:spcPts val="400"/>
              </a:spcAft>
            </a:pPr>
            <a:r>
              <a:rPr sz="1080" b="0">
                <a:solidFill>
                  <a:srgbClr val="242D38"/>
                </a:solidFill>
                <a:latin typeface="맑은 고딕"/>
              </a:rPr>
              <a:t>· 스타일(LED 헤드램프·18인치)  69만 / 노블레스 89만</a:t>
            </a:r>
          </a:p>
          <a:p>
            <a:pPr algn="l">
              <a:lnSpc>
                <a:spcPct val="142000"/>
              </a:lnSpc>
              <a:spcAft>
                <a:spcPts val="400"/>
              </a:spcAft>
            </a:pPr>
            <a:r>
              <a:rPr sz="1080" b="0">
                <a:solidFill>
                  <a:srgbClr val="242D38"/>
                </a:solidFill>
                <a:latin typeface="맑은 고딕"/>
              </a:rPr>
              <a:t>· 드라이브 와이즈(HDA2)  91만  (노블레스 이상)</a:t>
            </a:r>
          </a:p>
          <a:p>
            <a:pPr algn="l">
              <a:lnSpc>
                <a:spcPct val="142000"/>
              </a:lnSpc>
              <a:spcAft>
                <a:spcPts val="400"/>
              </a:spcAft>
            </a:pPr>
            <a:r>
              <a:rPr sz="1080" b="0">
                <a:solidFill>
                  <a:srgbClr val="242D38"/>
                </a:solidFill>
                <a:latin typeface="맑은 고딕"/>
              </a:rPr>
              <a:t>· 파노라마 선루프  119만 (프레스티지) / 109만</a:t>
            </a:r>
          </a:p>
          <a:p>
            <a:pPr algn="l">
              <a:lnSpc>
                <a:spcPct val="142000"/>
              </a:lnSpc>
              <a:spcAft>
                <a:spcPts val="400"/>
              </a:spcAft>
            </a:pPr>
            <a:r>
              <a:rPr sz="1080" b="0">
                <a:solidFill>
                  <a:srgbClr val="242D38"/>
                </a:solidFill>
                <a:latin typeface="맑은 고딕"/>
              </a:rPr>
              <a:t>· 모니터링(서라운드뷰·원격주차)  114만  (노블레스 이상)</a:t>
            </a:r>
          </a:p>
          <a:p>
            <a:pPr algn="l">
              <a:lnSpc>
                <a:spcPct val="142000"/>
              </a:lnSpc>
              <a:spcAft>
                <a:spcPts val="400"/>
              </a:spcAft>
            </a:pPr>
            <a:r>
              <a:rPr sz="1080" b="0">
                <a:solidFill>
                  <a:srgbClr val="242D38"/>
                </a:solidFill>
                <a:latin typeface="맑은 고딕"/>
              </a:rPr>
              <a:t>· 컴포트 Ⅱ(2열 열선·디지털키2)  59만  (노블레스)</a:t>
            </a:r>
          </a:p>
          <a:p>
            <a:pPr algn="l">
              <a:lnSpc>
                <a:spcPct val="142000"/>
              </a:lnSpc>
              <a:spcAft>
                <a:spcPts val="400"/>
              </a:spcAft>
            </a:pPr>
            <a:r>
              <a:rPr sz="1080" b="0">
                <a:solidFill>
                  <a:srgbClr val="242D38"/>
                </a:solidFill>
                <a:latin typeface="맑은 고딕"/>
              </a:rPr>
              <a:t>· KRELL 사운드  59만 / HUD  59만 / 빌트인 캠2  45만</a:t>
            </a:r>
          </a:p>
          <a:p>
            <a:pPr algn="l">
              <a:lnSpc>
                <a:spcPct val="142000"/>
              </a:lnSpc>
              <a:spcAft>
                <a:spcPts val="400"/>
              </a:spcAft>
            </a:pPr>
            <a:r>
              <a:rPr sz="1080" b="0">
                <a:solidFill>
                  <a:srgbClr val="242D38"/>
                </a:solidFill>
                <a:latin typeface="맑은 고딕"/>
              </a:rPr>
              <a:t>· 전자식 4WD  223만</a:t>
            </a:r>
          </a:p>
        </p:txBody>
      </p:sp>
      <p:sp>
        <p:nvSpPr>
          <p:cNvPr id="12" name="Rectangle 11"/>
          <p:cNvSpPr/>
          <p:nvPr/>
        </p:nvSpPr>
        <p:spPr>
          <a:xfrm>
            <a:off x="6053328" y="4023360"/>
            <a:ext cx="5422392" cy="2176272"/>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291072" y="4160520"/>
            <a:ext cx="5029200" cy="274320"/>
          </a:xfrm>
          <a:prstGeom prst="rect">
            <a:avLst/>
          </a:prstGeom>
          <a:noFill/>
        </p:spPr>
        <p:txBody>
          <a:bodyPr wrap="square" anchor="t" lIns="0" rIns="0" tIns="0" bIns="0">
            <a:spAutoFit/>
          </a:bodyPr>
          <a:lstStyle/>
          <a:p>
            <a:pPr algn="l">
              <a:lnSpc>
                <a:spcPct val="115000"/>
              </a:lnSpc>
              <a:spcAft>
                <a:spcPts val="400"/>
              </a:spcAft>
            </a:pPr>
            <a:r>
              <a:rPr sz="1250" b="1">
                <a:solidFill>
                  <a:srgbClr val="F0A870"/>
                </a:solidFill>
                <a:latin typeface="맑은 고딕"/>
              </a:rPr>
              <a:t>예산 내 추천 조합</a:t>
            </a:r>
          </a:p>
        </p:txBody>
      </p:sp>
      <p:sp>
        <p:nvSpPr>
          <p:cNvPr id="14" name="TextBox 13"/>
          <p:cNvSpPr txBox="1"/>
          <p:nvPr/>
        </p:nvSpPr>
        <p:spPr>
          <a:xfrm>
            <a:off x="6291072" y="4517136"/>
            <a:ext cx="5029200" cy="1627632"/>
          </a:xfrm>
          <a:prstGeom prst="rect">
            <a:avLst/>
          </a:prstGeom>
          <a:noFill/>
        </p:spPr>
        <p:txBody>
          <a:bodyPr wrap="square" anchor="t" lIns="0" rIns="0" tIns="0" bIns="0">
            <a:spAutoFit/>
          </a:bodyPr>
          <a:lstStyle/>
          <a:p>
            <a:pPr algn="l">
              <a:lnSpc>
                <a:spcPct val="138000"/>
              </a:lnSpc>
              <a:spcAft>
                <a:spcPts val="0"/>
              </a:spcAft>
            </a:pPr>
            <a:r>
              <a:rPr sz="1050" b="0">
                <a:solidFill>
                  <a:srgbClr val="FFFFFF"/>
                </a:solidFill>
                <a:latin typeface="맑은 고딕"/>
              </a:rPr>
              <a:t>■ 옵션 우선 — 가솔린 프레스티지 + 컴포트Ⅰ</a:t>
            </a:r>
          </a:p>
          <a:p>
            <a:pPr algn="l">
              <a:lnSpc>
                <a:spcPct val="138000"/>
              </a:lnSpc>
              <a:spcAft>
                <a:spcPts val="0"/>
              </a:spcAft>
            </a:pPr>
            <a:r>
              <a:rPr sz="1050" b="0">
                <a:solidFill>
                  <a:srgbClr val="FFFFFF"/>
                </a:solidFill>
                <a:latin typeface="맑은 고딕"/>
              </a:rPr>
              <a:t>   + 스타일 + 파노라마 선루프 + 빌트인캠2</a:t>
            </a:r>
          </a:p>
          <a:p>
            <a:pPr algn="l">
              <a:lnSpc>
                <a:spcPct val="138000"/>
              </a:lnSpc>
              <a:spcAft>
                <a:spcPts val="0"/>
              </a:spcAft>
            </a:pPr>
            <a:r>
              <a:rPr sz="1050" b="0">
                <a:solidFill>
                  <a:srgbClr val="FFFFFF"/>
                </a:solidFill>
                <a:latin typeface="맑은 고딕"/>
              </a:rPr>
              <a:t>   2,944 + 104 + 69 + 119 + 45 = 3,281만</a:t>
            </a:r>
          </a:p>
          <a:p>
            <a:pPr algn="l">
              <a:lnSpc>
                <a:spcPct val="138000"/>
              </a:lnSpc>
              <a:spcAft>
                <a:spcPts val="0"/>
              </a:spcAft>
            </a:pPr>
            <a:r>
              <a:rPr sz="1050" b="0">
                <a:solidFill>
                  <a:srgbClr val="FFFFFF"/>
                </a:solidFill>
                <a:latin typeface="맑은 고딕"/>
              </a:rPr>
              <a:t>   → 실구매 3,520만</a:t>
            </a:r>
          </a:p>
          <a:p>
            <a:pPr algn="l">
              <a:lnSpc>
                <a:spcPct val="138000"/>
              </a:lnSpc>
              <a:spcAft>
                <a:spcPts val="0"/>
              </a:spcAft>
            </a:pPr>
            <a:r>
              <a:rPr sz="1050" b="0">
                <a:solidFill>
                  <a:srgbClr val="FFFFFF"/>
                </a:solidFill>
                <a:latin typeface="맑은 고딕"/>
              </a:rPr>
              <a:t>■ 트림 우선 — 가솔린 노블레스 + 컴포트Ⅱ + 빌트인캠2</a:t>
            </a:r>
          </a:p>
          <a:p>
            <a:pPr algn="l">
              <a:lnSpc>
                <a:spcPct val="138000"/>
              </a:lnSpc>
              <a:spcAft>
                <a:spcPts val="0"/>
              </a:spcAft>
            </a:pPr>
            <a:r>
              <a:rPr sz="1050" b="0">
                <a:solidFill>
                  <a:srgbClr val="FFFFFF"/>
                </a:solidFill>
                <a:latin typeface="맑은 고딕"/>
              </a:rPr>
              <a:t>   3,322 + 59 + 45 = 3,426만 → 실구매 3,674만</a:t>
            </a:r>
          </a:p>
          <a:p>
            <a:pPr algn="l">
              <a:lnSpc>
                <a:spcPct val="138000"/>
              </a:lnSpc>
              <a:spcAft>
                <a:spcPts val="0"/>
              </a:spcAft>
            </a:pPr>
            <a:r>
              <a:rPr sz="1050" b="0">
                <a:solidFill>
                  <a:srgbClr val="FFFFFF"/>
                </a:solidFill>
                <a:latin typeface="맑은 고딕"/>
              </a:rPr>
              <a:t/>
            </a:r>
          </a:p>
          <a:p>
            <a:pPr algn="l">
              <a:lnSpc>
                <a:spcPct val="138000"/>
              </a:lnSpc>
              <a:spcAft>
                <a:spcPts val="0"/>
              </a:spcAft>
            </a:pPr>
            <a:r>
              <a:rPr sz="1050" b="0">
                <a:solidFill>
                  <a:srgbClr val="FFFFFF"/>
                </a:solidFill>
                <a:latin typeface="맑은 고딕"/>
              </a:rPr>
              <a:t>■ 하이브리드 — HEV 프레스티지 (옵션 불가)</a:t>
            </a:r>
          </a:p>
          <a:p>
            <a:pPr algn="l">
              <a:lnSpc>
                <a:spcPct val="138000"/>
              </a:lnSpc>
              <a:spcAft>
                <a:spcPts val="0"/>
              </a:spcAft>
            </a:pPr>
            <a:r>
              <a:rPr sz="1050" b="0">
                <a:solidFill>
                  <a:srgbClr val="FFFFFF"/>
                </a:solidFill>
                <a:latin typeface="맑은 고딕"/>
              </a:rPr>
              <a:t>   3,436만 → 실구매 3,685만  · 여유 15만</a:t>
            </a:r>
          </a:p>
        </p:txBody>
      </p:sp>
      <p:sp>
        <p:nvSpPr>
          <p:cNvPr id="15" name="TextBox 14"/>
          <p:cNvSpPr txBox="1"/>
          <p:nvPr/>
        </p:nvSpPr>
        <p:spPr>
          <a:xfrm>
            <a:off x="713232" y="6327648"/>
            <a:ext cx="10881360" cy="365760"/>
          </a:xfrm>
          <a:prstGeom prst="rect">
            <a:avLst/>
          </a:prstGeom>
          <a:noFill/>
        </p:spPr>
        <p:txBody>
          <a:bodyPr wrap="square" anchor="t" lIns="0" rIns="0" tIns="0" bIns="0">
            <a:spAutoFit/>
          </a:bodyPr>
          <a:lstStyle/>
          <a:p>
            <a:pPr algn="l">
              <a:lnSpc>
                <a:spcPct val="120000"/>
              </a:lnSpc>
              <a:spcAft>
                <a:spcPts val="400"/>
              </a:spcAft>
            </a:pPr>
            <a:r>
              <a:rPr sz="950" b="0">
                <a:solidFill>
                  <a:srgbClr val="6E7884"/>
                </a:solidFill>
                <a:latin typeface="맑은 고딕"/>
              </a:rPr>
              <a:t>가솔린 12.3km/ℓ(17인치), 하이브리드 16.3km/ℓ. 프레스티지도 고속도로 주행보조·12.3인치 내비가 기본이라 옵션을 얹는 편이 노블레스 깡통보다 낫다. 출처: 기아 공식 가격표(스포티지, 2026.08 / 2027년형).</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02920" y="274320"/>
            <a:ext cx="50292" cy="384048"/>
          </a:xfrm>
          <a:prstGeom prst="rect">
            <a:avLst/>
          </a:prstGeom>
          <a:solidFill>
            <a:srgbClr val="E26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13232" y="219456"/>
            <a:ext cx="8778240" cy="457200"/>
          </a:xfrm>
          <a:prstGeom prst="rect">
            <a:avLst/>
          </a:prstGeom>
          <a:noFill/>
        </p:spPr>
        <p:txBody>
          <a:bodyPr wrap="square" anchor="t" lIns="0" rIns="0" tIns="0" bIns="0">
            <a:spAutoFit/>
          </a:bodyPr>
          <a:lstStyle/>
          <a:p>
            <a:pPr algn="l">
              <a:lnSpc>
                <a:spcPct val="115000"/>
              </a:lnSpc>
              <a:spcAft>
                <a:spcPts val="400"/>
              </a:spcAft>
            </a:pPr>
            <a:r>
              <a:rPr sz="2300" b="1">
                <a:solidFill>
                  <a:srgbClr val="FFFFFF"/>
                </a:solidFill>
                <a:latin typeface="맑은 고딕"/>
              </a:rPr>
              <a:t>추천 조합 3안</a:t>
            </a:r>
          </a:p>
        </p:txBody>
      </p:sp>
      <p:sp>
        <p:nvSpPr>
          <p:cNvPr id="5" name="TextBox 4"/>
          <p:cNvSpPr txBox="1"/>
          <p:nvPr/>
        </p:nvSpPr>
        <p:spPr>
          <a:xfrm>
            <a:off x="9509760" y="329184"/>
            <a:ext cx="2194560" cy="365760"/>
          </a:xfrm>
          <a:prstGeom prst="rect">
            <a:avLst/>
          </a:prstGeom>
          <a:noFill/>
        </p:spPr>
        <p:txBody>
          <a:bodyPr wrap="square" anchor="t" lIns="0" rIns="0" tIns="0" bIns="0">
            <a:spAutoFit/>
          </a:bodyPr>
          <a:lstStyle/>
          <a:p>
            <a:pPr algn="r">
              <a:lnSpc>
                <a:spcPct val="115000"/>
              </a:lnSpc>
              <a:spcAft>
                <a:spcPts val="400"/>
              </a:spcAft>
            </a:pPr>
            <a:r>
              <a:rPr sz="1100" b="0">
                <a:solidFill>
                  <a:srgbClr val="A9BED2"/>
                </a:solidFill>
                <a:latin typeface="맑은 고딕"/>
              </a:rPr>
              <a:t>10 / 추천</a:t>
            </a:r>
          </a:p>
        </p:txBody>
      </p:sp>
      <p:sp>
        <p:nvSpPr>
          <p:cNvPr id="6" name="TextBox 5"/>
          <p:cNvSpPr txBox="1"/>
          <p:nvPr/>
        </p:nvSpPr>
        <p:spPr>
          <a:xfrm>
            <a:off x="713232" y="1060704"/>
            <a:ext cx="10881360" cy="310896"/>
          </a:xfrm>
          <a:prstGeom prst="rect">
            <a:avLst/>
          </a:prstGeom>
          <a:noFill/>
        </p:spPr>
        <p:txBody>
          <a:bodyPr wrap="square" anchor="t" lIns="0" rIns="0" tIns="0" bIns="0">
            <a:spAutoFit/>
          </a:bodyPr>
          <a:lstStyle/>
          <a:p>
            <a:pPr algn="l">
              <a:lnSpc>
                <a:spcPct val="115000"/>
              </a:lnSpc>
              <a:spcAft>
                <a:spcPts val="400"/>
              </a:spcAft>
            </a:pPr>
            <a:r>
              <a:rPr sz="1250" b="0">
                <a:solidFill>
                  <a:srgbClr val="6E7884"/>
                </a:solidFill>
                <a:latin typeface="맑은 고딕"/>
              </a:rPr>
              <a:t>'무엇을 우선하느냐'에 따라 답이 갈린다. 세 가지 시나리오로 정리했다.</a:t>
            </a:r>
          </a:p>
        </p:txBody>
      </p:sp>
      <p:sp>
        <p:nvSpPr>
          <p:cNvPr id="7" name="Rectangle 6"/>
          <p:cNvSpPr/>
          <p:nvPr/>
        </p:nvSpPr>
        <p:spPr>
          <a:xfrm>
            <a:off x="713232" y="1600200"/>
            <a:ext cx="3429000" cy="4434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13232" y="1600200"/>
            <a:ext cx="3429000" cy="457200"/>
          </a:xfrm>
          <a:prstGeom prst="rect">
            <a:avLst/>
          </a:prstGeom>
          <a:solidFill>
            <a:srgbClr val="1B6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14400" y="1709928"/>
            <a:ext cx="3063240" cy="274320"/>
          </a:xfrm>
          <a:prstGeom prst="rect">
            <a:avLst/>
          </a:prstGeom>
          <a:noFill/>
        </p:spPr>
        <p:txBody>
          <a:bodyPr wrap="square" anchor="t" lIns="0" rIns="0" tIns="0" bIns="0">
            <a:spAutoFit/>
          </a:bodyPr>
          <a:lstStyle/>
          <a:p>
            <a:pPr algn="l">
              <a:lnSpc>
                <a:spcPct val="115000"/>
              </a:lnSpc>
              <a:spcAft>
                <a:spcPts val="400"/>
              </a:spcAft>
            </a:pPr>
            <a:r>
              <a:rPr sz="1300" b="1">
                <a:solidFill>
                  <a:srgbClr val="FFFFFF"/>
                </a:solidFill>
                <a:latin typeface="맑은 고딕"/>
              </a:rPr>
              <a:t>① 연비·유지비 우선</a:t>
            </a:r>
          </a:p>
        </p:txBody>
      </p:sp>
      <p:sp>
        <p:nvSpPr>
          <p:cNvPr id="10" name="TextBox 9"/>
          <p:cNvSpPr txBox="1"/>
          <p:nvPr/>
        </p:nvSpPr>
        <p:spPr>
          <a:xfrm>
            <a:off x="914400" y="2240280"/>
            <a:ext cx="3063240" cy="548640"/>
          </a:xfrm>
          <a:prstGeom prst="rect">
            <a:avLst/>
          </a:prstGeom>
          <a:noFill/>
        </p:spPr>
        <p:txBody>
          <a:bodyPr wrap="square" anchor="t" lIns="0" rIns="0" tIns="0" bIns="0">
            <a:spAutoFit/>
          </a:bodyPr>
          <a:lstStyle/>
          <a:p>
            <a:pPr algn="l">
              <a:lnSpc>
                <a:spcPct val="125000"/>
              </a:lnSpc>
              <a:spcAft>
                <a:spcPts val="400"/>
              </a:spcAft>
            </a:pPr>
            <a:r>
              <a:rPr sz="1550" b="1">
                <a:solidFill>
                  <a:srgbClr val="102A43"/>
                </a:solidFill>
                <a:latin typeface="맑은 고딕"/>
              </a:rPr>
              <a:t>현대 코나 하이브리드 H-Pick</a:t>
            </a:r>
          </a:p>
        </p:txBody>
      </p:sp>
      <p:sp>
        <p:nvSpPr>
          <p:cNvPr id="11" name="TextBox 10"/>
          <p:cNvSpPr txBox="1"/>
          <p:nvPr/>
        </p:nvSpPr>
        <p:spPr>
          <a:xfrm>
            <a:off x="914400" y="2907792"/>
            <a:ext cx="3063240" cy="274320"/>
          </a:xfrm>
          <a:prstGeom prst="rect">
            <a:avLst/>
          </a:prstGeom>
          <a:noFill/>
        </p:spPr>
        <p:txBody>
          <a:bodyPr wrap="square" anchor="t" lIns="0" rIns="0" tIns="0" bIns="0">
            <a:spAutoFit/>
          </a:bodyPr>
          <a:lstStyle/>
          <a:p>
            <a:pPr algn="l">
              <a:lnSpc>
                <a:spcPct val="115000"/>
              </a:lnSpc>
              <a:spcAft>
                <a:spcPts val="400"/>
              </a:spcAft>
            </a:pPr>
            <a:r>
              <a:rPr sz="1050" b="1">
                <a:solidFill>
                  <a:srgbClr val="1B6CA8"/>
                </a:solidFill>
                <a:latin typeface="맑은 고딕"/>
              </a:rPr>
              <a:t>복합연비 19.8km/ℓ · 1등급</a:t>
            </a:r>
          </a:p>
        </p:txBody>
      </p:sp>
      <p:sp>
        <p:nvSpPr>
          <p:cNvPr id="12" name="TextBox 11"/>
          <p:cNvSpPr txBox="1"/>
          <p:nvPr/>
        </p:nvSpPr>
        <p:spPr>
          <a:xfrm>
            <a:off x="914400" y="3273552"/>
            <a:ext cx="3063240" cy="914400"/>
          </a:xfrm>
          <a:prstGeom prst="rect">
            <a:avLst/>
          </a:prstGeom>
          <a:noFill/>
        </p:spPr>
        <p:txBody>
          <a:bodyPr wrap="square" anchor="t" lIns="0" rIns="0" tIns="0" bIns="0">
            <a:spAutoFit/>
          </a:bodyPr>
          <a:lstStyle/>
          <a:p>
            <a:pPr algn="l">
              <a:lnSpc>
                <a:spcPct val="145000"/>
              </a:lnSpc>
              <a:spcAft>
                <a:spcPts val="400"/>
              </a:spcAft>
            </a:pPr>
            <a:r>
              <a:rPr sz="1080" b="0">
                <a:solidFill>
                  <a:srgbClr val="242D38"/>
                </a:solidFill>
                <a:latin typeface="맑은 고딕"/>
              </a:rPr>
              <a:t>· 베스트 셀렉션 79만</a:t>
            </a:r>
          </a:p>
          <a:p>
            <a:pPr algn="l">
              <a:lnSpc>
                <a:spcPct val="145000"/>
              </a:lnSpc>
              <a:spcAft>
                <a:spcPts val="400"/>
              </a:spcAft>
            </a:pPr>
            <a:r>
              <a:rPr sz="1080" b="0">
                <a:solidFill>
                  <a:srgbClr val="242D38"/>
                </a:solidFill>
                <a:latin typeface="맑은 고딕"/>
              </a:rPr>
              <a:t>· 파킹어시스트 99만</a:t>
            </a:r>
          </a:p>
          <a:p>
            <a:pPr algn="l">
              <a:lnSpc>
                <a:spcPct val="145000"/>
              </a:lnSpc>
              <a:spcAft>
                <a:spcPts val="400"/>
              </a:spcAft>
            </a:pPr>
            <a:r>
              <a:rPr sz="1080" b="0">
                <a:solidFill>
                  <a:srgbClr val="242D38"/>
                </a:solidFill>
                <a:latin typeface="맑은 고딕"/>
              </a:rPr>
              <a:t>· 빌트인 캠2 45만</a:t>
            </a:r>
          </a:p>
          <a:p>
            <a:pPr algn="l">
              <a:lnSpc>
                <a:spcPct val="145000"/>
              </a:lnSpc>
              <a:spcAft>
                <a:spcPts val="400"/>
              </a:spcAft>
            </a:pPr>
            <a:r>
              <a:rPr sz="1080" b="0">
                <a:solidFill>
                  <a:srgbClr val="242D38"/>
                </a:solidFill>
                <a:latin typeface="맑은 고딕"/>
              </a:rPr>
              <a:t>· 컨비니언스 40만</a:t>
            </a:r>
          </a:p>
        </p:txBody>
      </p:sp>
      <p:sp>
        <p:nvSpPr>
          <p:cNvPr id="13" name="Rectangle 12"/>
          <p:cNvSpPr/>
          <p:nvPr/>
        </p:nvSpPr>
        <p:spPr>
          <a:xfrm>
            <a:off x="914400" y="4315968"/>
            <a:ext cx="3026664"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42416" y="4434840"/>
            <a:ext cx="2788920" cy="256032"/>
          </a:xfrm>
          <a:prstGeom prst="rect">
            <a:avLst/>
          </a:prstGeom>
          <a:noFill/>
        </p:spPr>
        <p:txBody>
          <a:bodyPr wrap="square" anchor="t" lIns="0" rIns="0" tIns="0" bIns="0">
            <a:spAutoFit/>
          </a:bodyPr>
          <a:lstStyle/>
          <a:p>
            <a:pPr algn="l">
              <a:lnSpc>
                <a:spcPct val="115000"/>
              </a:lnSpc>
              <a:spcAft>
                <a:spcPts val="400"/>
              </a:spcAft>
            </a:pPr>
            <a:r>
              <a:rPr sz="1000" b="0">
                <a:solidFill>
                  <a:srgbClr val="6E7884"/>
                </a:solidFill>
                <a:latin typeface="맑은 고딕"/>
              </a:rPr>
              <a:t>차량가 3,383만 → 실구매</a:t>
            </a:r>
          </a:p>
        </p:txBody>
      </p:sp>
      <p:sp>
        <p:nvSpPr>
          <p:cNvPr id="15" name="TextBox 14"/>
          <p:cNvSpPr txBox="1"/>
          <p:nvPr/>
        </p:nvSpPr>
        <p:spPr>
          <a:xfrm>
            <a:off x="1042416" y="4690872"/>
            <a:ext cx="2788920" cy="365760"/>
          </a:xfrm>
          <a:prstGeom prst="rect">
            <a:avLst/>
          </a:prstGeom>
          <a:noFill/>
        </p:spPr>
        <p:txBody>
          <a:bodyPr wrap="square" anchor="t" lIns="0" rIns="0" tIns="0" bIns="0">
            <a:spAutoFit/>
          </a:bodyPr>
          <a:lstStyle/>
          <a:p>
            <a:pPr algn="l">
              <a:lnSpc>
                <a:spcPct val="115000"/>
              </a:lnSpc>
              <a:spcAft>
                <a:spcPts val="400"/>
              </a:spcAft>
            </a:pPr>
            <a:r>
              <a:rPr sz="1400" b="1">
                <a:solidFill>
                  <a:srgbClr val="102A43"/>
                </a:solidFill>
                <a:latin typeface="맑은 고딕"/>
              </a:rPr>
              <a:t>3,628만  (여유 72만)</a:t>
            </a:r>
          </a:p>
        </p:txBody>
      </p:sp>
      <p:sp>
        <p:nvSpPr>
          <p:cNvPr id="16" name="TextBox 15"/>
          <p:cNvSpPr txBox="1"/>
          <p:nvPr/>
        </p:nvSpPr>
        <p:spPr>
          <a:xfrm>
            <a:off x="914400" y="5285232"/>
            <a:ext cx="3063240" cy="731520"/>
          </a:xfrm>
          <a:prstGeom prst="rect">
            <a:avLst/>
          </a:prstGeom>
          <a:noFill/>
        </p:spPr>
        <p:txBody>
          <a:bodyPr wrap="square" anchor="t" lIns="0" rIns="0" tIns="0" bIns="0">
            <a:spAutoFit/>
          </a:bodyPr>
          <a:lstStyle/>
          <a:p>
            <a:pPr algn="l">
              <a:lnSpc>
                <a:spcPct val="140000"/>
              </a:lnSpc>
              <a:spcAft>
                <a:spcPts val="400"/>
              </a:spcAft>
            </a:pPr>
            <a:r>
              <a:rPr sz="1030" b="0">
                <a:solidFill>
                  <a:srgbClr val="6E7884"/>
                </a:solidFill>
                <a:latin typeface="맑은 고딕"/>
              </a:rPr>
              <a:t>5종 통틀어 연비 1위. 예산 안에서 HDA·서라운드뷰까지 챙길 수 있는 유일한 하이브리드 조합.</a:t>
            </a:r>
          </a:p>
        </p:txBody>
      </p:sp>
      <p:sp>
        <p:nvSpPr>
          <p:cNvPr id="17" name="Rectangle 16"/>
          <p:cNvSpPr/>
          <p:nvPr/>
        </p:nvSpPr>
        <p:spPr>
          <a:xfrm>
            <a:off x="4379976" y="1600200"/>
            <a:ext cx="3429000" cy="4434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379976" y="1600200"/>
            <a:ext cx="3429000" cy="457200"/>
          </a:xfrm>
          <a:prstGeom prst="rect">
            <a:avLst/>
          </a:prstGeom>
          <a:solidFill>
            <a:srgbClr val="1E7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581144" y="1709928"/>
            <a:ext cx="3063240" cy="274320"/>
          </a:xfrm>
          <a:prstGeom prst="rect">
            <a:avLst/>
          </a:prstGeom>
          <a:noFill/>
        </p:spPr>
        <p:txBody>
          <a:bodyPr wrap="square" anchor="t" lIns="0" rIns="0" tIns="0" bIns="0">
            <a:spAutoFit/>
          </a:bodyPr>
          <a:lstStyle/>
          <a:p>
            <a:pPr algn="l">
              <a:lnSpc>
                <a:spcPct val="115000"/>
              </a:lnSpc>
              <a:spcAft>
                <a:spcPts val="400"/>
              </a:spcAft>
            </a:pPr>
            <a:r>
              <a:rPr sz="1300" b="1">
                <a:solidFill>
                  <a:srgbClr val="FFFFFF"/>
                </a:solidFill>
                <a:latin typeface="맑은 고딕"/>
              </a:rPr>
              <a:t>② 공간·차급 우선</a:t>
            </a:r>
          </a:p>
        </p:txBody>
      </p:sp>
      <p:sp>
        <p:nvSpPr>
          <p:cNvPr id="20" name="TextBox 19"/>
          <p:cNvSpPr txBox="1"/>
          <p:nvPr/>
        </p:nvSpPr>
        <p:spPr>
          <a:xfrm>
            <a:off x="4581144" y="2240280"/>
            <a:ext cx="3063240" cy="548640"/>
          </a:xfrm>
          <a:prstGeom prst="rect">
            <a:avLst/>
          </a:prstGeom>
          <a:noFill/>
        </p:spPr>
        <p:txBody>
          <a:bodyPr wrap="square" anchor="t" lIns="0" rIns="0" tIns="0" bIns="0">
            <a:spAutoFit/>
          </a:bodyPr>
          <a:lstStyle/>
          <a:p>
            <a:pPr algn="l">
              <a:lnSpc>
                <a:spcPct val="125000"/>
              </a:lnSpc>
              <a:spcAft>
                <a:spcPts val="400"/>
              </a:spcAft>
            </a:pPr>
            <a:r>
              <a:rPr sz="1550" b="1">
                <a:solidFill>
                  <a:srgbClr val="102A43"/>
                </a:solidFill>
                <a:latin typeface="맑은 고딕"/>
              </a:rPr>
              <a:t>현대 투싼 가솔린 H-Pick</a:t>
            </a:r>
          </a:p>
        </p:txBody>
      </p:sp>
      <p:sp>
        <p:nvSpPr>
          <p:cNvPr id="21" name="TextBox 20"/>
          <p:cNvSpPr txBox="1"/>
          <p:nvPr/>
        </p:nvSpPr>
        <p:spPr>
          <a:xfrm>
            <a:off x="4581144" y="2907792"/>
            <a:ext cx="3063240" cy="274320"/>
          </a:xfrm>
          <a:prstGeom prst="rect">
            <a:avLst/>
          </a:prstGeom>
          <a:noFill/>
        </p:spPr>
        <p:txBody>
          <a:bodyPr wrap="square" anchor="t" lIns="0" rIns="0" tIns="0" bIns="0">
            <a:spAutoFit/>
          </a:bodyPr>
          <a:lstStyle/>
          <a:p>
            <a:pPr algn="l">
              <a:lnSpc>
                <a:spcPct val="115000"/>
              </a:lnSpc>
              <a:spcAft>
                <a:spcPts val="400"/>
              </a:spcAft>
            </a:pPr>
            <a:r>
              <a:rPr sz="1050" b="1">
                <a:solidFill>
                  <a:srgbClr val="1E7A4F"/>
                </a:solidFill>
                <a:latin typeface="맑은 고딕"/>
              </a:rPr>
              <a:t>복합연비 12.5km/ℓ · 준중형</a:t>
            </a:r>
          </a:p>
        </p:txBody>
      </p:sp>
      <p:sp>
        <p:nvSpPr>
          <p:cNvPr id="22" name="TextBox 21"/>
          <p:cNvSpPr txBox="1"/>
          <p:nvPr/>
        </p:nvSpPr>
        <p:spPr>
          <a:xfrm>
            <a:off x="4581144" y="3273552"/>
            <a:ext cx="3063240" cy="914400"/>
          </a:xfrm>
          <a:prstGeom prst="rect">
            <a:avLst/>
          </a:prstGeom>
          <a:noFill/>
        </p:spPr>
        <p:txBody>
          <a:bodyPr wrap="square" anchor="t" lIns="0" rIns="0" tIns="0" bIns="0">
            <a:spAutoFit/>
          </a:bodyPr>
          <a:lstStyle/>
          <a:p>
            <a:pPr algn="l">
              <a:lnSpc>
                <a:spcPct val="145000"/>
              </a:lnSpc>
              <a:spcAft>
                <a:spcPts val="400"/>
              </a:spcAft>
            </a:pPr>
            <a:r>
              <a:rPr sz="1080" b="0">
                <a:solidFill>
                  <a:srgbClr val="242D38"/>
                </a:solidFill>
                <a:latin typeface="맑은 고딕"/>
              </a:rPr>
              <a:t>· 파노라마 선루프 109만</a:t>
            </a:r>
          </a:p>
          <a:p>
            <a:pPr algn="l">
              <a:lnSpc>
                <a:spcPct val="145000"/>
              </a:lnSpc>
              <a:spcAft>
                <a:spcPts val="400"/>
              </a:spcAft>
            </a:pPr>
            <a:r>
              <a:rPr sz="1080" b="0">
                <a:solidFill>
                  <a:srgbClr val="242D38"/>
                </a:solidFill>
                <a:latin typeface="맑은 고딕"/>
              </a:rPr>
              <a:t>· 빌트인 캠2 45만</a:t>
            </a:r>
          </a:p>
          <a:p>
            <a:pPr algn="l">
              <a:lnSpc>
                <a:spcPct val="145000"/>
              </a:lnSpc>
              <a:spcAft>
                <a:spcPts val="400"/>
              </a:spcAft>
            </a:pPr>
            <a:r>
              <a:rPr sz="1080" b="0">
                <a:solidFill>
                  <a:srgbClr val="242D38"/>
                </a:solidFill>
                <a:latin typeface="맑은 고딕"/>
              </a:rPr>
              <a:t>· (HDA·양문 전동시트·2열 열선 기본)</a:t>
            </a:r>
          </a:p>
        </p:txBody>
      </p:sp>
      <p:sp>
        <p:nvSpPr>
          <p:cNvPr id="23" name="Rectangle 22"/>
          <p:cNvSpPr/>
          <p:nvPr/>
        </p:nvSpPr>
        <p:spPr>
          <a:xfrm>
            <a:off x="4581144" y="4315968"/>
            <a:ext cx="3026664"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709160" y="4434840"/>
            <a:ext cx="2788920" cy="256032"/>
          </a:xfrm>
          <a:prstGeom prst="rect">
            <a:avLst/>
          </a:prstGeom>
          <a:noFill/>
        </p:spPr>
        <p:txBody>
          <a:bodyPr wrap="square" anchor="t" lIns="0" rIns="0" tIns="0" bIns="0">
            <a:spAutoFit/>
          </a:bodyPr>
          <a:lstStyle/>
          <a:p>
            <a:pPr algn="l">
              <a:lnSpc>
                <a:spcPct val="115000"/>
              </a:lnSpc>
              <a:spcAft>
                <a:spcPts val="400"/>
              </a:spcAft>
            </a:pPr>
            <a:r>
              <a:rPr sz="1000" b="0">
                <a:solidFill>
                  <a:srgbClr val="6E7884"/>
                </a:solidFill>
                <a:latin typeface="맑은 고딕"/>
              </a:rPr>
              <a:t>차량가 3,355만 → 실구매</a:t>
            </a:r>
          </a:p>
        </p:txBody>
      </p:sp>
      <p:sp>
        <p:nvSpPr>
          <p:cNvPr id="25" name="TextBox 24"/>
          <p:cNvSpPr txBox="1"/>
          <p:nvPr/>
        </p:nvSpPr>
        <p:spPr>
          <a:xfrm>
            <a:off x="4709160" y="4690872"/>
            <a:ext cx="2788920" cy="365760"/>
          </a:xfrm>
          <a:prstGeom prst="rect">
            <a:avLst/>
          </a:prstGeom>
          <a:noFill/>
        </p:spPr>
        <p:txBody>
          <a:bodyPr wrap="square" anchor="t" lIns="0" rIns="0" tIns="0" bIns="0">
            <a:spAutoFit/>
          </a:bodyPr>
          <a:lstStyle/>
          <a:p>
            <a:pPr algn="l">
              <a:lnSpc>
                <a:spcPct val="115000"/>
              </a:lnSpc>
              <a:spcAft>
                <a:spcPts val="400"/>
              </a:spcAft>
            </a:pPr>
            <a:r>
              <a:rPr sz="1400" b="1">
                <a:solidFill>
                  <a:srgbClr val="102A43"/>
                </a:solidFill>
                <a:latin typeface="맑은 고딕"/>
              </a:rPr>
              <a:t>3,598만  (여유 102만)</a:t>
            </a:r>
          </a:p>
        </p:txBody>
      </p:sp>
      <p:sp>
        <p:nvSpPr>
          <p:cNvPr id="26" name="TextBox 25"/>
          <p:cNvSpPr txBox="1"/>
          <p:nvPr/>
        </p:nvSpPr>
        <p:spPr>
          <a:xfrm>
            <a:off x="4581144" y="5285232"/>
            <a:ext cx="3063240" cy="731520"/>
          </a:xfrm>
          <a:prstGeom prst="rect">
            <a:avLst/>
          </a:prstGeom>
          <a:noFill/>
        </p:spPr>
        <p:txBody>
          <a:bodyPr wrap="square" anchor="t" lIns="0" rIns="0" tIns="0" bIns="0">
            <a:spAutoFit/>
          </a:bodyPr>
          <a:lstStyle/>
          <a:p>
            <a:pPr algn="l">
              <a:lnSpc>
                <a:spcPct val="140000"/>
              </a:lnSpc>
              <a:spcAft>
                <a:spcPts val="400"/>
              </a:spcAft>
            </a:pPr>
            <a:r>
              <a:rPr sz="1030" b="0">
                <a:solidFill>
                  <a:srgbClr val="6E7884"/>
                </a:solidFill>
                <a:latin typeface="맑은 고딕"/>
              </a:rPr>
              <a:t>준중형 차체 + 고속도로 주행보조·양문 전동시트가 기본. 짐·뒷좌석을 자주 쓴다면 이쪽.</a:t>
            </a:r>
          </a:p>
        </p:txBody>
      </p:sp>
      <p:sp>
        <p:nvSpPr>
          <p:cNvPr id="27" name="Rectangle 26"/>
          <p:cNvSpPr/>
          <p:nvPr/>
        </p:nvSpPr>
        <p:spPr>
          <a:xfrm>
            <a:off x="8046720" y="1600200"/>
            <a:ext cx="3429000" cy="4434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8046720" y="1600200"/>
            <a:ext cx="3429000" cy="457200"/>
          </a:xfrm>
          <a:prstGeom prst="rect">
            <a:avLst/>
          </a:prstGeom>
          <a:solidFill>
            <a:srgbClr val="E26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247888" y="1709928"/>
            <a:ext cx="3063240" cy="274320"/>
          </a:xfrm>
          <a:prstGeom prst="rect">
            <a:avLst/>
          </a:prstGeom>
          <a:noFill/>
        </p:spPr>
        <p:txBody>
          <a:bodyPr wrap="square" anchor="t" lIns="0" rIns="0" tIns="0" bIns="0">
            <a:spAutoFit/>
          </a:bodyPr>
          <a:lstStyle/>
          <a:p>
            <a:pPr algn="l">
              <a:lnSpc>
                <a:spcPct val="115000"/>
              </a:lnSpc>
              <a:spcAft>
                <a:spcPts val="400"/>
              </a:spcAft>
            </a:pPr>
            <a:r>
              <a:rPr sz="1300" b="1">
                <a:solidFill>
                  <a:srgbClr val="FFFFFF"/>
                </a:solidFill>
                <a:latin typeface="맑은 고딕"/>
              </a:rPr>
              <a:t>③ 옵션 만족도 우선</a:t>
            </a:r>
          </a:p>
        </p:txBody>
      </p:sp>
      <p:sp>
        <p:nvSpPr>
          <p:cNvPr id="30" name="TextBox 29"/>
          <p:cNvSpPr txBox="1"/>
          <p:nvPr/>
        </p:nvSpPr>
        <p:spPr>
          <a:xfrm>
            <a:off x="8247888" y="2240280"/>
            <a:ext cx="3063240" cy="548640"/>
          </a:xfrm>
          <a:prstGeom prst="rect">
            <a:avLst/>
          </a:prstGeom>
          <a:noFill/>
        </p:spPr>
        <p:txBody>
          <a:bodyPr wrap="square" anchor="t" lIns="0" rIns="0" tIns="0" bIns="0">
            <a:spAutoFit/>
          </a:bodyPr>
          <a:lstStyle/>
          <a:p>
            <a:pPr algn="l">
              <a:lnSpc>
                <a:spcPct val="125000"/>
              </a:lnSpc>
              <a:spcAft>
                <a:spcPts val="400"/>
              </a:spcAft>
            </a:pPr>
            <a:r>
              <a:rPr sz="1550" b="1">
                <a:solidFill>
                  <a:srgbClr val="102A43"/>
                </a:solidFill>
                <a:latin typeface="맑은 고딕"/>
              </a:rPr>
              <a:t>기아 셀토스 가솔린 시그니처</a:t>
            </a:r>
          </a:p>
        </p:txBody>
      </p:sp>
      <p:sp>
        <p:nvSpPr>
          <p:cNvPr id="31" name="TextBox 30"/>
          <p:cNvSpPr txBox="1"/>
          <p:nvPr/>
        </p:nvSpPr>
        <p:spPr>
          <a:xfrm>
            <a:off x="8247888" y="2907792"/>
            <a:ext cx="3063240" cy="274320"/>
          </a:xfrm>
          <a:prstGeom prst="rect">
            <a:avLst/>
          </a:prstGeom>
          <a:noFill/>
        </p:spPr>
        <p:txBody>
          <a:bodyPr wrap="square" anchor="t" lIns="0" rIns="0" tIns="0" bIns="0">
            <a:spAutoFit/>
          </a:bodyPr>
          <a:lstStyle/>
          <a:p>
            <a:pPr algn="l">
              <a:lnSpc>
                <a:spcPct val="115000"/>
              </a:lnSpc>
              <a:spcAft>
                <a:spcPts val="400"/>
              </a:spcAft>
            </a:pPr>
            <a:r>
              <a:rPr sz="1050" b="1">
                <a:solidFill>
                  <a:srgbClr val="E26D28"/>
                </a:solidFill>
                <a:latin typeface="맑은 고딕"/>
              </a:rPr>
              <a:t>복합연비 12.0km/ℓ · 소형</a:t>
            </a:r>
          </a:p>
        </p:txBody>
      </p:sp>
      <p:sp>
        <p:nvSpPr>
          <p:cNvPr id="32" name="TextBox 31"/>
          <p:cNvSpPr txBox="1"/>
          <p:nvPr/>
        </p:nvSpPr>
        <p:spPr>
          <a:xfrm>
            <a:off x="8247888" y="3273552"/>
            <a:ext cx="3063240" cy="914400"/>
          </a:xfrm>
          <a:prstGeom prst="rect">
            <a:avLst/>
          </a:prstGeom>
          <a:noFill/>
        </p:spPr>
        <p:txBody>
          <a:bodyPr wrap="square" anchor="t" lIns="0" rIns="0" tIns="0" bIns="0">
            <a:spAutoFit/>
          </a:bodyPr>
          <a:lstStyle/>
          <a:p>
            <a:pPr algn="l">
              <a:lnSpc>
                <a:spcPct val="145000"/>
              </a:lnSpc>
              <a:spcAft>
                <a:spcPts val="400"/>
              </a:spcAft>
            </a:pPr>
            <a:r>
              <a:rPr sz="1080" b="0">
                <a:solidFill>
                  <a:srgbClr val="242D38"/>
                </a:solidFill>
                <a:latin typeface="맑은 고딕"/>
              </a:rPr>
              <a:t>· 드라이브 와이즈 79만</a:t>
            </a:r>
          </a:p>
          <a:p>
            <a:pPr algn="l">
              <a:lnSpc>
                <a:spcPct val="145000"/>
              </a:lnSpc>
              <a:spcAft>
                <a:spcPts val="400"/>
              </a:spcAft>
            </a:pPr>
            <a:r>
              <a:rPr sz="1080" b="0">
                <a:solidFill>
                  <a:srgbClr val="242D38"/>
                </a:solidFill>
                <a:latin typeface="맑은 고딕"/>
              </a:rPr>
              <a:t>· 파노라마 선루프 109만</a:t>
            </a:r>
          </a:p>
          <a:p>
            <a:pPr algn="l">
              <a:lnSpc>
                <a:spcPct val="145000"/>
              </a:lnSpc>
              <a:spcAft>
                <a:spcPts val="400"/>
              </a:spcAft>
            </a:pPr>
            <a:r>
              <a:rPr sz="1080" b="0">
                <a:solidFill>
                  <a:srgbClr val="242D38"/>
                </a:solidFill>
                <a:latin typeface="맑은 고딕"/>
              </a:rPr>
              <a:t>· 빌트인 캠2 45만</a:t>
            </a:r>
          </a:p>
        </p:txBody>
      </p:sp>
      <p:sp>
        <p:nvSpPr>
          <p:cNvPr id="33" name="Rectangle 32"/>
          <p:cNvSpPr/>
          <p:nvPr/>
        </p:nvSpPr>
        <p:spPr>
          <a:xfrm>
            <a:off x="8247888" y="4315968"/>
            <a:ext cx="3026664"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375904" y="4434840"/>
            <a:ext cx="2788920" cy="256032"/>
          </a:xfrm>
          <a:prstGeom prst="rect">
            <a:avLst/>
          </a:prstGeom>
          <a:noFill/>
        </p:spPr>
        <p:txBody>
          <a:bodyPr wrap="square" anchor="t" lIns="0" rIns="0" tIns="0" bIns="0">
            <a:spAutoFit/>
          </a:bodyPr>
          <a:lstStyle/>
          <a:p>
            <a:pPr algn="l">
              <a:lnSpc>
                <a:spcPct val="115000"/>
              </a:lnSpc>
              <a:spcAft>
                <a:spcPts val="400"/>
              </a:spcAft>
            </a:pPr>
            <a:r>
              <a:rPr sz="1000" b="0">
                <a:solidFill>
                  <a:srgbClr val="6E7884"/>
                </a:solidFill>
                <a:latin typeface="맑은 고딕"/>
              </a:rPr>
              <a:t>차량가 3,378만 → 실구매</a:t>
            </a:r>
          </a:p>
        </p:txBody>
      </p:sp>
      <p:sp>
        <p:nvSpPr>
          <p:cNvPr id="35" name="TextBox 34"/>
          <p:cNvSpPr txBox="1"/>
          <p:nvPr/>
        </p:nvSpPr>
        <p:spPr>
          <a:xfrm>
            <a:off x="8375904" y="4690872"/>
            <a:ext cx="2788920" cy="365760"/>
          </a:xfrm>
          <a:prstGeom prst="rect">
            <a:avLst/>
          </a:prstGeom>
          <a:noFill/>
        </p:spPr>
        <p:txBody>
          <a:bodyPr wrap="square" anchor="t" lIns="0" rIns="0" tIns="0" bIns="0">
            <a:spAutoFit/>
          </a:bodyPr>
          <a:lstStyle/>
          <a:p>
            <a:pPr algn="l">
              <a:lnSpc>
                <a:spcPct val="115000"/>
              </a:lnSpc>
              <a:spcAft>
                <a:spcPts val="400"/>
              </a:spcAft>
            </a:pPr>
            <a:r>
              <a:rPr sz="1400" b="1">
                <a:solidFill>
                  <a:srgbClr val="102A43"/>
                </a:solidFill>
                <a:latin typeface="맑은 고딕"/>
              </a:rPr>
              <a:t>3,623만  (여유 77만)</a:t>
            </a:r>
          </a:p>
        </p:txBody>
      </p:sp>
      <p:sp>
        <p:nvSpPr>
          <p:cNvPr id="36" name="TextBox 35"/>
          <p:cNvSpPr txBox="1"/>
          <p:nvPr/>
        </p:nvSpPr>
        <p:spPr>
          <a:xfrm>
            <a:off x="8247888" y="5285232"/>
            <a:ext cx="3063240" cy="731520"/>
          </a:xfrm>
          <a:prstGeom prst="rect">
            <a:avLst/>
          </a:prstGeom>
          <a:noFill/>
        </p:spPr>
        <p:txBody>
          <a:bodyPr wrap="square" anchor="t" lIns="0" rIns="0" tIns="0" bIns="0">
            <a:spAutoFit/>
          </a:bodyPr>
          <a:lstStyle/>
          <a:p>
            <a:pPr algn="l">
              <a:lnSpc>
                <a:spcPct val="140000"/>
              </a:lnSpc>
              <a:spcAft>
                <a:spcPts val="400"/>
              </a:spcAft>
            </a:pPr>
            <a:r>
              <a:rPr sz="1030" b="0">
                <a:solidFill>
                  <a:srgbClr val="6E7884"/>
                </a:solidFill>
                <a:latin typeface="맑은 고딕"/>
              </a:rPr>
              <a:t>HDA2(차로변경 보조)·파노라마 선루프·디지털키까지. 체감 사양이 가장 화려한 조합.</a:t>
            </a:r>
          </a:p>
        </p:txBody>
      </p:sp>
      <p:sp>
        <p:nvSpPr>
          <p:cNvPr id="37" name="TextBox 36"/>
          <p:cNvSpPr txBox="1"/>
          <p:nvPr/>
        </p:nvSpPr>
        <p:spPr>
          <a:xfrm>
            <a:off x="713232" y="6327648"/>
            <a:ext cx="10881360" cy="365760"/>
          </a:xfrm>
          <a:prstGeom prst="rect">
            <a:avLst/>
          </a:prstGeom>
          <a:noFill/>
        </p:spPr>
        <p:txBody>
          <a:bodyPr wrap="square" anchor="t" lIns="0" rIns="0" tIns="0" bIns="0">
            <a:spAutoFit/>
          </a:bodyPr>
          <a:lstStyle/>
          <a:p>
            <a:pPr algn="l">
              <a:lnSpc>
                <a:spcPct val="120000"/>
              </a:lnSpc>
              <a:spcAft>
                <a:spcPts val="400"/>
              </a:spcAft>
            </a:pPr>
            <a:r>
              <a:rPr sz="950" b="0">
                <a:solidFill>
                  <a:srgbClr val="6E7884"/>
                </a:solidFill>
                <a:latin typeface="맑은 고딕"/>
              </a:rPr>
              <a:t>세 조합 모두 실구매가 3,700만원 이내. 여유분은 탁송료(약 30~40만원)·블랙박스·틴팅·초년도 보험료에 쓰인다.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02920" y="274320"/>
            <a:ext cx="50292" cy="384048"/>
          </a:xfrm>
          <a:prstGeom prst="rect">
            <a:avLst/>
          </a:prstGeom>
          <a:solidFill>
            <a:srgbClr val="E26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13232" y="219456"/>
            <a:ext cx="8778240" cy="457200"/>
          </a:xfrm>
          <a:prstGeom prst="rect">
            <a:avLst/>
          </a:prstGeom>
          <a:noFill/>
        </p:spPr>
        <p:txBody>
          <a:bodyPr wrap="square" anchor="t" lIns="0" rIns="0" tIns="0" bIns="0">
            <a:spAutoFit/>
          </a:bodyPr>
          <a:lstStyle/>
          <a:p>
            <a:pPr algn="l">
              <a:lnSpc>
                <a:spcPct val="115000"/>
              </a:lnSpc>
              <a:spcAft>
                <a:spcPts val="400"/>
              </a:spcAft>
            </a:pPr>
            <a:r>
              <a:rPr sz="2300" b="1">
                <a:solidFill>
                  <a:srgbClr val="FFFFFF"/>
                </a:solidFill>
                <a:latin typeface="맑은 고딕"/>
              </a:rPr>
              <a:t>연료비 비교 — 연 15,000km 기준</a:t>
            </a:r>
          </a:p>
        </p:txBody>
      </p:sp>
      <p:sp>
        <p:nvSpPr>
          <p:cNvPr id="5" name="TextBox 4"/>
          <p:cNvSpPr txBox="1"/>
          <p:nvPr/>
        </p:nvSpPr>
        <p:spPr>
          <a:xfrm>
            <a:off x="9509760" y="329184"/>
            <a:ext cx="2194560" cy="365760"/>
          </a:xfrm>
          <a:prstGeom prst="rect">
            <a:avLst/>
          </a:prstGeom>
          <a:noFill/>
        </p:spPr>
        <p:txBody>
          <a:bodyPr wrap="square" anchor="t" lIns="0" rIns="0" tIns="0" bIns="0">
            <a:spAutoFit/>
          </a:bodyPr>
          <a:lstStyle/>
          <a:p>
            <a:pPr algn="r">
              <a:lnSpc>
                <a:spcPct val="115000"/>
              </a:lnSpc>
              <a:spcAft>
                <a:spcPts val="400"/>
              </a:spcAft>
            </a:pPr>
            <a:r>
              <a:rPr sz="1100" b="0">
                <a:solidFill>
                  <a:srgbClr val="A9BED2"/>
                </a:solidFill>
                <a:latin typeface="맑은 고딕"/>
              </a:rPr>
              <a:t>11 / 유지비</a:t>
            </a:r>
          </a:p>
        </p:txBody>
      </p:sp>
      <p:sp>
        <p:nvSpPr>
          <p:cNvPr id="6" name="TextBox 5"/>
          <p:cNvSpPr txBox="1"/>
          <p:nvPr/>
        </p:nvSpPr>
        <p:spPr>
          <a:xfrm>
            <a:off x="713232" y="1060704"/>
            <a:ext cx="10881360" cy="310896"/>
          </a:xfrm>
          <a:prstGeom prst="rect">
            <a:avLst/>
          </a:prstGeom>
          <a:noFill/>
        </p:spPr>
        <p:txBody>
          <a:bodyPr wrap="square" anchor="t" lIns="0" rIns="0" tIns="0" bIns="0">
            <a:spAutoFit/>
          </a:bodyPr>
          <a:lstStyle/>
          <a:p>
            <a:pPr algn="l">
              <a:lnSpc>
                <a:spcPct val="115000"/>
              </a:lnSpc>
              <a:spcAft>
                <a:spcPts val="400"/>
              </a:spcAft>
            </a:pPr>
            <a:r>
              <a:rPr sz="1250" b="0">
                <a:solidFill>
                  <a:srgbClr val="6E7884"/>
                </a:solidFill>
                <a:latin typeface="맑은 고딕"/>
              </a:rPr>
              <a:t>휘발유 1,860원/ℓ (2026년 8월 전국 평균) 기준, 복합연비로 단순 환산.</a:t>
            </a:r>
          </a:p>
        </p:txBody>
      </p:sp>
      <p:graphicFrame>
        <p:nvGraphicFramePr>
          <p:cNvPr id="7" name="Table 6"/>
          <p:cNvGraphicFramePr>
            <a:graphicFrameLocks noGrp="1"/>
          </p:cNvGraphicFramePr>
          <p:nvPr/>
        </p:nvGraphicFramePr>
        <p:xfrm>
          <a:off x="713232" y="1691640"/>
          <a:ext cx="10762486" cy="3657600"/>
        </p:xfrm>
        <a:graphic>
          <a:graphicData uri="http://schemas.openxmlformats.org/drawingml/2006/table">
            <a:tbl>
              <a:tblPr firstRow="1">
                <a:tableStyleId>{5C22544A-7EE6-4342-B048-85BDC9FD1C3A}</a:tableStyleId>
              </a:tblPr>
              <a:tblGrid>
                <a:gridCol w="4035933"/>
                <a:gridCol w="1441404"/>
                <a:gridCol w="1633591"/>
                <a:gridCol w="1537498"/>
                <a:gridCol w="2114060"/>
              </a:tblGrid>
              <a:tr h="365760">
                <a:tc>
                  <a:txBody>
                    <a:bodyPr/>
                    <a:lstStyle/>
                    <a:p>
                      <a:pPr algn="l"/>
                      <a:r>
                        <a:rPr sz="1200" b="1">
                          <a:solidFill>
                            <a:srgbClr val="FFFFFF"/>
                          </a:solidFill>
                          <a:latin typeface="맑은 고딕"/>
                        </a:rPr>
                        <a:t>구성</a:t>
                      </a:r>
                    </a:p>
                  </a:txBody>
                  <a:tcPr marL="64008" marR="64008" marT="18288" marB="18288" anchor="ctr">
                    <a:solidFill>
                      <a:srgbClr val="102A43"/>
                    </a:solidFill>
                  </a:tcPr>
                </a:tc>
                <a:tc>
                  <a:txBody>
                    <a:bodyPr/>
                    <a:lstStyle/>
                    <a:p>
                      <a:pPr algn="ctr"/>
                      <a:r>
                        <a:rPr sz="1200" b="1">
                          <a:solidFill>
                            <a:srgbClr val="FFFFFF"/>
                          </a:solidFill>
                          <a:latin typeface="맑은 고딕"/>
                        </a:rPr>
                        <a:t>복합연비</a:t>
                      </a:r>
                    </a:p>
                  </a:txBody>
                  <a:tcPr marL="64008" marR="64008" marT="18288" marB="18288" anchor="ctr">
                    <a:solidFill>
                      <a:srgbClr val="102A43"/>
                    </a:solidFill>
                  </a:tcPr>
                </a:tc>
                <a:tc>
                  <a:txBody>
                    <a:bodyPr/>
                    <a:lstStyle/>
                    <a:p>
                      <a:pPr algn="ctr"/>
                      <a:r>
                        <a:rPr sz="1200" b="1">
                          <a:solidFill>
                            <a:srgbClr val="FFFFFF"/>
                          </a:solidFill>
                          <a:latin typeface="맑은 고딕"/>
                        </a:rPr>
                        <a:t>연간 연료비</a:t>
                      </a:r>
                    </a:p>
                  </a:txBody>
                  <a:tcPr marL="64008" marR="64008" marT="18288" marB="18288" anchor="ctr">
                    <a:solidFill>
                      <a:srgbClr val="102A43"/>
                    </a:solidFill>
                  </a:tcPr>
                </a:tc>
                <a:tc>
                  <a:txBody>
                    <a:bodyPr/>
                    <a:lstStyle/>
                    <a:p>
                      <a:pPr algn="ctr"/>
                      <a:r>
                        <a:rPr sz="1200" b="1">
                          <a:solidFill>
                            <a:srgbClr val="FFFFFF"/>
                          </a:solidFill>
                          <a:latin typeface="맑은 고딕"/>
                        </a:rPr>
                        <a:t>5년 누적</a:t>
                      </a:r>
                    </a:p>
                  </a:txBody>
                  <a:tcPr marL="64008" marR="64008" marT="18288" marB="18288" anchor="ctr">
                    <a:solidFill>
                      <a:srgbClr val="102A43"/>
                    </a:solidFill>
                  </a:tcPr>
                </a:tc>
                <a:tc>
                  <a:txBody>
                    <a:bodyPr/>
                    <a:lstStyle/>
                    <a:p>
                      <a:pPr algn="ctr"/>
                      <a:r>
                        <a:rPr sz="1200" b="1">
                          <a:solidFill>
                            <a:srgbClr val="FFFFFF"/>
                          </a:solidFill>
                          <a:latin typeface="맑은 고딕"/>
                        </a:rPr>
                        <a:t>최고 대비 절감(5년)</a:t>
                      </a:r>
                    </a:p>
                  </a:txBody>
                  <a:tcPr marL="64008" marR="64008" marT="18288" marB="18288" anchor="ctr">
                    <a:solidFill>
                      <a:srgbClr val="102A43"/>
                    </a:solidFill>
                  </a:tcPr>
                </a:tc>
              </a:tr>
              <a:tr h="365760">
                <a:tc>
                  <a:txBody>
                    <a:bodyPr/>
                    <a:lstStyle/>
                    <a:p>
                      <a:pPr algn="l"/>
                      <a:r>
                        <a:rPr sz="1200" b="0">
                          <a:solidFill>
                            <a:srgbClr val="242D38"/>
                          </a:solidFill>
                          <a:latin typeface="맑은 고딕"/>
                        </a:rPr>
                        <a:t>코나 하이브리드 H-Pick (17인치)</a:t>
                      </a:r>
                    </a:p>
                  </a:txBody>
                  <a:tcPr marL="64008" marR="64008" marT="18288" marB="18288" anchor="ctr">
                    <a:solidFill>
                      <a:srgbClr val="FFFFFF"/>
                    </a:solidFill>
                  </a:tcPr>
                </a:tc>
                <a:tc>
                  <a:txBody>
                    <a:bodyPr/>
                    <a:lstStyle/>
                    <a:p>
                      <a:pPr algn="ctr"/>
                      <a:r>
                        <a:rPr sz="1200" b="0">
                          <a:solidFill>
                            <a:srgbClr val="242D38"/>
                          </a:solidFill>
                          <a:latin typeface="맑은 고딕"/>
                        </a:rPr>
                        <a:t>19.8 km/ℓ</a:t>
                      </a:r>
                    </a:p>
                  </a:txBody>
                  <a:tcPr marL="64008" marR="64008" marT="18288" marB="18288" anchor="ctr">
                    <a:solidFill>
                      <a:srgbClr val="FFFFFF"/>
                    </a:solidFill>
                  </a:tcPr>
                </a:tc>
                <a:tc>
                  <a:txBody>
                    <a:bodyPr/>
                    <a:lstStyle/>
                    <a:p>
                      <a:pPr algn="ctr"/>
                      <a:r>
                        <a:rPr sz="1200" b="0">
                          <a:solidFill>
                            <a:srgbClr val="242D38"/>
                          </a:solidFill>
                          <a:latin typeface="맑은 고딕"/>
                        </a:rPr>
                        <a:t>141만원</a:t>
                      </a:r>
                    </a:p>
                  </a:txBody>
                  <a:tcPr marL="64008" marR="64008" marT="18288" marB="18288" anchor="ctr">
                    <a:solidFill>
                      <a:srgbClr val="FFFFFF"/>
                    </a:solidFill>
                  </a:tcPr>
                </a:tc>
                <a:tc>
                  <a:txBody>
                    <a:bodyPr/>
                    <a:lstStyle/>
                    <a:p>
                      <a:pPr algn="ctr"/>
                      <a:r>
                        <a:rPr sz="1200" b="0">
                          <a:solidFill>
                            <a:srgbClr val="242D38"/>
                          </a:solidFill>
                          <a:latin typeface="맑은 고딕"/>
                        </a:rPr>
                        <a:t>705만원</a:t>
                      </a:r>
                    </a:p>
                  </a:txBody>
                  <a:tcPr marL="64008" marR="64008" marT="18288" marB="18288" anchor="ctr">
                    <a:solidFill>
                      <a:srgbClr val="FFFFFF"/>
                    </a:solidFill>
                  </a:tcPr>
                </a:tc>
                <a:tc>
                  <a:txBody>
                    <a:bodyPr/>
                    <a:lstStyle/>
                    <a:p>
                      <a:pPr algn="ctr"/>
                      <a:r>
                        <a:rPr sz="1200" b="0">
                          <a:solidFill>
                            <a:srgbClr val="242D38"/>
                          </a:solidFill>
                          <a:latin typeface="맑은 고딕"/>
                        </a:rPr>
                        <a:t>458만원</a:t>
                      </a:r>
                    </a:p>
                  </a:txBody>
                  <a:tcPr marL="64008" marR="64008" marT="18288" marB="18288" anchor="ctr">
                    <a:solidFill>
                      <a:srgbClr val="FFFFFF"/>
                    </a:solidFill>
                  </a:tcPr>
                </a:tc>
              </a:tr>
              <a:tr h="365760">
                <a:tc>
                  <a:txBody>
                    <a:bodyPr/>
                    <a:lstStyle/>
                    <a:p>
                      <a:pPr algn="l"/>
                      <a:r>
                        <a:rPr sz="1200" b="0">
                          <a:solidFill>
                            <a:srgbClr val="242D38"/>
                          </a:solidFill>
                          <a:latin typeface="맑은 고딕"/>
                        </a:rPr>
                        <a:t>셀토스 하이브리드 프레스티지 (18인치)</a:t>
                      </a:r>
                    </a:p>
                  </a:txBody>
                  <a:tcPr marL="64008" marR="64008" marT="18288" marB="18288" anchor="ctr">
                    <a:solidFill>
                      <a:srgbClr val="F2F5F8"/>
                    </a:solidFill>
                  </a:tcPr>
                </a:tc>
                <a:tc>
                  <a:txBody>
                    <a:bodyPr/>
                    <a:lstStyle/>
                    <a:p>
                      <a:pPr algn="ctr"/>
                      <a:r>
                        <a:rPr sz="1200" b="0">
                          <a:solidFill>
                            <a:srgbClr val="242D38"/>
                          </a:solidFill>
                          <a:latin typeface="맑은 고딕"/>
                        </a:rPr>
                        <a:t>18.6 km/ℓ</a:t>
                      </a:r>
                    </a:p>
                  </a:txBody>
                  <a:tcPr marL="64008" marR="64008" marT="18288" marB="18288" anchor="ctr">
                    <a:solidFill>
                      <a:srgbClr val="F2F5F8"/>
                    </a:solidFill>
                  </a:tcPr>
                </a:tc>
                <a:tc>
                  <a:txBody>
                    <a:bodyPr/>
                    <a:lstStyle/>
                    <a:p>
                      <a:pPr algn="ctr"/>
                      <a:r>
                        <a:rPr sz="1200" b="0">
                          <a:solidFill>
                            <a:srgbClr val="242D38"/>
                          </a:solidFill>
                          <a:latin typeface="맑은 고딕"/>
                        </a:rPr>
                        <a:t>150만원</a:t>
                      </a:r>
                    </a:p>
                  </a:txBody>
                  <a:tcPr marL="64008" marR="64008" marT="18288" marB="18288" anchor="ctr">
                    <a:solidFill>
                      <a:srgbClr val="F2F5F8"/>
                    </a:solidFill>
                  </a:tcPr>
                </a:tc>
                <a:tc>
                  <a:txBody>
                    <a:bodyPr/>
                    <a:lstStyle/>
                    <a:p>
                      <a:pPr algn="ctr"/>
                      <a:r>
                        <a:rPr sz="1200" b="0">
                          <a:solidFill>
                            <a:srgbClr val="242D38"/>
                          </a:solidFill>
                          <a:latin typeface="맑은 고딕"/>
                        </a:rPr>
                        <a:t>750만원</a:t>
                      </a:r>
                    </a:p>
                  </a:txBody>
                  <a:tcPr marL="64008" marR="64008" marT="18288" marB="18288" anchor="ctr">
                    <a:solidFill>
                      <a:srgbClr val="F2F5F8"/>
                    </a:solidFill>
                  </a:tcPr>
                </a:tc>
                <a:tc>
                  <a:txBody>
                    <a:bodyPr/>
                    <a:lstStyle/>
                    <a:p>
                      <a:pPr algn="ctr"/>
                      <a:r>
                        <a:rPr sz="1200" b="0">
                          <a:solidFill>
                            <a:srgbClr val="242D38"/>
                          </a:solidFill>
                          <a:latin typeface="맑은 고딕"/>
                        </a:rPr>
                        <a:t>413만원</a:t>
                      </a:r>
                    </a:p>
                  </a:txBody>
                  <a:tcPr marL="64008" marR="64008" marT="18288" marB="18288" anchor="ctr">
                    <a:solidFill>
                      <a:srgbClr val="F2F5F8"/>
                    </a:solidFill>
                  </a:tcPr>
                </a:tc>
              </a:tr>
              <a:tr h="365760">
                <a:tc>
                  <a:txBody>
                    <a:bodyPr/>
                    <a:lstStyle/>
                    <a:p>
                      <a:pPr algn="l"/>
                      <a:r>
                        <a:rPr sz="1200" b="0">
                          <a:solidFill>
                            <a:srgbClr val="242D38"/>
                          </a:solidFill>
                          <a:latin typeface="맑은 고딕"/>
                        </a:rPr>
                        <a:t>스포티지 하이브리드 프레스티지 (17인치)</a:t>
                      </a:r>
                    </a:p>
                  </a:txBody>
                  <a:tcPr marL="64008" marR="64008" marT="18288" marB="18288" anchor="ctr">
                    <a:solidFill>
                      <a:srgbClr val="FFFFFF"/>
                    </a:solidFill>
                  </a:tcPr>
                </a:tc>
                <a:tc>
                  <a:txBody>
                    <a:bodyPr/>
                    <a:lstStyle/>
                    <a:p>
                      <a:pPr algn="ctr"/>
                      <a:r>
                        <a:rPr sz="1200" b="0">
                          <a:solidFill>
                            <a:srgbClr val="242D38"/>
                          </a:solidFill>
                          <a:latin typeface="맑은 고딕"/>
                        </a:rPr>
                        <a:t>16.3 km/ℓ</a:t>
                      </a:r>
                    </a:p>
                  </a:txBody>
                  <a:tcPr marL="64008" marR="64008" marT="18288" marB="18288" anchor="ctr">
                    <a:solidFill>
                      <a:srgbClr val="FFFFFF"/>
                    </a:solidFill>
                  </a:tcPr>
                </a:tc>
                <a:tc>
                  <a:txBody>
                    <a:bodyPr/>
                    <a:lstStyle/>
                    <a:p>
                      <a:pPr algn="ctr"/>
                      <a:r>
                        <a:rPr sz="1200" b="0">
                          <a:solidFill>
                            <a:srgbClr val="242D38"/>
                          </a:solidFill>
                          <a:latin typeface="맑은 고딕"/>
                        </a:rPr>
                        <a:t>171만원</a:t>
                      </a:r>
                    </a:p>
                  </a:txBody>
                  <a:tcPr marL="64008" marR="64008" marT="18288" marB="18288" anchor="ctr">
                    <a:solidFill>
                      <a:srgbClr val="FFFFFF"/>
                    </a:solidFill>
                  </a:tcPr>
                </a:tc>
                <a:tc>
                  <a:txBody>
                    <a:bodyPr/>
                    <a:lstStyle/>
                    <a:p>
                      <a:pPr algn="ctr"/>
                      <a:r>
                        <a:rPr sz="1200" b="0">
                          <a:solidFill>
                            <a:srgbClr val="242D38"/>
                          </a:solidFill>
                          <a:latin typeface="맑은 고딕"/>
                        </a:rPr>
                        <a:t>856만원</a:t>
                      </a:r>
                    </a:p>
                  </a:txBody>
                  <a:tcPr marL="64008" marR="64008" marT="18288" marB="18288" anchor="ctr">
                    <a:solidFill>
                      <a:srgbClr val="FFFFFF"/>
                    </a:solidFill>
                  </a:tcPr>
                </a:tc>
                <a:tc>
                  <a:txBody>
                    <a:bodyPr/>
                    <a:lstStyle/>
                    <a:p>
                      <a:pPr algn="ctr"/>
                      <a:r>
                        <a:rPr sz="1200" b="0">
                          <a:solidFill>
                            <a:srgbClr val="242D38"/>
                          </a:solidFill>
                          <a:latin typeface="맑은 고딕"/>
                        </a:rPr>
                        <a:t>307만원</a:t>
                      </a:r>
                    </a:p>
                  </a:txBody>
                  <a:tcPr marL="64008" marR="64008" marT="18288" marB="18288" anchor="ctr">
                    <a:solidFill>
                      <a:srgbClr val="FFFFFF"/>
                    </a:solidFill>
                  </a:tcPr>
                </a:tc>
              </a:tr>
              <a:tr h="365760">
                <a:tc>
                  <a:txBody>
                    <a:bodyPr/>
                    <a:lstStyle/>
                    <a:p>
                      <a:pPr algn="l"/>
                      <a:r>
                        <a:rPr sz="1200" b="0">
                          <a:solidFill>
                            <a:srgbClr val="242D38"/>
                          </a:solidFill>
                          <a:latin typeface="맑은 고딕"/>
                        </a:rPr>
                        <a:t>투싼 하이브리드 모던 (17인치)</a:t>
                      </a:r>
                    </a:p>
                  </a:txBody>
                  <a:tcPr marL="64008" marR="64008" marT="18288" marB="18288" anchor="ctr">
                    <a:solidFill>
                      <a:srgbClr val="F2F5F8"/>
                    </a:solidFill>
                  </a:tcPr>
                </a:tc>
                <a:tc>
                  <a:txBody>
                    <a:bodyPr/>
                    <a:lstStyle/>
                    <a:p>
                      <a:pPr algn="ctr"/>
                      <a:r>
                        <a:rPr sz="1200" b="0">
                          <a:solidFill>
                            <a:srgbClr val="242D38"/>
                          </a:solidFill>
                          <a:latin typeface="맑은 고딕"/>
                        </a:rPr>
                        <a:t>16.2 km/ℓ</a:t>
                      </a:r>
                    </a:p>
                  </a:txBody>
                  <a:tcPr marL="64008" marR="64008" marT="18288" marB="18288" anchor="ctr">
                    <a:solidFill>
                      <a:srgbClr val="F2F5F8"/>
                    </a:solidFill>
                  </a:tcPr>
                </a:tc>
                <a:tc>
                  <a:txBody>
                    <a:bodyPr/>
                    <a:lstStyle/>
                    <a:p>
                      <a:pPr algn="ctr"/>
                      <a:r>
                        <a:rPr sz="1200" b="0">
                          <a:solidFill>
                            <a:srgbClr val="242D38"/>
                          </a:solidFill>
                          <a:latin typeface="맑은 고딕"/>
                        </a:rPr>
                        <a:t>172만원</a:t>
                      </a:r>
                    </a:p>
                  </a:txBody>
                  <a:tcPr marL="64008" marR="64008" marT="18288" marB="18288" anchor="ctr">
                    <a:solidFill>
                      <a:srgbClr val="F2F5F8"/>
                    </a:solidFill>
                  </a:tcPr>
                </a:tc>
                <a:tc>
                  <a:txBody>
                    <a:bodyPr/>
                    <a:lstStyle/>
                    <a:p>
                      <a:pPr algn="ctr"/>
                      <a:r>
                        <a:rPr sz="1200" b="0">
                          <a:solidFill>
                            <a:srgbClr val="242D38"/>
                          </a:solidFill>
                          <a:latin typeface="맑은 고딕"/>
                        </a:rPr>
                        <a:t>861만원</a:t>
                      </a:r>
                    </a:p>
                  </a:txBody>
                  <a:tcPr marL="64008" marR="64008" marT="18288" marB="18288" anchor="ctr">
                    <a:solidFill>
                      <a:srgbClr val="F2F5F8"/>
                    </a:solidFill>
                  </a:tcPr>
                </a:tc>
                <a:tc>
                  <a:txBody>
                    <a:bodyPr/>
                    <a:lstStyle/>
                    <a:p>
                      <a:pPr algn="ctr"/>
                      <a:r>
                        <a:rPr sz="1200" b="0">
                          <a:solidFill>
                            <a:srgbClr val="242D38"/>
                          </a:solidFill>
                          <a:latin typeface="맑은 고딕"/>
                        </a:rPr>
                        <a:t>301만원</a:t>
                      </a:r>
                    </a:p>
                  </a:txBody>
                  <a:tcPr marL="64008" marR="64008" marT="18288" marB="18288" anchor="ctr">
                    <a:solidFill>
                      <a:srgbClr val="F2F5F8"/>
                    </a:solidFill>
                  </a:tcPr>
                </a:tc>
              </a:tr>
              <a:tr h="365760">
                <a:tc>
                  <a:txBody>
                    <a:bodyPr/>
                    <a:lstStyle/>
                    <a:p>
                      <a:pPr algn="l"/>
                      <a:r>
                        <a:rPr sz="1200" b="0">
                          <a:solidFill>
                            <a:srgbClr val="242D38"/>
                          </a:solidFill>
                          <a:latin typeface="맑은 고딕"/>
                        </a:rPr>
                        <a:t>트레일블레이저 RS (18인치)</a:t>
                      </a:r>
                    </a:p>
                  </a:txBody>
                  <a:tcPr marL="64008" marR="64008" marT="18288" marB="18288" anchor="ctr">
                    <a:solidFill>
                      <a:srgbClr val="FFFFFF"/>
                    </a:solidFill>
                  </a:tcPr>
                </a:tc>
                <a:tc>
                  <a:txBody>
                    <a:bodyPr/>
                    <a:lstStyle/>
                    <a:p>
                      <a:pPr algn="ctr"/>
                      <a:r>
                        <a:rPr sz="1200" b="0">
                          <a:solidFill>
                            <a:srgbClr val="242D38"/>
                          </a:solidFill>
                          <a:latin typeface="맑은 고딕"/>
                        </a:rPr>
                        <a:t>12.6 km/ℓ</a:t>
                      </a:r>
                    </a:p>
                  </a:txBody>
                  <a:tcPr marL="64008" marR="64008" marT="18288" marB="18288" anchor="ctr">
                    <a:solidFill>
                      <a:srgbClr val="FFFFFF"/>
                    </a:solidFill>
                  </a:tcPr>
                </a:tc>
                <a:tc>
                  <a:txBody>
                    <a:bodyPr/>
                    <a:lstStyle/>
                    <a:p>
                      <a:pPr algn="ctr"/>
                      <a:r>
                        <a:rPr sz="1200" b="0">
                          <a:solidFill>
                            <a:srgbClr val="242D38"/>
                          </a:solidFill>
                          <a:latin typeface="맑은 고딕"/>
                        </a:rPr>
                        <a:t>221만원</a:t>
                      </a:r>
                    </a:p>
                  </a:txBody>
                  <a:tcPr marL="64008" marR="64008" marT="18288" marB="18288" anchor="ctr">
                    <a:solidFill>
                      <a:srgbClr val="FFFFFF"/>
                    </a:solidFill>
                  </a:tcPr>
                </a:tc>
                <a:tc>
                  <a:txBody>
                    <a:bodyPr/>
                    <a:lstStyle/>
                    <a:p>
                      <a:pPr algn="ctr"/>
                      <a:r>
                        <a:rPr sz="1200" b="0">
                          <a:solidFill>
                            <a:srgbClr val="242D38"/>
                          </a:solidFill>
                          <a:latin typeface="맑은 고딕"/>
                        </a:rPr>
                        <a:t>1,107만원</a:t>
                      </a:r>
                    </a:p>
                  </a:txBody>
                  <a:tcPr marL="64008" marR="64008" marT="18288" marB="18288" anchor="ctr">
                    <a:solidFill>
                      <a:srgbClr val="FFFFFF"/>
                    </a:solidFill>
                  </a:tcPr>
                </a:tc>
                <a:tc>
                  <a:txBody>
                    <a:bodyPr/>
                    <a:lstStyle/>
                    <a:p>
                      <a:pPr algn="ctr"/>
                      <a:r>
                        <a:rPr sz="1200" b="0">
                          <a:solidFill>
                            <a:srgbClr val="242D38"/>
                          </a:solidFill>
                          <a:latin typeface="맑은 고딕"/>
                        </a:rPr>
                        <a:t>55만원</a:t>
                      </a:r>
                    </a:p>
                  </a:txBody>
                  <a:tcPr marL="64008" marR="64008" marT="18288" marB="18288" anchor="ctr">
                    <a:solidFill>
                      <a:srgbClr val="FFFFFF"/>
                    </a:solidFill>
                  </a:tcPr>
                </a:tc>
              </a:tr>
              <a:tr h="365760">
                <a:tc>
                  <a:txBody>
                    <a:bodyPr/>
                    <a:lstStyle/>
                    <a:p>
                      <a:pPr algn="l"/>
                      <a:r>
                        <a:rPr sz="1200" b="0">
                          <a:solidFill>
                            <a:srgbClr val="242D38"/>
                          </a:solidFill>
                          <a:latin typeface="맑은 고딕"/>
                        </a:rPr>
                        <a:t>투싼 가솔린 H-Pick (18인치)</a:t>
                      </a:r>
                    </a:p>
                  </a:txBody>
                  <a:tcPr marL="64008" marR="64008" marT="18288" marB="18288" anchor="ctr">
                    <a:solidFill>
                      <a:srgbClr val="F2F5F8"/>
                    </a:solidFill>
                  </a:tcPr>
                </a:tc>
                <a:tc>
                  <a:txBody>
                    <a:bodyPr/>
                    <a:lstStyle/>
                    <a:p>
                      <a:pPr algn="ctr"/>
                      <a:r>
                        <a:rPr sz="1200" b="0">
                          <a:solidFill>
                            <a:srgbClr val="242D38"/>
                          </a:solidFill>
                          <a:latin typeface="맑은 고딕"/>
                        </a:rPr>
                        <a:t>12.5 km/ℓ</a:t>
                      </a:r>
                    </a:p>
                  </a:txBody>
                  <a:tcPr marL="64008" marR="64008" marT="18288" marB="18288" anchor="ctr">
                    <a:solidFill>
                      <a:srgbClr val="F2F5F8"/>
                    </a:solidFill>
                  </a:tcPr>
                </a:tc>
                <a:tc>
                  <a:txBody>
                    <a:bodyPr/>
                    <a:lstStyle/>
                    <a:p>
                      <a:pPr algn="ctr"/>
                      <a:r>
                        <a:rPr sz="1200" b="0">
                          <a:solidFill>
                            <a:srgbClr val="242D38"/>
                          </a:solidFill>
                          <a:latin typeface="맑은 고딕"/>
                        </a:rPr>
                        <a:t>223만원</a:t>
                      </a:r>
                    </a:p>
                  </a:txBody>
                  <a:tcPr marL="64008" marR="64008" marT="18288" marB="18288" anchor="ctr">
                    <a:solidFill>
                      <a:srgbClr val="F2F5F8"/>
                    </a:solidFill>
                  </a:tcPr>
                </a:tc>
                <a:tc>
                  <a:txBody>
                    <a:bodyPr/>
                    <a:lstStyle/>
                    <a:p>
                      <a:pPr algn="ctr"/>
                      <a:r>
                        <a:rPr sz="1200" b="0">
                          <a:solidFill>
                            <a:srgbClr val="242D38"/>
                          </a:solidFill>
                          <a:latin typeface="맑은 고딕"/>
                        </a:rPr>
                        <a:t>1,116만원</a:t>
                      </a:r>
                    </a:p>
                  </a:txBody>
                  <a:tcPr marL="64008" marR="64008" marT="18288" marB="18288" anchor="ctr">
                    <a:solidFill>
                      <a:srgbClr val="F2F5F8"/>
                    </a:solidFill>
                  </a:tcPr>
                </a:tc>
                <a:tc>
                  <a:txBody>
                    <a:bodyPr/>
                    <a:lstStyle/>
                    <a:p>
                      <a:pPr algn="ctr"/>
                      <a:r>
                        <a:rPr sz="1200" b="0">
                          <a:solidFill>
                            <a:srgbClr val="242D38"/>
                          </a:solidFill>
                          <a:latin typeface="맑은 고딕"/>
                        </a:rPr>
                        <a:t>46만원</a:t>
                      </a:r>
                    </a:p>
                  </a:txBody>
                  <a:tcPr marL="64008" marR="64008" marT="18288" marB="18288" anchor="ctr">
                    <a:solidFill>
                      <a:srgbClr val="F2F5F8"/>
                    </a:solidFill>
                  </a:tcPr>
                </a:tc>
              </a:tr>
              <a:tr h="365760">
                <a:tc>
                  <a:txBody>
                    <a:bodyPr/>
                    <a:lstStyle/>
                    <a:p>
                      <a:pPr algn="l"/>
                      <a:r>
                        <a:rPr sz="1200" b="0">
                          <a:solidFill>
                            <a:srgbClr val="242D38"/>
                          </a:solidFill>
                          <a:latin typeface="맑은 고딕"/>
                        </a:rPr>
                        <a:t>코나 가솔린 인스퍼레이션 (19인치)</a:t>
                      </a:r>
                    </a:p>
                  </a:txBody>
                  <a:tcPr marL="64008" marR="64008" marT="18288" marB="18288" anchor="ctr">
                    <a:solidFill>
                      <a:srgbClr val="FFFFFF"/>
                    </a:solidFill>
                  </a:tcPr>
                </a:tc>
                <a:tc>
                  <a:txBody>
                    <a:bodyPr/>
                    <a:lstStyle/>
                    <a:p>
                      <a:pPr algn="ctr"/>
                      <a:r>
                        <a:rPr sz="1200" b="0">
                          <a:solidFill>
                            <a:srgbClr val="242D38"/>
                          </a:solidFill>
                          <a:latin typeface="맑은 고딕"/>
                        </a:rPr>
                        <a:t>12.2 km/ℓ</a:t>
                      </a:r>
                    </a:p>
                  </a:txBody>
                  <a:tcPr marL="64008" marR="64008" marT="18288" marB="18288" anchor="ctr">
                    <a:solidFill>
                      <a:srgbClr val="FFFFFF"/>
                    </a:solidFill>
                  </a:tcPr>
                </a:tc>
                <a:tc>
                  <a:txBody>
                    <a:bodyPr/>
                    <a:lstStyle/>
                    <a:p>
                      <a:pPr algn="ctr"/>
                      <a:r>
                        <a:rPr sz="1200" b="0">
                          <a:solidFill>
                            <a:srgbClr val="242D38"/>
                          </a:solidFill>
                          <a:latin typeface="맑은 고딕"/>
                        </a:rPr>
                        <a:t>229만원</a:t>
                      </a:r>
                    </a:p>
                  </a:txBody>
                  <a:tcPr marL="64008" marR="64008" marT="18288" marB="18288" anchor="ctr">
                    <a:solidFill>
                      <a:srgbClr val="FFFFFF"/>
                    </a:solidFill>
                  </a:tcPr>
                </a:tc>
                <a:tc>
                  <a:txBody>
                    <a:bodyPr/>
                    <a:lstStyle/>
                    <a:p>
                      <a:pPr algn="ctr"/>
                      <a:r>
                        <a:rPr sz="1200" b="0">
                          <a:solidFill>
                            <a:srgbClr val="242D38"/>
                          </a:solidFill>
                          <a:latin typeface="맑은 고딕"/>
                        </a:rPr>
                        <a:t>1,143만원</a:t>
                      </a:r>
                    </a:p>
                  </a:txBody>
                  <a:tcPr marL="64008" marR="64008" marT="18288" marB="18288" anchor="ctr">
                    <a:solidFill>
                      <a:srgbClr val="FFFFFF"/>
                    </a:solidFill>
                  </a:tcPr>
                </a:tc>
                <a:tc>
                  <a:txBody>
                    <a:bodyPr/>
                    <a:lstStyle/>
                    <a:p>
                      <a:pPr algn="ctr"/>
                      <a:r>
                        <a:rPr sz="1200" b="0">
                          <a:solidFill>
                            <a:srgbClr val="242D38"/>
                          </a:solidFill>
                          <a:latin typeface="맑은 고딕"/>
                        </a:rPr>
                        <a:t>19만원</a:t>
                      </a:r>
                    </a:p>
                  </a:txBody>
                  <a:tcPr marL="64008" marR="64008" marT="18288" marB="18288" anchor="ctr">
                    <a:solidFill>
                      <a:srgbClr val="FFFFFF"/>
                    </a:solidFill>
                  </a:tcPr>
                </a:tc>
              </a:tr>
              <a:tr h="365760">
                <a:tc>
                  <a:txBody>
                    <a:bodyPr/>
                    <a:lstStyle/>
                    <a:p>
                      <a:pPr algn="l"/>
                      <a:r>
                        <a:rPr sz="1200" b="0">
                          <a:solidFill>
                            <a:srgbClr val="242D38"/>
                          </a:solidFill>
                          <a:latin typeface="맑은 고딕"/>
                        </a:rPr>
                        <a:t>셀토스 가솔린 시그니처 (18인치)</a:t>
                      </a:r>
                    </a:p>
                  </a:txBody>
                  <a:tcPr marL="64008" marR="64008" marT="18288" marB="18288" anchor="ctr">
                    <a:solidFill>
                      <a:srgbClr val="F2F5F8"/>
                    </a:solidFill>
                  </a:tcPr>
                </a:tc>
                <a:tc>
                  <a:txBody>
                    <a:bodyPr/>
                    <a:lstStyle/>
                    <a:p>
                      <a:pPr algn="ctr"/>
                      <a:r>
                        <a:rPr sz="1200" b="0">
                          <a:solidFill>
                            <a:srgbClr val="242D38"/>
                          </a:solidFill>
                          <a:latin typeface="맑은 고딕"/>
                        </a:rPr>
                        <a:t>12.0 km/ℓ</a:t>
                      </a:r>
                    </a:p>
                  </a:txBody>
                  <a:tcPr marL="64008" marR="64008" marT="18288" marB="18288" anchor="ctr">
                    <a:solidFill>
                      <a:srgbClr val="F2F5F8"/>
                    </a:solidFill>
                  </a:tcPr>
                </a:tc>
                <a:tc>
                  <a:txBody>
                    <a:bodyPr/>
                    <a:lstStyle/>
                    <a:p>
                      <a:pPr algn="ctr"/>
                      <a:r>
                        <a:rPr sz="1200" b="0">
                          <a:solidFill>
                            <a:srgbClr val="242D38"/>
                          </a:solidFill>
                          <a:latin typeface="맑은 고딕"/>
                        </a:rPr>
                        <a:t>232만원</a:t>
                      </a:r>
                    </a:p>
                  </a:txBody>
                  <a:tcPr marL="64008" marR="64008" marT="18288" marB="18288" anchor="ctr">
                    <a:solidFill>
                      <a:srgbClr val="F2F5F8"/>
                    </a:solidFill>
                  </a:tcPr>
                </a:tc>
                <a:tc>
                  <a:txBody>
                    <a:bodyPr/>
                    <a:lstStyle/>
                    <a:p>
                      <a:pPr algn="ctr"/>
                      <a:r>
                        <a:rPr sz="1200" b="0">
                          <a:solidFill>
                            <a:srgbClr val="242D38"/>
                          </a:solidFill>
                          <a:latin typeface="맑은 고딕"/>
                        </a:rPr>
                        <a:t>1,162만원</a:t>
                      </a:r>
                    </a:p>
                  </a:txBody>
                  <a:tcPr marL="64008" marR="64008" marT="18288" marB="18288" anchor="ctr">
                    <a:solidFill>
                      <a:srgbClr val="F2F5F8"/>
                    </a:solidFill>
                  </a:tcPr>
                </a:tc>
                <a:tc>
                  <a:txBody>
                    <a:bodyPr/>
                    <a:lstStyle/>
                    <a:p>
                      <a:pPr algn="ctr"/>
                      <a:r>
                        <a:rPr sz="1200" b="0">
                          <a:solidFill>
                            <a:srgbClr val="242D38"/>
                          </a:solidFill>
                          <a:latin typeface="맑은 고딕"/>
                        </a:rPr>
                        <a:t>-</a:t>
                      </a:r>
                    </a:p>
                  </a:txBody>
                  <a:tcPr marL="64008" marR="64008" marT="18288" marB="18288" anchor="ctr">
                    <a:solidFill>
                      <a:srgbClr val="F2F5F8"/>
                    </a:solidFill>
                  </a:tcPr>
                </a:tc>
              </a:tr>
              <a:tr h="365760">
                <a:tc>
                  <a:txBody>
                    <a:bodyPr/>
                    <a:lstStyle/>
                    <a:p>
                      <a:pPr algn="l"/>
                      <a:r>
                        <a:rPr sz="1200" b="0">
                          <a:solidFill>
                            <a:srgbClr val="242D38"/>
                          </a:solidFill>
                          <a:latin typeface="맑은 고딕"/>
                        </a:rPr>
                        <a:t>스포티지 가솔린 프레스티지+스타일 (18인치)</a:t>
                      </a:r>
                    </a:p>
                  </a:txBody>
                  <a:tcPr marL="64008" marR="64008" marT="18288" marB="18288" anchor="ctr">
                    <a:solidFill>
                      <a:srgbClr val="FFFFFF"/>
                    </a:solidFill>
                  </a:tcPr>
                </a:tc>
                <a:tc>
                  <a:txBody>
                    <a:bodyPr/>
                    <a:lstStyle/>
                    <a:p>
                      <a:pPr algn="ctr"/>
                      <a:r>
                        <a:rPr sz="1200" b="0">
                          <a:solidFill>
                            <a:srgbClr val="242D38"/>
                          </a:solidFill>
                          <a:latin typeface="맑은 고딕"/>
                        </a:rPr>
                        <a:t>12.0 km/ℓ</a:t>
                      </a:r>
                    </a:p>
                  </a:txBody>
                  <a:tcPr marL="64008" marR="64008" marT="18288" marB="18288" anchor="ctr">
                    <a:solidFill>
                      <a:srgbClr val="FFFFFF"/>
                    </a:solidFill>
                  </a:tcPr>
                </a:tc>
                <a:tc>
                  <a:txBody>
                    <a:bodyPr/>
                    <a:lstStyle/>
                    <a:p>
                      <a:pPr algn="ctr"/>
                      <a:r>
                        <a:rPr sz="1200" b="0">
                          <a:solidFill>
                            <a:srgbClr val="242D38"/>
                          </a:solidFill>
                          <a:latin typeface="맑은 고딕"/>
                        </a:rPr>
                        <a:t>232만원</a:t>
                      </a:r>
                    </a:p>
                  </a:txBody>
                  <a:tcPr marL="64008" marR="64008" marT="18288" marB="18288" anchor="ctr">
                    <a:solidFill>
                      <a:srgbClr val="FFFFFF"/>
                    </a:solidFill>
                  </a:tcPr>
                </a:tc>
                <a:tc>
                  <a:txBody>
                    <a:bodyPr/>
                    <a:lstStyle/>
                    <a:p>
                      <a:pPr algn="ctr"/>
                      <a:r>
                        <a:rPr sz="1200" b="0">
                          <a:solidFill>
                            <a:srgbClr val="242D38"/>
                          </a:solidFill>
                          <a:latin typeface="맑은 고딕"/>
                        </a:rPr>
                        <a:t>1,162만원</a:t>
                      </a:r>
                    </a:p>
                  </a:txBody>
                  <a:tcPr marL="64008" marR="64008" marT="18288" marB="18288" anchor="ctr">
                    <a:solidFill>
                      <a:srgbClr val="FFFFFF"/>
                    </a:solidFill>
                  </a:tcPr>
                </a:tc>
                <a:tc>
                  <a:txBody>
                    <a:bodyPr/>
                    <a:lstStyle/>
                    <a:p>
                      <a:pPr algn="ctr"/>
                      <a:r>
                        <a:rPr sz="1200" b="0">
                          <a:solidFill>
                            <a:srgbClr val="242D38"/>
                          </a:solidFill>
                          <a:latin typeface="맑은 고딕"/>
                        </a:rPr>
                        <a:t>-</a:t>
                      </a:r>
                    </a:p>
                  </a:txBody>
                  <a:tcPr marL="64008" marR="64008" marT="18288" marB="18288" anchor="ctr">
                    <a:solidFill>
                      <a:srgbClr val="FFFFFF"/>
                    </a:solidFill>
                  </a:tcPr>
                </a:tc>
              </a:tr>
            </a:tbl>
          </a:graphicData>
        </a:graphic>
      </p:graphicFrame>
      <p:sp>
        <p:nvSpPr>
          <p:cNvPr id="8" name="Rectangle 7"/>
          <p:cNvSpPr/>
          <p:nvPr/>
        </p:nvSpPr>
        <p:spPr>
          <a:xfrm>
            <a:off x="713232" y="5193792"/>
            <a:ext cx="10762488" cy="8686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13232" y="5193792"/>
            <a:ext cx="45720" cy="868680"/>
          </a:xfrm>
          <a:prstGeom prst="rect">
            <a:avLst/>
          </a:prstGeom>
          <a:solidFill>
            <a:srgbClr val="1E7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60120" y="5358384"/>
            <a:ext cx="10241280" cy="594360"/>
          </a:xfrm>
          <a:prstGeom prst="rect">
            <a:avLst/>
          </a:prstGeom>
          <a:noFill/>
        </p:spPr>
        <p:txBody>
          <a:bodyPr wrap="square" anchor="t" lIns="0" rIns="0" tIns="0" bIns="0">
            <a:spAutoFit/>
          </a:bodyPr>
          <a:lstStyle/>
          <a:p>
            <a:pPr algn="l">
              <a:lnSpc>
                <a:spcPct val="145000"/>
              </a:lnSpc>
              <a:spcAft>
                <a:spcPts val="400"/>
              </a:spcAft>
            </a:pPr>
            <a:r>
              <a:rPr sz="1200" b="0">
                <a:solidFill>
                  <a:srgbClr val="242D38"/>
                </a:solidFill>
                <a:latin typeface="맑은 고딕"/>
              </a:rPr>
              <a:t>하이브리드와 가솔린의 차값 차이는 약 300~400만원. 위 표 기준 5년이면 연료비로 약 100만원을 회수하고,</a:t>
            </a:r>
          </a:p>
          <a:p>
            <a:pPr algn="l">
              <a:lnSpc>
                <a:spcPct val="145000"/>
              </a:lnSpc>
              <a:spcAft>
                <a:spcPts val="400"/>
              </a:spcAft>
            </a:pPr>
            <a:r>
              <a:rPr sz="1200" b="0">
                <a:solidFill>
                  <a:srgbClr val="242D38"/>
                </a:solidFill>
                <a:latin typeface="맑은 고딕"/>
              </a:rPr>
              <a:t>취득세 감면이 사라진 지금은 8~10년은 타야 손익분기에 도달한다. 다만 도심 주행 비중이 높으면 회수 기간은 크게 짧아진다.</a:t>
            </a:r>
          </a:p>
        </p:txBody>
      </p:sp>
      <p:sp>
        <p:nvSpPr>
          <p:cNvPr id="11" name="TextBox 10"/>
          <p:cNvSpPr txBox="1"/>
          <p:nvPr/>
        </p:nvSpPr>
        <p:spPr>
          <a:xfrm>
            <a:off x="713232" y="6327648"/>
            <a:ext cx="10881360" cy="365760"/>
          </a:xfrm>
          <a:prstGeom prst="rect">
            <a:avLst/>
          </a:prstGeom>
          <a:noFill/>
        </p:spPr>
        <p:txBody>
          <a:bodyPr wrap="square" anchor="t" lIns="0" rIns="0" tIns="0" bIns="0">
            <a:spAutoFit/>
          </a:bodyPr>
          <a:lstStyle/>
          <a:p>
            <a:pPr algn="l">
              <a:lnSpc>
                <a:spcPct val="120000"/>
              </a:lnSpc>
              <a:spcAft>
                <a:spcPts val="400"/>
              </a:spcAft>
            </a:pPr>
            <a:r>
              <a:rPr sz="950" b="0">
                <a:solidFill>
                  <a:srgbClr val="6E7884"/>
                </a:solidFill>
                <a:latin typeface="맑은 고딕"/>
              </a:rPr>
              <a:t>실제 연비는 주행 패턴에 따라 공인연비 대비 10~20% 낮게 나오는 경우가 많다. 하이브리드는 도심에서, 가솔린은 고속에서 격차가 줄어든다.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3268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02920" y="274320"/>
            <a:ext cx="50292" cy="384048"/>
          </a:xfrm>
          <a:prstGeom prst="rect">
            <a:avLst/>
          </a:prstGeom>
          <a:solidFill>
            <a:srgbClr val="E26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13232" y="219456"/>
            <a:ext cx="8778240" cy="457200"/>
          </a:xfrm>
          <a:prstGeom prst="rect">
            <a:avLst/>
          </a:prstGeom>
          <a:noFill/>
        </p:spPr>
        <p:txBody>
          <a:bodyPr wrap="square" anchor="t" lIns="0" rIns="0" tIns="0" bIns="0">
            <a:spAutoFit/>
          </a:bodyPr>
          <a:lstStyle/>
          <a:p>
            <a:pPr algn="l">
              <a:lnSpc>
                <a:spcPct val="115000"/>
              </a:lnSpc>
              <a:spcAft>
                <a:spcPts val="400"/>
              </a:spcAft>
            </a:pPr>
            <a:r>
              <a:rPr sz="2300" b="1">
                <a:solidFill>
                  <a:srgbClr val="FFFFFF"/>
                </a:solidFill>
                <a:latin typeface="맑은 고딕"/>
              </a:rPr>
              <a:t>정리 및 유의사항</a:t>
            </a:r>
          </a:p>
        </p:txBody>
      </p:sp>
      <p:sp>
        <p:nvSpPr>
          <p:cNvPr id="5" name="TextBox 4"/>
          <p:cNvSpPr txBox="1"/>
          <p:nvPr/>
        </p:nvSpPr>
        <p:spPr>
          <a:xfrm>
            <a:off x="9509760" y="329184"/>
            <a:ext cx="2194560" cy="365760"/>
          </a:xfrm>
          <a:prstGeom prst="rect">
            <a:avLst/>
          </a:prstGeom>
          <a:noFill/>
        </p:spPr>
        <p:txBody>
          <a:bodyPr wrap="square" anchor="t" lIns="0" rIns="0" tIns="0" bIns="0">
            <a:spAutoFit/>
          </a:bodyPr>
          <a:lstStyle/>
          <a:p>
            <a:pPr algn="r">
              <a:lnSpc>
                <a:spcPct val="115000"/>
              </a:lnSpc>
              <a:spcAft>
                <a:spcPts val="400"/>
              </a:spcAft>
            </a:pPr>
            <a:r>
              <a:rPr sz="1100" b="0">
                <a:solidFill>
                  <a:srgbClr val="A9BED2"/>
                </a:solidFill>
                <a:latin typeface="맑은 고딕"/>
              </a:rPr>
              <a:t>12 / 결론</a:t>
            </a:r>
          </a:p>
        </p:txBody>
      </p:sp>
      <p:sp>
        <p:nvSpPr>
          <p:cNvPr id="6" name="Rectangle 5"/>
          <p:cNvSpPr/>
          <p:nvPr/>
        </p:nvSpPr>
        <p:spPr>
          <a:xfrm>
            <a:off x="713232" y="1481328"/>
            <a:ext cx="10762488" cy="84124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13232" y="1481328"/>
            <a:ext cx="45720" cy="841248"/>
          </a:xfrm>
          <a:prstGeom prst="rect">
            <a:avLst/>
          </a:prstGeom>
          <a:solidFill>
            <a:srgbClr val="1B6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87552" y="1600200"/>
            <a:ext cx="10241280" cy="274320"/>
          </a:xfrm>
          <a:prstGeom prst="rect">
            <a:avLst/>
          </a:prstGeom>
          <a:noFill/>
        </p:spPr>
        <p:txBody>
          <a:bodyPr wrap="square" anchor="t" lIns="0" rIns="0" tIns="0" bIns="0">
            <a:spAutoFit/>
          </a:bodyPr>
          <a:lstStyle/>
          <a:p>
            <a:pPr algn="l">
              <a:lnSpc>
                <a:spcPct val="115000"/>
              </a:lnSpc>
              <a:spcAft>
                <a:spcPts val="400"/>
              </a:spcAft>
            </a:pPr>
            <a:r>
              <a:rPr sz="1300" b="1">
                <a:solidFill>
                  <a:srgbClr val="102A43"/>
                </a:solidFill>
                <a:latin typeface="맑은 고딕"/>
              </a:rPr>
              <a:t>1. 하이브리드를 원하면 소형이 유리</a:t>
            </a:r>
          </a:p>
        </p:txBody>
      </p:sp>
      <p:sp>
        <p:nvSpPr>
          <p:cNvPr id="9" name="TextBox 8"/>
          <p:cNvSpPr txBox="1"/>
          <p:nvPr/>
        </p:nvSpPr>
        <p:spPr>
          <a:xfrm>
            <a:off x="987552" y="1920240"/>
            <a:ext cx="10241280" cy="365760"/>
          </a:xfrm>
          <a:prstGeom prst="rect">
            <a:avLst/>
          </a:prstGeom>
          <a:noFill/>
        </p:spPr>
        <p:txBody>
          <a:bodyPr wrap="square" anchor="t" lIns="0" rIns="0" tIns="0" bIns="0">
            <a:spAutoFit/>
          </a:bodyPr>
          <a:lstStyle/>
          <a:p>
            <a:pPr algn="l">
              <a:lnSpc>
                <a:spcPct val="115000"/>
              </a:lnSpc>
              <a:spcAft>
                <a:spcPts val="400"/>
              </a:spcAft>
            </a:pPr>
            <a:r>
              <a:rPr sz="1130" b="0">
                <a:solidFill>
                  <a:srgbClr val="242D38"/>
                </a:solidFill>
                <a:latin typeface="맑은 고딕"/>
              </a:rPr>
              <a:t>옵션까지 갖춘 하이브리드는 코나·셀토스뿐이다. 준중형 HEV는 투싼 모던·스포티지 프레스티지 두 최하위 트림만 들어오고, 특히 스포티지는 옵션 여유가 15만원뿐이다.</a:t>
            </a:r>
          </a:p>
        </p:txBody>
      </p:sp>
      <p:sp>
        <p:nvSpPr>
          <p:cNvPr id="10" name="Rectangle 9"/>
          <p:cNvSpPr/>
          <p:nvPr/>
        </p:nvSpPr>
        <p:spPr>
          <a:xfrm>
            <a:off x="713232" y="2414016"/>
            <a:ext cx="10762488" cy="841248"/>
          </a:xfrm>
          <a:prstGeom prst="rect">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13232" y="2414016"/>
            <a:ext cx="45720" cy="841248"/>
          </a:xfrm>
          <a:prstGeom prst="rect">
            <a:avLst/>
          </a:prstGeom>
          <a:solidFill>
            <a:srgbClr val="1E7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87552" y="2532888"/>
            <a:ext cx="10241280" cy="274320"/>
          </a:xfrm>
          <a:prstGeom prst="rect">
            <a:avLst/>
          </a:prstGeom>
          <a:noFill/>
        </p:spPr>
        <p:txBody>
          <a:bodyPr wrap="square" anchor="t" lIns="0" rIns="0" tIns="0" bIns="0">
            <a:spAutoFit/>
          </a:bodyPr>
          <a:lstStyle/>
          <a:p>
            <a:pPr algn="l">
              <a:lnSpc>
                <a:spcPct val="115000"/>
              </a:lnSpc>
              <a:spcAft>
                <a:spcPts val="400"/>
              </a:spcAft>
            </a:pPr>
            <a:r>
              <a:rPr sz="1300" b="1">
                <a:solidFill>
                  <a:srgbClr val="102A43"/>
                </a:solidFill>
                <a:latin typeface="맑은 고딕"/>
              </a:rPr>
              <a:t>2. 준중형이 필요하면 가솔린 중간 트림</a:t>
            </a:r>
          </a:p>
        </p:txBody>
      </p:sp>
      <p:sp>
        <p:nvSpPr>
          <p:cNvPr id="13" name="TextBox 12"/>
          <p:cNvSpPr txBox="1"/>
          <p:nvPr/>
        </p:nvSpPr>
        <p:spPr>
          <a:xfrm>
            <a:off x="987552" y="2852928"/>
            <a:ext cx="10241280" cy="365760"/>
          </a:xfrm>
          <a:prstGeom prst="rect">
            <a:avLst/>
          </a:prstGeom>
          <a:noFill/>
        </p:spPr>
        <p:txBody>
          <a:bodyPr wrap="square" anchor="t" lIns="0" rIns="0" tIns="0" bIns="0">
            <a:spAutoFit/>
          </a:bodyPr>
          <a:lstStyle/>
          <a:p>
            <a:pPr algn="l">
              <a:lnSpc>
                <a:spcPct val="115000"/>
              </a:lnSpc>
              <a:spcAft>
                <a:spcPts val="400"/>
              </a:spcAft>
            </a:pPr>
            <a:r>
              <a:rPr sz="1130" b="0">
                <a:solidFill>
                  <a:srgbClr val="242D38"/>
                </a:solidFill>
                <a:latin typeface="맑은 고딕"/>
              </a:rPr>
              <a:t>투싼 H-Pick(3,201만)과 스포티지 프레스티지+옵션(3,281만)이 예산 내 최선. 둘 다 고속도로 주행보조가 기본이다.</a:t>
            </a:r>
          </a:p>
        </p:txBody>
      </p:sp>
      <p:sp>
        <p:nvSpPr>
          <p:cNvPr id="14" name="Rectangle 13"/>
          <p:cNvSpPr/>
          <p:nvPr/>
        </p:nvSpPr>
        <p:spPr>
          <a:xfrm>
            <a:off x="713232" y="3346704"/>
            <a:ext cx="10762488" cy="84124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713232" y="3346704"/>
            <a:ext cx="45720" cy="841248"/>
          </a:xfrm>
          <a:prstGeom prst="rect">
            <a:avLst/>
          </a:prstGeom>
          <a:solidFill>
            <a:srgbClr val="E26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87552" y="3465576"/>
            <a:ext cx="10241280" cy="274320"/>
          </a:xfrm>
          <a:prstGeom prst="rect">
            <a:avLst/>
          </a:prstGeom>
          <a:noFill/>
        </p:spPr>
        <p:txBody>
          <a:bodyPr wrap="square" anchor="t" lIns="0" rIns="0" tIns="0" bIns="0">
            <a:spAutoFit/>
          </a:bodyPr>
          <a:lstStyle/>
          <a:p>
            <a:pPr algn="l">
              <a:lnSpc>
                <a:spcPct val="115000"/>
              </a:lnSpc>
              <a:spcAft>
                <a:spcPts val="400"/>
              </a:spcAft>
            </a:pPr>
            <a:r>
              <a:rPr sz="1300" b="1">
                <a:solidFill>
                  <a:srgbClr val="102A43"/>
                </a:solidFill>
                <a:latin typeface="맑은 고딕"/>
              </a:rPr>
              <a:t>3. 트레일블레이저는 예산이 남는 선택지</a:t>
            </a:r>
          </a:p>
        </p:txBody>
      </p:sp>
      <p:sp>
        <p:nvSpPr>
          <p:cNvPr id="17" name="TextBox 16"/>
          <p:cNvSpPr txBox="1"/>
          <p:nvPr/>
        </p:nvSpPr>
        <p:spPr>
          <a:xfrm>
            <a:off x="987552" y="3785616"/>
            <a:ext cx="10241280" cy="365760"/>
          </a:xfrm>
          <a:prstGeom prst="rect">
            <a:avLst/>
          </a:prstGeom>
          <a:noFill/>
        </p:spPr>
        <p:txBody>
          <a:bodyPr wrap="square" anchor="t" lIns="0" rIns="0" tIns="0" bIns="0">
            <a:spAutoFit/>
          </a:bodyPr>
          <a:lstStyle/>
          <a:p>
            <a:pPr algn="l">
              <a:lnSpc>
                <a:spcPct val="115000"/>
              </a:lnSpc>
              <a:spcAft>
                <a:spcPts val="400"/>
              </a:spcAft>
            </a:pPr>
            <a:r>
              <a:rPr sz="1130" b="0">
                <a:solidFill>
                  <a:srgbClr val="242D38"/>
                </a:solidFill>
                <a:latin typeface="맑은 고딕"/>
              </a:rPr>
              <a:t>RS 최상위에 선루프까지 얹어도 실구매 3,646만원. Premier로 내리면 3,200만원대로 500만원가량 남는다. 다만 하이브리드가 없고 3기통이라 정숙성·재판매가에서 불리하다.</a:t>
            </a:r>
          </a:p>
        </p:txBody>
      </p:sp>
      <p:sp>
        <p:nvSpPr>
          <p:cNvPr id="18" name="Rectangle 17"/>
          <p:cNvSpPr/>
          <p:nvPr/>
        </p:nvSpPr>
        <p:spPr>
          <a:xfrm>
            <a:off x="713232" y="4279392"/>
            <a:ext cx="10762488" cy="841248"/>
          </a:xfrm>
          <a:prstGeom prst="rect">
            <a:avLst/>
          </a:prstGeom>
          <a:solidFill>
            <a:srgbClr val="E7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13232" y="4279392"/>
            <a:ext cx="45720" cy="84124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87552" y="4398264"/>
            <a:ext cx="10241280" cy="274320"/>
          </a:xfrm>
          <a:prstGeom prst="rect">
            <a:avLst/>
          </a:prstGeom>
          <a:noFill/>
        </p:spPr>
        <p:txBody>
          <a:bodyPr wrap="square" anchor="t" lIns="0" rIns="0" tIns="0" bIns="0">
            <a:spAutoFit/>
          </a:bodyPr>
          <a:lstStyle/>
          <a:p>
            <a:pPr algn="l">
              <a:lnSpc>
                <a:spcPct val="115000"/>
              </a:lnSpc>
              <a:spcAft>
                <a:spcPts val="400"/>
              </a:spcAft>
            </a:pPr>
            <a:r>
              <a:rPr sz="1300" b="1">
                <a:solidFill>
                  <a:srgbClr val="102A43"/>
                </a:solidFill>
                <a:latin typeface="맑은 고딕"/>
              </a:rPr>
              <a:t>4. 체감 사양은 셀토스·코나가 유리</a:t>
            </a:r>
          </a:p>
        </p:txBody>
      </p:sp>
      <p:sp>
        <p:nvSpPr>
          <p:cNvPr id="21" name="TextBox 20"/>
          <p:cNvSpPr txBox="1"/>
          <p:nvPr/>
        </p:nvSpPr>
        <p:spPr>
          <a:xfrm>
            <a:off x="987552" y="4718304"/>
            <a:ext cx="10241280" cy="365760"/>
          </a:xfrm>
          <a:prstGeom prst="rect">
            <a:avLst/>
          </a:prstGeom>
          <a:noFill/>
        </p:spPr>
        <p:txBody>
          <a:bodyPr wrap="square" anchor="t" lIns="0" rIns="0" tIns="0" bIns="0">
            <a:spAutoFit/>
          </a:bodyPr>
          <a:lstStyle/>
          <a:p>
            <a:pPr algn="l">
              <a:lnSpc>
                <a:spcPct val="115000"/>
              </a:lnSpc>
              <a:spcAft>
                <a:spcPts val="400"/>
              </a:spcAft>
            </a:pPr>
            <a:r>
              <a:rPr sz="1130" b="0">
                <a:solidFill>
                  <a:srgbClr val="242D38"/>
                </a:solidFill>
                <a:latin typeface="맑은 고딕"/>
              </a:rPr>
              <a:t>같은 예산에서 소형은 최상위 트림 + 선루프 + HDA2까지 가능하다. 차급 대신 옵션을 택하는 구도.</a:t>
            </a:r>
          </a:p>
        </p:txBody>
      </p:sp>
      <p:sp>
        <p:nvSpPr>
          <p:cNvPr id="22" name="Rectangle 21"/>
          <p:cNvSpPr/>
          <p:nvPr/>
        </p:nvSpPr>
        <p:spPr>
          <a:xfrm>
            <a:off x="713232" y="5358384"/>
            <a:ext cx="10762488" cy="841248"/>
          </a:xfrm>
          <a:prstGeom prst="rect">
            <a:avLst/>
          </a:prstGeom>
          <a:solidFill>
            <a:srgbClr val="FD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87552" y="5486400"/>
            <a:ext cx="10241280" cy="685800"/>
          </a:xfrm>
          <a:prstGeom prst="rect">
            <a:avLst/>
          </a:prstGeom>
          <a:noFill/>
        </p:spPr>
        <p:txBody>
          <a:bodyPr wrap="square" anchor="t" lIns="0" rIns="0" tIns="0" bIns="0">
            <a:spAutoFit/>
          </a:bodyPr>
          <a:lstStyle/>
          <a:p>
            <a:pPr algn="l">
              <a:lnSpc>
                <a:spcPct val="140000"/>
              </a:lnSpc>
              <a:spcAft>
                <a:spcPts val="400"/>
              </a:spcAft>
            </a:pPr>
            <a:r>
              <a:rPr sz="1060" b="0">
                <a:solidFill>
                  <a:srgbClr val="8A5A2B"/>
                </a:solidFill>
                <a:latin typeface="맑은 고딕"/>
              </a:rPr>
              <a:t>유의사항  ·  모든 가격은 2026년 8월 기준 제조사 공시가이며 프로모션·할인은 미반영이다. 취득세는 (판매가÷1.1)×7%, 기타 등록비 30만원으로 가정했고 지역별 공채 매입률에 따라 달라진다.</a:t>
            </a:r>
          </a:p>
          <a:p>
            <a:pPr algn="l">
              <a:lnSpc>
                <a:spcPct val="140000"/>
              </a:lnSpc>
              <a:spcAft>
                <a:spcPts val="400"/>
              </a:spcAft>
            </a:pPr>
            <a:r>
              <a:rPr sz="1060" b="0">
                <a:solidFill>
                  <a:srgbClr val="8A5A2B"/>
                </a:solidFill>
                <a:latin typeface="맑은 고딕"/>
              </a:rPr>
              <a:t>탁송료·보험료·틴팅·블랙박스는 별도이며, 최종 금액은 반드시 영업점 견적서로 확인해야 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